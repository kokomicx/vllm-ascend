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33"/>
  </p:notesMasterIdLst>
  <p:handoutMasterIdLst>
    <p:handoutMasterId r:id="rId34"/>
  </p:handoutMasterIdLst>
  <p:sldIdLst>
    <p:sldId id="283" r:id="rId5"/>
    <p:sldId id="346" r:id="rId6"/>
    <p:sldId id="321" r:id="rId7"/>
    <p:sldId id="322" r:id="rId8"/>
    <p:sldId id="327" r:id="rId9"/>
    <p:sldId id="326" r:id="rId10"/>
    <p:sldId id="325" r:id="rId11"/>
    <p:sldId id="324" r:id="rId12"/>
    <p:sldId id="347" r:id="rId13"/>
    <p:sldId id="328" r:id="rId14"/>
    <p:sldId id="329" r:id="rId15"/>
    <p:sldId id="330" r:id="rId16"/>
    <p:sldId id="331" r:id="rId17"/>
    <p:sldId id="332" r:id="rId18"/>
    <p:sldId id="333" r:id="rId19"/>
    <p:sldId id="334" r:id="rId20"/>
    <p:sldId id="335" r:id="rId21"/>
    <p:sldId id="336" r:id="rId22"/>
    <p:sldId id="337" r:id="rId23"/>
    <p:sldId id="339" r:id="rId24"/>
    <p:sldId id="338" r:id="rId25"/>
    <p:sldId id="340" r:id="rId26"/>
    <p:sldId id="341" r:id="rId27"/>
    <p:sldId id="342" r:id="rId28"/>
    <p:sldId id="343" r:id="rId29"/>
    <p:sldId id="344" r:id="rId30"/>
    <p:sldId id="345" r:id="rId31"/>
    <p:sldId id="280" r:id="rId32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  <p14:sldId id="346"/>
          </p14:sldIdLst>
        </p14:section>
        <p14:section name="目录页" id="{9D221634-295C-7843-AF5C-A0CB4F229241}">
          <p14:sldIdLst/>
        </p14:section>
        <p14:section name="章节页" id="{FD05EE94-C931-8C4B-83A2-004B32AA1207}">
          <p14:sldIdLst>
            <p14:sldId id="321"/>
            <p14:sldId id="322"/>
            <p14:sldId id="327"/>
            <p14:sldId id="326"/>
            <p14:sldId id="325"/>
            <p14:sldId id="324"/>
            <p14:sldId id="34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9"/>
            <p14:sldId id="338"/>
            <p14:sldId id="340"/>
            <p14:sldId id="341"/>
            <p14:sldId id="342"/>
            <p14:sldId id="343"/>
            <p14:sldId id="344"/>
            <p14:sldId id="345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9002F"/>
    <a:srgbClr val="595757"/>
    <a:srgbClr val="221815"/>
    <a:srgbClr val="888888"/>
    <a:srgbClr val="898989"/>
    <a:srgbClr val="B5B5B5"/>
    <a:srgbClr val="DDDDDD"/>
    <a:srgbClr val="D0E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7" autoAdjust="0"/>
    <p:restoredTop sz="96291"/>
  </p:normalViewPr>
  <p:slideViewPr>
    <p:cSldViewPr snapToGrid="0" snapToObjects="1">
      <p:cViewPr varScale="1">
        <p:scale>
          <a:sx n="105" d="100"/>
          <a:sy n="105" d="100"/>
        </p:scale>
        <p:origin x="210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74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DBC59C-CE55-E340-A3AE-F88AAF0D7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>
            <a:extLst>
              <a:ext uri="{FF2B5EF4-FFF2-40B4-BE49-F238E27FC236}">
                <a16:creationId xmlns:a16="http://schemas.microsoft.com/office/drawing/2014/main" id="{3049C48A-4CAE-8940-8A29-89DE0543DF4C}"/>
              </a:ext>
            </a:extLst>
          </p:cNvPr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2669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92" r:id="rId3"/>
    <p:sldLayoutId id="2147483824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98996" y="907092"/>
            <a:ext cx="8471341" cy="690255"/>
          </a:xfrm>
        </p:spPr>
        <p:txBody>
          <a:bodyPr>
            <a:normAutofit/>
          </a:bodyPr>
          <a:lstStyle/>
          <a:p>
            <a:r>
              <a:rPr lang="en-US" altLang="zh-CN" dirty="0"/>
              <a:t>KV Cache </a:t>
            </a:r>
            <a:r>
              <a:rPr lang="zh-CN" altLang="en-US" dirty="0"/>
              <a:t>管理方式梳理与差异分析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F3DB8AC-5DE9-5548-8697-C9055F7FF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8996" y="2593298"/>
            <a:ext cx="6535842" cy="643926"/>
          </a:xfrm>
        </p:spPr>
        <p:txBody>
          <a:bodyPr lIns="0" tIns="0" rIns="0" bIns="0"/>
          <a:lstStyle/>
          <a:p>
            <a:r>
              <a:rPr lang="zh-CN" altLang="en-US" dirty="0"/>
              <a:t>部门：昇腾推理开发部</a:t>
            </a:r>
            <a:endParaRPr lang="en-US" altLang="zh-CN" dirty="0"/>
          </a:p>
          <a:p>
            <a:r>
              <a:rPr lang="zh-CN" altLang="en-US" dirty="0"/>
              <a:t>作者：</a:t>
            </a:r>
            <a:endParaRPr lang="en-US" altLang="zh-CN" dirty="0"/>
          </a:p>
          <a:p>
            <a:r>
              <a:rPr lang="zh-CN" altLang="en-US" dirty="0"/>
              <a:t>日期：</a:t>
            </a:r>
            <a:r>
              <a:rPr lang="en-US" altLang="zh-CN" dirty="0"/>
              <a:t>2026/07/15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566F3-A3A5-4146-9236-C652EFF2FB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Security Level:</a:t>
            </a:r>
            <a:endParaRPr lang="en-US" dirty="0"/>
          </a:p>
          <a:p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78F6A10-DA4B-1DC8-EBFF-6947B78B5D84}"/>
              </a:ext>
            </a:extLst>
          </p:cNvPr>
          <p:cNvSpPr txBox="1"/>
          <p:nvPr/>
        </p:nvSpPr>
        <p:spPr>
          <a:xfrm>
            <a:off x="1484769" y="1412681"/>
            <a:ext cx="6102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bg2">
                    <a:lumMod val="25000"/>
                  </a:schemeClr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 </a:t>
            </a:r>
            <a:r>
              <a:rPr lang="en-US" altLang="zh-CN" b="0" i="0" dirty="0" err="1">
                <a:solidFill>
                  <a:schemeClr val="bg2">
                    <a:lumMod val="25000"/>
                  </a:schemeClr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vLLM</a:t>
            </a:r>
            <a:r>
              <a:rPr lang="en-US" altLang="zh-CN" b="0" i="0" dirty="0">
                <a:solidFill>
                  <a:schemeClr val="bg2">
                    <a:lumMod val="25000"/>
                  </a:schemeClr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 vs </a:t>
            </a:r>
            <a:r>
              <a:rPr lang="en-US" altLang="zh-CN" b="0" i="0" dirty="0" err="1">
                <a:solidFill>
                  <a:schemeClr val="bg2">
                    <a:lumMod val="25000"/>
                  </a:schemeClr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vLLM</a:t>
            </a:r>
            <a:r>
              <a:rPr lang="en-US" altLang="zh-CN" b="0" i="0" dirty="0">
                <a:solidFill>
                  <a:schemeClr val="bg2">
                    <a:lumMod val="25000"/>
                  </a:schemeClr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-Ascend — </a:t>
            </a:r>
            <a:r>
              <a:rPr lang="zh-CN" altLang="en-US" b="0" i="0" dirty="0">
                <a:solidFill>
                  <a:schemeClr val="bg2">
                    <a:lumMod val="25000"/>
                  </a:schemeClr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架构层面对比与对齐路线</a:t>
            </a:r>
            <a:endParaRPr lang="zh-CN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78D7919-A432-1804-399E-44509C4D22D9}"/>
              </a:ext>
            </a:extLst>
          </p:cNvPr>
          <p:cNvSpPr txBox="1"/>
          <p:nvPr/>
        </p:nvSpPr>
        <p:spPr>
          <a:xfrm>
            <a:off x="-542243" y="180424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defRPr sz="1200" b="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GQA(Qwen3 </a:t>
            </a:r>
            <a:r>
              <a:rPr dirty="0" err="1"/>
              <a:t>MoE</a:t>
            </a:r>
            <a:r>
              <a:rPr dirty="0"/>
              <a:t>) / MLA(DS V3.1/V3.2/V4) / SFA(GLM5.1) / Hybrid(Qwen3.5)</a:t>
            </a: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1965C9-6A7A-113C-043D-F577AA712F8C}"/>
              </a:ext>
            </a:extLst>
          </p:cNvPr>
          <p:cNvSpPr txBox="1"/>
          <p:nvPr/>
        </p:nvSpPr>
        <p:spPr>
          <a:xfrm>
            <a:off x="548640" y="274320"/>
            <a:ext cx="10972800" cy="48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defRPr sz="2600" b="1">
                <a:solidFill>
                  <a:srgbClr val="C6000B"/>
                </a:solidFill>
                <a:latin typeface="Microsoft YaHei"/>
              </a:defRPr>
            </a:pPr>
            <a:r>
              <a:rPr dirty="0" err="1"/>
              <a:t>汇报路线图</a:t>
            </a:r>
            <a:r>
              <a:rPr dirty="0"/>
              <a:t>：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7FAE2BD-29C6-9696-B67F-A6B78FDAD56B}"/>
              </a:ext>
            </a:extLst>
          </p:cNvPr>
          <p:cNvSpPr/>
          <p:nvPr/>
        </p:nvSpPr>
        <p:spPr>
          <a:xfrm>
            <a:off x="457200" y="1005840"/>
            <a:ext cx="1188720" cy="304800"/>
          </a:xfrm>
          <a:prstGeom prst="roundRect">
            <a:avLst>
              <a:gd name="adj" fmla="val 50000"/>
            </a:avLst>
          </a:prstGeom>
          <a:solidFill>
            <a:srgbClr val="130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6000B"/>
                </a:solidFill>
                <a:latin typeface="Microsoft YaHei"/>
              </a:defRPr>
            </a:pPr>
            <a:r>
              <a:t>Part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0873D-F696-BD53-0F0A-A16056A4D22F}"/>
              </a:ext>
            </a:extLst>
          </p:cNvPr>
          <p:cNvSpPr txBox="1"/>
          <p:nvPr/>
        </p:nvSpPr>
        <p:spPr>
          <a:xfrm>
            <a:off x="1920240" y="1005840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1">
                <a:solidFill>
                  <a:srgbClr val="C6000B"/>
                </a:solidFill>
                <a:latin typeface="Microsoft YaHei"/>
              </a:defRPr>
            </a:pPr>
            <a:r>
              <a:t>总体架构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A4776-16C3-F131-945D-6D41DBD308EC}"/>
              </a:ext>
            </a:extLst>
          </p:cNvPr>
          <p:cNvSpPr txBox="1"/>
          <p:nvPr/>
        </p:nvSpPr>
        <p:spPr>
          <a:xfrm>
            <a:off x="4846320" y="1005840"/>
            <a:ext cx="6858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端到端管线全景：Spec → Backend → Allocate → Reshape</a:t>
            </a:r>
            <a:br/>
            <a:r>
              <a:t>社区 KV Cache 管理方法速览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1C2FCD3-EF27-7FBE-748E-F27AFC0695B5}"/>
              </a:ext>
            </a:extLst>
          </p:cNvPr>
          <p:cNvSpPr/>
          <p:nvPr/>
        </p:nvSpPr>
        <p:spPr>
          <a:xfrm>
            <a:off x="457200" y="1577594"/>
            <a:ext cx="1188720" cy="304800"/>
          </a:xfrm>
          <a:prstGeom prst="roundRect">
            <a:avLst>
              <a:gd name="adj" fmla="val 50000"/>
            </a:avLst>
          </a:prstGeom>
          <a:solidFill>
            <a:srgbClr val="04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BB5C5"/>
                </a:solidFill>
                <a:latin typeface="Microsoft YaHei"/>
              </a:defRPr>
            </a:pPr>
            <a:r>
              <a:t>Part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A2DF2-97DA-7244-6BBA-697A0E8820AA}"/>
              </a:ext>
            </a:extLst>
          </p:cNvPr>
          <p:cNvSpPr txBox="1"/>
          <p:nvPr/>
        </p:nvSpPr>
        <p:spPr>
          <a:xfrm>
            <a:off x="1920240" y="1577594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1">
                <a:solidFill>
                  <a:srgbClr val="2BB5C5"/>
                </a:solidFill>
                <a:latin typeface="Microsoft YaHei"/>
              </a:defRPr>
            </a:pPr>
            <a:r>
              <a:t>Spec 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2B3F16-5D16-DD19-9C04-A6DDAD5223AA}"/>
              </a:ext>
            </a:extLst>
          </p:cNvPr>
          <p:cNvSpPr txBox="1"/>
          <p:nvPr/>
        </p:nvSpPr>
        <p:spPr>
          <a:xfrm>
            <a:off x="4937760" y="1602696"/>
            <a:ext cx="6858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上游「类型即语义」vs</a:t>
            </a:r>
            <a:r>
              <a:rPr dirty="0"/>
              <a:t> </a:t>
            </a:r>
            <a:r>
              <a:rPr dirty="0" err="1"/>
              <a:t>Ascend「万能类</a:t>
            </a:r>
            <a:r>
              <a:rPr dirty="0"/>
              <a:t>」</a:t>
            </a:r>
            <a:br>
              <a:rPr dirty="0"/>
            </a:br>
            <a:r>
              <a:rPr dirty="0"/>
              <a:t>以 DS V3.2 </a:t>
            </a:r>
            <a:r>
              <a:rPr dirty="0" err="1"/>
              <a:t>为例的</a:t>
            </a:r>
            <a:r>
              <a:rPr dirty="0"/>
              <a:t> Spec </a:t>
            </a:r>
            <a:r>
              <a:rPr dirty="0" err="1"/>
              <a:t>创建代码对比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9C426F3-AEEE-2B2A-43A1-3674440BA101}"/>
              </a:ext>
            </a:extLst>
          </p:cNvPr>
          <p:cNvSpPr/>
          <p:nvPr/>
        </p:nvSpPr>
        <p:spPr>
          <a:xfrm>
            <a:off x="457200" y="2231431"/>
            <a:ext cx="1188720" cy="304800"/>
          </a:xfrm>
          <a:prstGeom prst="roundRect">
            <a:avLst>
              <a:gd name="adj" fmla="val 50000"/>
            </a:avLst>
          </a:prstGeom>
          <a:solidFill>
            <a:srgbClr val="0811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58B230"/>
                </a:solidFill>
                <a:latin typeface="Microsoft YaHei"/>
              </a:defRPr>
            </a:pPr>
            <a:r>
              <a:t>Part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B08888-90D4-B924-0622-FCB0E713FBB9}"/>
              </a:ext>
            </a:extLst>
          </p:cNvPr>
          <p:cNvSpPr txBox="1"/>
          <p:nvPr/>
        </p:nvSpPr>
        <p:spPr>
          <a:xfrm>
            <a:off x="1920240" y="2244131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1">
                <a:solidFill>
                  <a:srgbClr val="58B230"/>
                </a:solidFill>
                <a:latin typeface="Microsoft YaHei"/>
              </a:defRPr>
            </a:pPr>
            <a:r>
              <a:rPr dirty="0"/>
              <a:t>Backend 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CEAC15-1E5D-4999-D952-F312DB8BDB87}"/>
              </a:ext>
            </a:extLst>
          </p:cNvPr>
          <p:cNvSpPr txBox="1"/>
          <p:nvPr/>
        </p:nvSpPr>
        <p:spPr>
          <a:xfrm>
            <a:off x="4846320" y="2221100"/>
            <a:ext cx="6858000" cy="48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4 类 Ascend Backend vs </a:t>
            </a:r>
            <a:r>
              <a:rPr dirty="0" err="1"/>
              <a:t>上游</a:t>
            </a:r>
            <a:r>
              <a:rPr dirty="0"/>
              <a:t> Backend</a:t>
            </a:r>
            <a:br>
              <a:rPr dirty="0"/>
            </a:br>
            <a:r>
              <a:rPr dirty="0" err="1"/>
              <a:t>get_kv_cache_shape</a:t>
            </a:r>
            <a:r>
              <a:rPr dirty="0"/>
              <a:t>() 的 1/N </a:t>
            </a:r>
            <a:r>
              <a:rPr dirty="0" err="1"/>
              <a:t>信息问题</a:t>
            </a:r>
            <a:endParaRPr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E2E4B0F-8C7D-D494-36AF-EDBA480B25FE}"/>
              </a:ext>
            </a:extLst>
          </p:cNvPr>
          <p:cNvSpPr/>
          <p:nvPr/>
        </p:nvSpPr>
        <p:spPr>
          <a:xfrm>
            <a:off x="457200" y="2885269"/>
            <a:ext cx="1188720" cy="304800"/>
          </a:xfrm>
          <a:prstGeom prst="roundRect">
            <a:avLst>
              <a:gd name="adj" fmla="val 50000"/>
            </a:avLst>
          </a:prstGeom>
          <a:solidFill>
            <a:srgbClr val="17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ED6C00"/>
                </a:solidFill>
                <a:latin typeface="Microsoft YaHei"/>
              </a:defRPr>
            </a:pPr>
            <a:r>
              <a:t>Part 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17612A-1ECF-EA8F-1DAA-354FA8FA40F8}"/>
              </a:ext>
            </a:extLst>
          </p:cNvPr>
          <p:cNvSpPr txBox="1"/>
          <p:nvPr/>
        </p:nvSpPr>
        <p:spPr>
          <a:xfrm>
            <a:off x="1874520" y="2896362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1">
                <a:solidFill>
                  <a:srgbClr val="ED6C00"/>
                </a:solidFill>
                <a:latin typeface="Microsoft YaHei"/>
              </a:defRPr>
            </a:pPr>
            <a:r>
              <a:rPr dirty="0"/>
              <a:t>Allocate &amp; Reshape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99FA1B-788A-74C7-C430-F09F8F772623}"/>
              </a:ext>
            </a:extLst>
          </p:cNvPr>
          <p:cNvSpPr txBox="1"/>
          <p:nvPr/>
        </p:nvSpPr>
        <p:spPr>
          <a:xfrm>
            <a:off x="4881563" y="2945425"/>
            <a:ext cx="685800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上游</a:t>
            </a:r>
            <a:r>
              <a:rPr dirty="0"/>
              <a:t> 30 行 vs Ascend 185 行</a:t>
            </a:r>
            <a:br>
              <a:rPr dirty="0"/>
            </a:br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7ECE3E2-91E5-7BC6-8E11-2DD0183330D1}"/>
              </a:ext>
            </a:extLst>
          </p:cNvPr>
          <p:cNvSpPr/>
          <p:nvPr/>
        </p:nvSpPr>
        <p:spPr>
          <a:xfrm>
            <a:off x="457200" y="3509518"/>
            <a:ext cx="1188720" cy="304800"/>
          </a:xfrm>
          <a:prstGeom prst="roundRect">
            <a:avLst>
              <a:gd name="adj" fmla="val 50000"/>
            </a:avLst>
          </a:prstGeom>
          <a:solidFill>
            <a:srgbClr val="13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60054"/>
                </a:solidFill>
                <a:latin typeface="Microsoft YaHei"/>
              </a:defRPr>
            </a:pPr>
            <a:r>
              <a:t>Part 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675D2B-5E36-EA5F-21DD-97436481CF04}"/>
              </a:ext>
            </a:extLst>
          </p:cNvPr>
          <p:cNvSpPr txBox="1"/>
          <p:nvPr/>
        </p:nvSpPr>
        <p:spPr>
          <a:xfrm>
            <a:off x="1920240" y="3562645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1">
                <a:solidFill>
                  <a:srgbClr val="C60054"/>
                </a:solidFill>
                <a:latin typeface="Microsoft YaHei"/>
              </a:defRPr>
            </a:pPr>
            <a:r>
              <a:rPr dirty="0" err="1"/>
              <a:t>模型类型差异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26ED70-74BE-548B-FC85-292D1DBDE2D5}"/>
              </a:ext>
            </a:extLst>
          </p:cNvPr>
          <p:cNvSpPr txBox="1"/>
          <p:nvPr/>
        </p:nvSpPr>
        <p:spPr>
          <a:xfrm>
            <a:off x="4881563" y="3517965"/>
            <a:ext cx="685800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5 </a:t>
            </a:r>
            <a:r>
              <a:rPr dirty="0" err="1"/>
              <a:t>种模型类型链路对比</a:t>
            </a:r>
            <a:br>
              <a:rPr dirty="0"/>
            </a:br>
            <a:r>
              <a:rPr dirty="0" err="1"/>
              <a:t>标准</a:t>
            </a:r>
            <a:r>
              <a:rPr dirty="0"/>
              <a:t> MLA → Sparse MLA → Compress MLA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B4B8DE8-DEA9-6715-C9DE-1B8F675FA364}"/>
              </a:ext>
            </a:extLst>
          </p:cNvPr>
          <p:cNvSpPr/>
          <p:nvPr/>
        </p:nvSpPr>
        <p:spPr>
          <a:xfrm>
            <a:off x="457200" y="4133767"/>
            <a:ext cx="1188720" cy="304800"/>
          </a:xfrm>
          <a:prstGeom prst="roundRect">
            <a:avLst>
              <a:gd name="adj" fmla="val 50000"/>
            </a:avLst>
          </a:prstGeom>
          <a:solidFill>
            <a:srgbClr val="1401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8102E"/>
                </a:solidFill>
                <a:latin typeface="Microsoft YaHei"/>
              </a:defRPr>
            </a:pPr>
            <a:r>
              <a:t>Part 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A8F329-68CD-0E0A-86F5-82B71E5B93AE}"/>
              </a:ext>
            </a:extLst>
          </p:cNvPr>
          <p:cNvSpPr txBox="1"/>
          <p:nvPr/>
        </p:nvSpPr>
        <p:spPr>
          <a:xfrm>
            <a:off x="1920240" y="4127287"/>
            <a:ext cx="2743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1">
                <a:solidFill>
                  <a:srgbClr val="C8102E"/>
                </a:solidFill>
                <a:latin typeface="Microsoft YaHei"/>
              </a:defRPr>
            </a:pPr>
            <a:r>
              <a:t>精度 + 根因 + 对齐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849635-1802-C625-13BD-7B9B48B845E6}"/>
              </a:ext>
            </a:extLst>
          </p:cNvPr>
          <p:cNvSpPr txBox="1"/>
          <p:nvPr/>
        </p:nvSpPr>
        <p:spPr>
          <a:xfrm>
            <a:off x="4945572" y="4169357"/>
            <a:ext cx="685800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bf16 vs fp8  · </a:t>
            </a:r>
            <a:r>
              <a:rPr dirty="0" err="1"/>
              <a:t>六大根因</a:t>
            </a:r>
            <a:br>
              <a:rPr dirty="0"/>
            </a:br>
            <a:r>
              <a:rPr dirty="0"/>
              <a:t>Layout </a:t>
            </a:r>
            <a:r>
              <a:rPr dirty="0" err="1"/>
              <a:t>重构方案</a:t>
            </a:r>
            <a:r>
              <a:rPr dirty="0"/>
              <a:t> 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FF27CA5-6F54-8538-5FC0-783D2CFD4288}"/>
              </a:ext>
            </a:extLst>
          </p:cNvPr>
          <p:cNvSpPr/>
          <p:nvPr/>
        </p:nvSpPr>
        <p:spPr>
          <a:xfrm>
            <a:off x="492443" y="4885223"/>
            <a:ext cx="11247120" cy="609600"/>
          </a:xfrm>
          <a:prstGeom prst="roundRect">
            <a:avLst>
              <a:gd name="adj" fmla="val 4000"/>
            </a:avLst>
          </a:prstGeom>
          <a:solidFill>
            <a:srgbClr val="FAEAEB"/>
          </a:solidFill>
          <a:ln w="12700">
            <a:solidFill>
              <a:srgbClr val="FF3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E6E8EC-75FD-EBB4-8D45-85CEB9C9EB25}"/>
              </a:ext>
            </a:extLst>
          </p:cNvPr>
          <p:cNvSpPr/>
          <p:nvPr/>
        </p:nvSpPr>
        <p:spPr>
          <a:xfrm>
            <a:off x="441643" y="4910623"/>
            <a:ext cx="50800" cy="60960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01446B-80F7-E71E-E234-592B5CF6864F}"/>
              </a:ext>
            </a:extLst>
          </p:cNvPr>
          <p:cNvSpPr txBox="1"/>
          <p:nvPr/>
        </p:nvSpPr>
        <p:spPr>
          <a:xfrm>
            <a:off x="652621" y="5088677"/>
            <a:ext cx="108915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总体→局部</a:t>
            </a:r>
            <a:r>
              <a:rPr dirty="0"/>
              <a:t>: </a:t>
            </a:r>
            <a:r>
              <a:rPr dirty="0" err="1"/>
              <a:t>先建立「Spec→Backend→Allocate→Reshape」端到端管线共识</a:t>
            </a:r>
            <a:r>
              <a:rPr dirty="0"/>
              <a:t> → </a:t>
            </a:r>
            <a:r>
              <a:rPr dirty="0" err="1"/>
              <a:t>再逐阶段深入</a:t>
            </a:r>
            <a:r>
              <a:rPr dirty="0"/>
              <a:t> + </a:t>
            </a:r>
            <a:r>
              <a:rPr dirty="0" err="1"/>
              <a:t>配具体模型代码</a:t>
            </a:r>
            <a:r>
              <a:rPr dirty="0"/>
              <a:t> → </a:t>
            </a:r>
            <a:r>
              <a:rPr dirty="0" err="1"/>
              <a:t>最后归纳根因与对齐方案。每个阶段都回答同一个问题</a:t>
            </a:r>
            <a:r>
              <a:rPr dirty="0"/>
              <a:t>: </a:t>
            </a:r>
            <a:r>
              <a:rPr dirty="0" err="1"/>
              <a:t>上游怎么做</a:t>
            </a:r>
            <a:r>
              <a:rPr dirty="0"/>
              <a:t>? Ascend </a:t>
            </a:r>
            <a:r>
              <a:rPr dirty="0" err="1"/>
              <a:t>怎么做</a:t>
            </a:r>
            <a:r>
              <a:rPr dirty="0"/>
              <a:t>? </a:t>
            </a:r>
            <a:r>
              <a:rPr dirty="0" err="1"/>
              <a:t>差距在哪</a:t>
            </a:r>
            <a:r>
              <a:rPr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17291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F13B2A37-487C-0FE2-5DCD-773331C12635}"/>
              </a:ext>
            </a:extLst>
          </p:cNvPr>
          <p:cNvSpPr txBox="1"/>
          <p:nvPr/>
        </p:nvSpPr>
        <p:spPr>
          <a:xfrm>
            <a:off x="73152" y="1729211"/>
            <a:ext cx="11657242" cy="57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defRPr sz="3200" b="1">
                <a:solidFill>
                  <a:srgbClr val="C6000B"/>
                </a:solidFill>
                <a:latin typeface="Microsoft YaHei"/>
              </a:defRPr>
            </a:pPr>
            <a:r>
              <a:rPr dirty="0" err="1"/>
              <a:t>端到端管线全景：Spec</a:t>
            </a:r>
            <a:r>
              <a:rPr dirty="0"/>
              <a:t> → Backend → Allocate → Reshape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7D081520-4867-62D6-AC0D-51FC513E8B7C}"/>
              </a:ext>
            </a:extLst>
          </p:cNvPr>
          <p:cNvSpPr txBox="1"/>
          <p:nvPr/>
        </p:nvSpPr>
        <p:spPr>
          <a:xfrm>
            <a:off x="1746504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C8102E"/>
                </a:solidFill>
                <a:latin typeface="Consolas"/>
              </a:defRPr>
            </a:pPr>
            <a:r>
              <a:t>~600 行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2414E891-5F52-2ECC-2D7C-1F41B3E7C4AB}"/>
              </a:ext>
            </a:extLst>
          </p:cNvPr>
          <p:cNvSpPr txBox="1"/>
          <p:nvPr/>
        </p:nvSpPr>
        <p:spPr>
          <a:xfrm>
            <a:off x="1746504" y="320040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Ascend model_runner</a:t>
            </a:r>
            <a:br/>
            <a:r>
              <a:t>分支代码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B6A11291-F8CB-15FE-4806-508DE8E95C3C}"/>
              </a:ext>
            </a:extLst>
          </p:cNvPr>
          <p:cNvSpPr txBox="1"/>
          <p:nvPr/>
        </p:nvSpPr>
        <p:spPr>
          <a:xfrm>
            <a:off x="4123944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58B230"/>
                </a:solidFill>
                <a:latin typeface="Consolas"/>
              </a:defRPr>
            </a:pPr>
            <a:r>
              <a:t>~60 行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5F860F7D-E09C-8A49-794F-8F9227AF9A85}"/>
              </a:ext>
            </a:extLst>
          </p:cNvPr>
          <p:cNvSpPr txBox="1"/>
          <p:nvPr/>
        </p:nvSpPr>
        <p:spPr>
          <a:xfrm>
            <a:off x="4123944" y="320040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上游 model_runner</a:t>
            </a:r>
            <a:br/>
            <a:r>
              <a:t>代码量</a:t>
            </a: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9B17A204-DFCA-E857-06A1-F645712FB661}"/>
              </a:ext>
            </a:extLst>
          </p:cNvPr>
          <p:cNvSpPr txBox="1"/>
          <p:nvPr/>
        </p:nvSpPr>
        <p:spPr>
          <a:xfrm>
            <a:off x="6501384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C6000B"/>
                </a:solidFill>
                <a:latin typeface="Consolas"/>
              </a:defRPr>
            </a:pPr>
            <a:r>
              <a:t>15+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9C6548F5-ADC5-DC8E-F8C9-F066B9D93E75}"/>
              </a:ext>
            </a:extLst>
          </p:cNvPr>
          <p:cNvSpPr txBox="1"/>
          <p:nvPr/>
        </p:nvSpPr>
        <p:spPr>
          <a:xfrm>
            <a:off x="6501384" y="320040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if-else 分支点</a:t>
            </a: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4BB5B6FE-01E3-B803-EEA6-B35D971BABEA}"/>
              </a:ext>
            </a:extLst>
          </p:cNvPr>
          <p:cNvSpPr txBox="1"/>
          <p:nvPr/>
        </p:nvSpPr>
        <p:spPr>
          <a:xfrm>
            <a:off x="8878824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C60054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6DD069EA-E923-0F4E-3F02-330999ECA390}"/>
              </a:ext>
            </a:extLst>
          </p:cNvPr>
          <p:cNvSpPr txBox="1"/>
          <p:nvPr/>
        </p:nvSpPr>
        <p:spPr>
          <a:xfrm>
            <a:off x="8878824" y="320040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模型类型覆盖</a:t>
            </a:r>
          </a:p>
        </p:txBody>
      </p:sp>
    </p:spTree>
    <p:extLst>
      <p:ext uri="{BB962C8B-B14F-4D97-AF65-F5344CB8AC3E}">
        <p14:creationId xmlns:p14="http://schemas.microsoft.com/office/powerpoint/2010/main" val="2202630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7A413A-4E77-4639-E9BE-568E220E63E1}"/>
              </a:ext>
            </a:extLst>
          </p:cNvPr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58B230"/>
                </a:solidFill>
                <a:latin typeface="Microsoft YaHei"/>
              </a:defRPr>
            </a:pPr>
            <a:r>
              <a:rPr dirty="0" err="1"/>
              <a:t>vLLM</a:t>
            </a:r>
            <a:r>
              <a:rPr dirty="0"/>
              <a:t> </a:t>
            </a:r>
            <a:r>
              <a:rPr dirty="0" err="1"/>
              <a:t>端到端管线：四阶段，Backend</a:t>
            </a:r>
            <a:r>
              <a:rPr dirty="0"/>
              <a:t> </a:t>
            </a:r>
            <a:r>
              <a:rPr dirty="0" err="1"/>
              <a:t>说了算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E9743-50E5-5D7A-0A0A-BE445C93A1FD}"/>
              </a:ext>
            </a:extLst>
          </p:cNvPr>
          <p:cNvSpPr txBox="1"/>
          <p:nvPr/>
        </p:nvSpPr>
        <p:spPr>
          <a:xfrm>
            <a:off x="548640" y="6400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model_runner 的角色是「机械执行」——它不做模型类型的判断，只按 Backend 返回的结果做 view()/permute()。所有模型类型都走同一条路径。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939E893-2BC6-8C94-B990-FF57FE0E64D1}"/>
              </a:ext>
            </a:extLst>
          </p:cNvPr>
          <p:cNvSpPr/>
          <p:nvPr/>
        </p:nvSpPr>
        <p:spPr>
          <a:xfrm>
            <a:off x="457200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chemeClr val="tx2"/>
          </a:solidFill>
          <a:ln w="12700">
            <a:solidFill>
              <a:srgbClr val="C6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6000B"/>
                </a:solidFill>
                <a:latin typeface="Consolas"/>
              </a:defRPr>
            </a:pPr>
            <a:r>
              <a:t>① Spec 创建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4ABC5A-C9EC-75BB-3CF4-E90CA97B8437}"/>
              </a:ext>
            </a:extLst>
          </p:cNvPr>
          <p:cNvSpPr txBox="1"/>
          <p:nvPr/>
        </p:nvSpPr>
        <p:spPr>
          <a:xfrm>
            <a:off x="2599944" y="1026160"/>
            <a:ext cx="152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9898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86C4B6-41B6-84FD-B38B-580CE12C5300}"/>
              </a:ext>
            </a:extLst>
          </p:cNvPr>
          <p:cNvSpPr/>
          <p:nvPr/>
        </p:nvSpPr>
        <p:spPr>
          <a:xfrm>
            <a:off x="2726944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chemeClr val="tx2"/>
          </a:solidFill>
          <a:ln w="12700">
            <a:solidFill>
              <a:srgbClr val="2BB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BB5C5"/>
                </a:solidFill>
                <a:latin typeface="Consolas"/>
              </a:defRPr>
            </a:pPr>
            <a:r>
              <a:rPr dirty="0"/>
              <a:t>② Backend </a:t>
            </a:r>
            <a:r>
              <a:rPr dirty="0" err="1"/>
              <a:t>返回</a:t>
            </a:r>
            <a:r>
              <a:rPr dirty="0"/>
              <a:t> Shape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E8FDF0-DE14-F20D-664A-8E04EB5BEA95}"/>
              </a:ext>
            </a:extLst>
          </p:cNvPr>
          <p:cNvSpPr txBox="1"/>
          <p:nvPr/>
        </p:nvSpPr>
        <p:spPr>
          <a:xfrm>
            <a:off x="4869688" y="1026160"/>
            <a:ext cx="152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9898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9412B1C-2868-663D-2C84-F72C157C8AEB}"/>
              </a:ext>
            </a:extLst>
          </p:cNvPr>
          <p:cNvSpPr/>
          <p:nvPr/>
        </p:nvSpPr>
        <p:spPr>
          <a:xfrm>
            <a:off x="4996688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chemeClr val="tx2"/>
          </a:solidFill>
          <a:ln w="12700">
            <a:solidFill>
              <a:srgbClr val="58B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58B230"/>
                </a:solidFill>
                <a:latin typeface="Consolas"/>
              </a:defRPr>
            </a:pPr>
            <a:r>
              <a:t>③ 全局规划: configs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BF1CEA-1862-B61B-553D-A191679FE275}"/>
              </a:ext>
            </a:extLst>
          </p:cNvPr>
          <p:cNvSpPr txBox="1"/>
          <p:nvPr/>
        </p:nvSpPr>
        <p:spPr>
          <a:xfrm>
            <a:off x="7139432" y="1026160"/>
            <a:ext cx="152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9898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85EFFDF-EFAE-69CE-FAC5-FE93F3C6D38C}"/>
              </a:ext>
            </a:extLst>
          </p:cNvPr>
          <p:cNvSpPr/>
          <p:nvPr/>
        </p:nvSpPr>
        <p:spPr>
          <a:xfrm>
            <a:off x="7266432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chemeClr val="tx2"/>
          </a:solidFill>
          <a:ln w="12700">
            <a:solidFill>
              <a:srgbClr val="ED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ED6C00"/>
                </a:solidFill>
                <a:latin typeface="Consolas"/>
              </a:defRPr>
            </a:pPr>
            <a:r>
              <a:rPr dirty="0"/>
              <a:t>④ Allocate: zeros(int8)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349C1D-5F3B-10F9-4FB3-6EA08D9E7740}"/>
              </a:ext>
            </a:extLst>
          </p:cNvPr>
          <p:cNvSpPr txBox="1"/>
          <p:nvPr/>
        </p:nvSpPr>
        <p:spPr>
          <a:xfrm>
            <a:off x="9409176" y="1026160"/>
            <a:ext cx="152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9898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7933965-328E-DA1E-554A-21B34A52CA6D}"/>
              </a:ext>
            </a:extLst>
          </p:cNvPr>
          <p:cNvSpPr/>
          <p:nvPr/>
        </p:nvSpPr>
        <p:spPr>
          <a:xfrm>
            <a:off x="9536176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chemeClr val="tx2"/>
          </a:solidFill>
          <a:ln w="12700">
            <a:solidFill>
              <a:srgbClr val="C60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60054"/>
                </a:solidFill>
                <a:latin typeface="Consolas"/>
              </a:defRPr>
            </a:pPr>
            <a:r>
              <a:rPr dirty="0"/>
              <a:t>⑤ Reshape: </a:t>
            </a:r>
            <a:r>
              <a:rPr dirty="0" err="1"/>
              <a:t>view+permute</a:t>
            </a:r>
            <a:endParaRPr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D20564C-15D8-2056-3211-5315CA5FBFBF}"/>
              </a:ext>
            </a:extLst>
          </p:cNvPr>
          <p:cNvSpPr/>
          <p:nvPr/>
        </p:nvSpPr>
        <p:spPr>
          <a:xfrm>
            <a:off x="274320" y="1554480"/>
            <a:ext cx="2834640" cy="23774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52E896-1BB1-DF9C-52C9-7B767852DDFB}"/>
              </a:ext>
            </a:extLst>
          </p:cNvPr>
          <p:cNvSpPr/>
          <p:nvPr/>
        </p:nvSpPr>
        <p:spPr>
          <a:xfrm>
            <a:off x="274320" y="1554480"/>
            <a:ext cx="38100" cy="237744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1DF774-03C1-10B9-B162-67C66AE68577}"/>
              </a:ext>
            </a:extLst>
          </p:cNvPr>
          <p:cNvSpPr txBox="1"/>
          <p:nvPr/>
        </p:nvSpPr>
        <p:spPr>
          <a:xfrm>
            <a:off x="263144" y="1587589"/>
            <a:ext cx="305562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rPr dirty="0"/>
              <a:t>① Spec </a:t>
            </a:r>
            <a:r>
              <a:rPr dirty="0" err="1"/>
              <a:t>创建</a:t>
            </a:r>
            <a:r>
              <a:rPr dirty="0"/>
              <a:t>: layer →</a:t>
            </a:r>
            <a:r>
              <a:rPr dirty="0" err="1"/>
              <a:t>KVCacheSpec</a:t>
            </a: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6B350B-D5FA-ED87-4F37-64969FFA96D9}"/>
              </a:ext>
            </a:extLst>
          </p:cNvPr>
          <p:cNvSpPr txBox="1"/>
          <p:nvPr/>
        </p:nvSpPr>
        <p:spPr>
          <a:xfrm>
            <a:off x="426720" y="1926500"/>
            <a:ext cx="2682240" cy="1416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b="1" dirty="0" err="1"/>
              <a:t>Attention.get_kv_cache_spec</a:t>
            </a:r>
            <a:r>
              <a:rPr b="1" dirty="0"/>
              <a:t>() </a:t>
            </a:r>
            <a:r>
              <a:rPr dirty="0" err="1"/>
              <a:t>返回</a:t>
            </a:r>
            <a:r>
              <a:rPr dirty="0"/>
              <a:t> frozen </a:t>
            </a:r>
            <a:r>
              <a:rPr dirty="0" err="1"/>
              <a:t>dataclass</a:t>
            </a:r>
            <a:endParaRPr dirty="0"/>
          </a:p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每层声明</a:t>
            </a:r>
            <a:r>
              <a:rPr dirty="0"/>
              <a:t>: </a:t>
            </a:r>
            <a:r>
              <a:rPr b="1" dirty="0" err="1"/>
              <a:t>block_size</a:t>
            </a:r>
            <a:r>
              <a:rPr b="1" dirty="0"/>
              <a:t>, </a:t>
            </a:r>
            <a:r>
              <a:rPr b="1" dirty="0" err="1"/>
              <a:t>num_kv_heads</a:t>
            </a:r>
            <a:r>
              <a:rPr b="1" dirty="0"/>
              <a:t>, </a:t>
            </a:r>
            <a:r>
              <a:rPr b="1" dirty="0" err="1"/>
              <a:t>head_size</a:t>
            </a:r>
            <a:r>
              <a:rPr b="1" dirty="0"/>
              <a:t>, </a:t>
            </a:r>
            <a:r>
              <a:rPr b="1" dirty="0" err="1"/>
              <a:t>dtype</a:t>
            </a:r>
            <a:r>
              <a:rPr b="1" dirty="0"/>
              <a:t>, </a:t>
            </a:r>
            <a:r>
              <a:rPr b="1" dirty="0" err="1"/>
              <a:t>page_size_bytes</a:t>
            </a:r>
            <a:endParaRPr b="1" dirty="0"/>
          </a:p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所有模型类型共用</a:t>
            </a:r>
            <a:r>
              <a:rPr dirty="0"/>
              <a:t> </a:t>
            </a:r>
            <a:r>
              <a:rPr dirty="0" err="1"/>
              <a:t>KVCacheSpec</a:t>
            </a:r>
            <a:r>
              <a:rPr dirty="0"/>
              <a:t> </a:t>
            </a:r>
            <a:r>
              <a:rPr dirty="0" err="1"/>
              <a:t>子类体系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→ 对 </a:t>
            </a:r>
            <a:r>
              <a:rPr dirty="0" err="1"/>
              <a:t>model_runner</a:t>
            </a:r>
            <a:r>
              <a:rPr dirty="0"/>
              <a:t> </a:t>
            </a:r>
            <a:r>
              <a:rPr dirty="0" err="1"/>
              <a:t>来说</a:t>
            </a:r>
            <a:r>
              <a:rPr dirty="0"/>
              <a:t>: </a:t>
            </a:r>
            <a:r>
              <a:rPr dirty="0" err="1"/>
              <a:t>拿到一个</a:t>
            </a:r>
            <a:r>
              <a:rPr dirty="0"/>
              <a:t> Spec </a:t>
            </a:r>
            <a:r>
              <a:rPr dirty="0" err="1"/>
              <a:t>对象，不用问是什么模型</a:t>
            </a:r>
            <a:r>
              <a:rPr lang="en-US" dirty="0"/>
              <a:t>(</a:t>
            </a:r>
            <a:r>
              <a:rPr lang="zh-CN" altLang="en-US" dirty="0"/>
              <a:t>类型即语义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0D54FD2-DDF6-E8A9-698A-BFC7FBE12C79}"/>
              </a:ext>
            </a:extLst>
          </p:cNvPr>
          <p:cNvSpPr/>
          <p:nvPr/>
        </p:nvSpPr>
        <p:spPr>
          <a:xfrm>
            <a:off x="3200400" y="1554480"/>
            <a:ext cx="2834640" cy="23774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2036EB-C023-6CDB-B18C-486996AC4E72}"/>
              </a:ext>
            </a:extLst>
          </p:cNvPr>
          <p:cNvSpPr/>
          <p:nvPr/>
        </p:nvSpPr>
        <p:spPr>
          <a:xfrm>
            <a:off x="3200400" y="1554480"/>
            <a:ext cx="38100" cy="2377440"/>
          </a:xfrm>
          <a:prstGeom prst="rect">
            <a:avLst/>
          </a:prstGeom>
          <a:solidFill>
            <a:srgbClr val="2B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E07E2F-898B-E9B3-7A12-C3291AE15AA0}"/>
              </a:ext>
            </a:extLst>
          </p:cNvPr>
          <p:cNvSpPr txBox="1"/>
          <p:nvPr/>
        </p:nvSpPr>
        <p:spPr>
          <a:xfrm>
            <a:off x="3318764" y="1590040"/>
            <a:ext cx="2716276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2BB5C5"/>
                </a:solidFill>
                <a:latin typeface="Microsoft YaHei"/>
              </a:defRPr>
            </a:pPr>
            <a:r>
              <a:rPr dirty="0"/>
              <a:t>② Backend </a:t>
            </a:r>
            <a:r>
              <a:rPr dirty="0" err="1"/>
              <a:t>返回</a:t>
            </a:r>
            <a:r>
              <a:rPr dirty="0"/>
              <a:t> Shape: </a:t>
            </a:r>
            <a:r>
              <a:rPr dirty="0" err="1"/>
              <a:t>完整信息</a:t>
            </a:r>
            <a:endParaRPr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04A866-E2D5-FEBD-454C-C8A048B483B9}"/>
              </a:ext>
            </a:extLst>
          </p:cNvPr>
          <p:cNvSpPr txBox="1"/>
          <p:nvPr/>
        </p:nvSpPr>
        <p:spPr>
          <a:xfrm>
            <a:off x="3318764" y="1926500"/>
            <a:ext cx="2670556" cy="1224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Backend.get_kv_cache_shape</a:t>
            </a:r>
            <a:r>
              <a:rPr dirty="0"/>
              <a:t>() </a:t>
            </a:r>
            <a:r>
              <a:rPr dirty="0" err="1"/>
              <a:t>返回完整的</a:t>
            </a:r>
            <a:r>
              <a:rPr dirty="0"/>
              <a:t> shape tuple</a:t>
            </a:r>
          </a:p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GQA: (2, N, B, H, D) — K/V </a:t>
            </a:r>
            <a:r>
              <a:rPr dirty="0" err="1"/>
              <a:t>交织在</a:t>
            </a:r>
            <a:r>
              <a:rPr dirty="0"/>
              <a:t> dim=0</a:t>
            </a:r>
          </a:p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MLA: (N, B, 576) — </a:t>
            </a:r>
            <a:r>
              <a:rPr dirty="0" err="1"/>
              <a:t>kv_lora</a:t>
            </a:r>
            <a:r>
              <a:rPr dirty="0"/>
              <a:t>(512)+</a:t>
            </a:r>
            <a:r>
              <a:rPr dirty="0" err="1"/>
              <a:t>k_rope</a:t>
            </a:r>
            <a:r>
              <a:rPr dirty="0"/>
              <a:t>(64) </a:t>
            </a:r>
            <a:r>
              <a:rPr dirty="0" err="1"/>
              <a:t>平面存储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→ </a:t>
            </a:r>
            <a:r>
              <a:rPr dirty="0" err="1"/>
              <a:t>一个</a:t>
            </a:r>
            <a:r>
              <a:rPr dirty="0"/>
              <a:t> shape 回答全部存储问题，1 tensor / 层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56CE8F1-1E5C-748E-1527-866F65D5E6EB}"/>
              </a:ext>
            </a:extLst>
          </p:cNvPr>
          <p:cNvSpPr/>
          <p:nvPr/>
        </p:nvSpPr>
        <p:spPr>
          <a:xfrm>
            <a:off x="6126480" y="1554480"/>
            <a:ext cx="2834640" cy="23774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045ABD-2B87-9E20-57E8-F377084EEC69}"/>
              </a:ext>
            </a:extLst>
          </p:cNvPr>
          <p:cNvSpPr/>
          <p:nvPr/>
        </p:nvSpPr>
        <p:spPr>
          <a:xfrm>
            <a:off x="6126480" y="1554480"/>
            <a:ext cx="38100" cy="237744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7EABE4-452D-A72C-092F-41CA8D7DBD6F}"/>
              </a:ext>
            </a:extLst>
          </p:cNvPr>
          <p:cNvSpPr txBox="1"/>
          <p:nvPr/>
        </p:nvSpPr>
        <p:spPr>
          <a:xfrm>
            <a:off x="6126480" y="1548545"/>
            <a:ext cx="305562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0B"/>
                </a:solidFill>
                <a:latin typeface="Microsoft YaHei"/>
              </a:defRPr>
            </a:pPr>
            <a:r>
              <a:rPr dirty="0"/>
              <a:t>③ </a:t>
            </a:r>
            <a:r>
              <a:rPr dirty="0" err="1"/>
              <a:t>全局规划</a:t>
            </a:r>
            <a:r>
              <a:rPr dirty="0"/>
              <a:t>: </a:t>
            </a:r>
            <a:r>
              <a:rPr dirty="0" err="1"/>
              <a:t>get_kv_cache_configs</a:t>
            </a:r>
            <a:r>
              <a:rPr dirty="0"/>
              <a:t>()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503EA3-B152-862F-9DD1-9B17CF08A285}"/>
              </a:ext>
            </a:extLst>
          </p:cNvPr>
          <p:cNvSpPr txBox="1"/>
          <p:nvPr/>
        </p:nvSpPr>
        <p:spPr>
          <a:xfrm>
            <a:off x="6172200" y="1929758"/>
            <a:ext cx="2750820" cy="1609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get_kv_cache_groups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分组决策（哪些层共享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block table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算块数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available_memory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page_size_bytes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num_blocks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出配置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KVCa</a:t>
            </a:r>
            <a:r>
              <a:rPr dirty="0" err="1"/>
              <a:t>cheConfig</a:t>
            </a:r>
            <a:r>
              <a:rPr dirty="0"/>
              <a:t> { </a:t>
            </a:r>
            <a:r>
              <a:rPr dirty="0" err="1"/>
              <a:t>num_blocks</a:t>
            </a:r>
            <a:r>
              <a:rPr dirty="0"/>
              <a:t>, </a:t>
            </a:r>
            <a:r>
              <a:rPr dirty="0" err="1"/>
              <a:t>kv_cache_tensors</a:t>
            </a:r>
            <a:r>
              <a:rPr dirty="0"/>
              <a:t>[], groups[]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→ </a:t>
            </a:r>
            <a:r>
              <a:rPr dirty="0" err="1"/>
              <a:t>KVCacheTensor.shared_by</a:t>
            </a:r>
            <a:r>
              <a:rPr dirty="0"/>
              <a:t> </a:t>
            </a:r>
            <a:r>
              <a:rPr dirty="0" err="1"/>
              <a:t>实现多层共享物理</a:t>
            </a:r>
            <a:r>
              <a:rPr dirty="0"/>
              <a:t> buffer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C284F6A-DBD9-CE0D-A7B4-31481B3E8C75}"/>
              </a:ext>
            </a:extLst>
          </p:cNvPr>
          <p:cNvSpPr/>
          <p:nvPr/>
        </p:nvSpPr>
        <p:spPr>
          <a:xfrm>
            <a:off x="9052560" y="1554480"/>
            <a:ext cx="2834640" cy="23774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C9BAB5-15E5-62BA-00CE-81DD7E758914}"/>
              </a:ext>
            </a:extLst>
          </p:cNvPr>
          <p:cNvSpPr/>
          <p:nvPr/>
        </p:nvSpPr>
        <p:spPr>
          <a:xfrm>
            <a:off x="9052560" y="1554480"/>
            <a:ext cx="38100" cy="2377440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97972A-586E-0BFB-934B-0C0A022C6496}"/>
              </a:ext>
            </a:extLst>
          </p:cNvPr>
          <p:cNvSpPr txBox="1"/>
          <p:nvPr/>
        </p:nvSpPr>
        <p:spPr>
          <a:xfrm>
            <a:off x="9090659" y="1504188"/>
            <a:ext cx="2979421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ED6C00"/>
                </a:solidFill>
                <a:latin typeface="Microsoft YaHei"/>
              </a:defRPr>
            </a:pPr>
            <a:r>
              <a:rPr dirty="0"/>
              <a:t>④⑤ Allocate + Reshape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EFA33D-0690-B28D-55A8-8F01F5673A82}"/>
              </a:ext>
            </a:extLst>
          </p:cNvPr>
          <p:cNvSpPr txBox="1"/>
          <p:nvPr/>
        </p:nvSpPr>
        <p:spPr>
          <a:xfrm>
            <a:off x="9078660" y="1662482"/>
            <a:ext cx="2874264" cy="1996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lang="en-US" dirty="0"/>
              <a:t>Allocate: </a:t>
            </a:r>
            <a:r>
              <a:rPr lang="zh-CN" altLang="en-US" dirty="0"/>
              <a:t>只管总字节数，不管是 </a:t>
            </a:r>
            <a:r>
              <a:rPr lang="en-US" dirty="0"/>
              <a:t>K </a:t>
            </a:r>
            <a:r>
              <a:rPr lang="zh-CN" altLang="en-US" dirty="0"/>
              <a:t>是 </a:t>
            </a:r>
            <a:r>
              <a:rPr lang="en-US" dirty="0"/>
              <a:t>V </a:t>
            </a:r>
            <a:r>
              <a:rPr lang="zh-CN" altLang="en-US" dirty="0"/>
              <a:t>还是</a:t>
            </a:r>
            <a:r>
              <a:rPr lang="en-US" dirty="0" err="1"/>
              <a:t>conv_state</a:t>
            </a:r>
            <a:r>
              <a:rPr lang="zh-CN" altLang="en-US" dirty="0"/>
              <a:t>对分配器来说都一样</a:t>
            </a:r>
          </a:p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lang="en-US" dirty="0"/>
              <a:t>Reshape: </a:t>
            </a:r>
            <a:r>
              <a:rPr lang="zh-CN" altLang="en-US" dirty="0"/>
              <a:t>三步机械操作：还原 </a:t>
            </a:r>
            <a:r>
              <a:rPr lang="en-US" dirty="0" err="1"/>
              <a:t>dtype</a:t>
            </a:r>
            <a:r>
              <a:rPr lang="en-US" dirty="0"/>
              <a:t> → </a:t>
            </a:r>
            <a:r>
              <a:rPr lang="zh-CN" altLang="en-US" dirty="0"/>
              <a:t>还原 </a:t>
            </a:r>
            <a:r>
              <a:rPr lang="en-US" dirty="0"/>
              <a:t>shape → </a:t>
            </a:r>
            <a:r>
              <a:rPr lang="zh-CN" altLang="en-US" dirty="0"/>
              <a:t>调整维度顺序 所有模型类型共用同一套逻辑，零分支</a:t>
            </a:r>
          </a:p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lang="zh-CN" altLang="en-US" dirty="0"/>
              <a:t>特殊类型</a:t>
            </a:r>
            <a:r>
              <a:rPr lang="en-US" altLang="zh-CN" dirty="0"/>
              <a:t>:  </a:t>
            </a:r>
            <a:r>
              <a:rPr lang="en-US" dirty="0"/>
              <a:t>Mamba </a:t>
            </a:r>
            <a:r>
              <a:rPr lang="zh-CN" altLang="en-US" dirty="0"/>
              <a:t>的 </a:t>
            </a:r>
            <a:r>
              <a:rPr lang="en-US" dirty="0"/>
              <a:t>conv/</a:t>
            </a:r>
            <a:r>
              <a:rPr lang="en-US" dirty="0" err="1"/>
              <a:t>ssm</a:t>
            </a:r>
            <a:r>
              <a:rPr lang="en-US" dirty="0"/>
              <a:t> →</a:t>
            </a:r>
            <a:r>
              <a:rPr lang="en-US" dirty="0" err="1"/>
              <a:t>as_strided</a:t>
            </a:r>
            <a:r>
              <a:rPr lang="en-US" dirty="0"/>
              <a:t> </a:t>
            </a:r>
            <a:r>
              <a:rPr lang="zh-CN" altLang="en-US" dirty="0"/>
              <a:t>拆出多个逻辑视图  </a:t>
            </a:r>
            <a:r>
              <a:rPr lang="en-US" dirty="0"/>
              <a:t>MLA </a:t>
            </a:r>
            <a:r>
              <a:rPr lang="zh-CN" altLang="en-US" dirty="0"/>
              <a:t>的 </a:t>
            </a:r>
            <a:r>
              <a:rPr lang="en-US" dirty="0" err="1"/>
              <a:t>kv_lora</a:t>
            </a:r>
            <a:r>
              <a:rPr lang="en-US" dirty="0"/>
              <a:t>/</a:t>
            </a:r>
            <a:r>
              <a:rPr lang="en-US" dirty="0" err="1"/>
              <a:t>k_rope</a:t>
            </a:r>
            <a:r>
              <a:rPr lang="en-US" dirty="0"/>
              <a:t> → </a:t>
            </a:r>
            <a:r>
              <a:rPr lang="zh-CN" altLang="en-US" dirty="0"/>
              <a:t>同一 </a:t>
            </a:r>
            <a:r>
              <a:rPr lang="en-US" dirty="0"/>
              <a:t>tensor </a:t>
            </a:r>
            <a:r>
              <a:rPr lang="zh-CN" altLang="en-US" dirty="0"/>
              <a:t>内，</a:t>
            </a:r>
            <a:r>
              <a:rPr lang="en-US" dirty="0"/>
              <a:t>kernel </a:t>
            </a:r>
            <a:r>
              <a:rPr lang="zh-CN" altLang="en-US" dirty="0"/>
              <a:t>自己 </a:t>
            </a:r>
            <a:r>
              <a:rPr lang="en-US" dirty="0"/>
              <a:t>offse</a:t>
            </a:r>
            <a:r>
              <a:rPr lang="en-US" altLang="zh-CN" dirty="0"/>
              <a:t>t</a:t>
            </a:r>
            <a:endParaRPr lang="zh-CN" altLang="en-US"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lang="zh-CN" altLang="en-US" dirty="0"/>
              <a:t>→ </a:t>
            </a:r>
            <a:r>
              <a:rPr lang="en-US" dirty="0" err="1"/>
              <a:t>model_runner</a:t>
            </a:r>
            <a:r>
              <a:rPr lang="en-US" dirty="0"/>
              <a:t> </a:t>
            </a:r>
            <a:r>
              <a:rPr lang="zh-CN" altLang="en-US" dirty="0"/>
              <a:t>从不问</a:t>
            </a:r>
            <a:r>
              <a:rPr lang="en-US" altLang="zh-CN" dirty="0"/>
              <a:t>“</a:t>
            </a:r>
            <a:r>
              <a:rPr lang="en-US" dirty="0"/>
              <a:t>buffer </a:t>
            </a:r>
            <a:r>
              <a:rPr lang="zh-CN" altLang="en-US" dirty="0"/>
              <a:t>里面是什么</a:t>
            </a:r>
            <a:r>
              <a:rPr lang="en-US" altLang="zh-CN" dirty="0"/>
              <a:t>—</a:t>
            </a:r>
            <a:r>
              <a:rPr lang="en-US" dirty="0"/>
              <a:t>Backend </a:t>
            </a:r>
            <a:r>
              <a:rPr lang="zh-CN" altLang="en-US" dirty="0"/>
              <a:t>已经把 </a:t>
            </a:r>
            <a:r>
              <a:rPr lang="en-US" dirty="0"/>
              <a:t>shape </a:t>
            </a:r>
            <a:r>
              <a:rPr lang="zh-CN" altLang="en-US" dirty="0"/>
              <a:t>告诉它了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26A88C3-593F-09C3-D50F-9A1B125A01AF}"/>
              </a:ext>
            </a:extLst>
          </p:cNvPr>
          <p:cNvSpPr/>
          <p:nvPr/>
        </p:nvSpPr>
        <p:spPr>
          <a:xfrm>
            <a:off x="312420" y="4048801"/>
            <a:ext cx="11338560" cy="609600"/>
          </a:xfrm>
          <a:prstGeom prst="roundRect">
            <a:avLst>
              <a:gd name="adj" fmla="val 4000"/>
            </a:avLst>
          </a:prstGeom>
          <a:solidFill>
            <a:srgbClr val="F1F8EE"/>
          </a:solidFill>
          <a:ln w="12700">
            <a:solidFill>
              <a:srgbClr val="94E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4BAAF0-6CBA-1935-CF24-064C3A3B15D7}"/>
              </a:ext>
            </a:extLst>
          </p:cNvPr>
          <p:cNvSpPr/>
          <p:nvPr/>
        </p:nvSpPr>
        <p:spPr>
          <a:xfrm>
            <a:off x="312420" y="4048801"/>
            <a:ext cx="50800" cy="60960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AF8584-6742-1DA7-C0F9-009E0DA949E5}"/>
              </a:ext>
            </a:extLst>
          </p:cNvPr>
          <p:cNvSpPr txBox="1"/>
          <p:nvPr/>
        </p:nvSpPr>
        <p:spPr>
          <a:xfrm>
            <a:off x="490220" y="4125001"/>
            <a:ext cx="10982960" cy="225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58B230"/>
                </a:solidFill>
                <a:latin typeface="Microsoft YaHei"/>
              </a:defRPr>
            </a:pPr>
            <a:r>
              <a:rPr dirty="0"/>
              <a:t>&gt; </a:t>
            </a:r>
            <a:r>
              <a:rPr lang="en-US" altLang="zh-CN" dirty="0" err="1"/>
              <a:t>vllm</a:t>
            </a:r>
            <a:r>
              <a:rPr dirty="0" err="1"/>
              <a:t>核心原则</a:t>
            </a:r>
            <a:endParaRPr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E5AC09-8A55-1567-F5BE-AA006EA72E55}"/>
              </a:ext>
            </a:extLst>
          </p:cNvPr>
          <p:cNvSpPr txBox="1"/>
          <p:nvPr/>
        </p:nvSpPr>
        <p:spPr>
          <a:xfrm>
            <a:off x="490220" y="4328201"/>
            <a:ext cx="11160760" cy="220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Backend 是 KV Cache shape </a:t>
            </a:r>
            <a:r>
              <a:rPr dirty="0" err="1"/>
              <a:t>的唯一决定者。每一维的含义、tensor</a:t>
            </a:r>
            <a:r>
              <a:rPr dirty="0"/>
              <a:t> </a:t>
            </a:r>
            <a:r>
              <a:rPr dirty="0" err="1"/>
              <a:t>的数量、K</a:t>
            </a:r>
            <a:r>
              <a:rPr dirty="0"/>
              <a:t>/V </a:t>
            </a:r>
            <a:r>
              <a:rPr dirty="0" err="1"/>
              <a:t>的存储方式，都由</a:t>
            </a:r>
            <a:r>
              <a:rPr dirty="0"/>
              <a:t> Backend </a:t>
            </a:r>
            <a:r>
              <a:rPr dirty="0" err="1"/>
              <a:t>说了算。model_runner</a:t>
            </a:r>
            <a:r>
              <a:rPr dirty="0"/>
              <a:t> </a:t>
            </a:r>
            <a:r>
              <a:rPr dirty="0" err="1"/>
              <a:t>只做机械执行</a:t>
            </a:r>
            <a:r>
              <a:rPr dirty="0"/>
              <a:t>——</a:t>
            </a:r>
            <a:r>
              <a:rPr lang="zh-CN" altLang="en-US" dirty="0"/>
              <a:t>拿到 </a:t>
            </a:r>
            <a:r>
              <a:rPr lang="en-US" altLang="zh-CN" dirty="0"/>
              <a:t>Spec → </a:t>
            </a:r>
            <a:r>
              <a:rPr lang="zh-CN" altLang="en-US" dirty="0"/>
              <a:t>拿到 </a:t>
            </a:r>
            <a:r>
              <a:rPr lang="en-US" altLang="zh-CN" dirty="0"/>
              <a:t>shape → </a:t>
            </a:r>
            <a:r>
              <a:rPr lang="zh-CN" altLang="en-US" dirty="0"/>
              <a:t>分配 → </a:t>
            </a:r>
            <a:r>
              <a:rPr lang="en-US" altLang="zh-CN" dirty="0"/>
              <a:t>reshape → </a:t>
            </a:r>
            <a:r>
              <a:rPr lang="zh-CN" altLang="en-US" dirty="0"/>
              <a:t>结束</a:t>
            </a:r>
            <a:r>
              <a:rPr dirty="0"/>
              <a:t>。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F704D0E-B6B5-725F-C00D-AA0727B66A7C}"/>
              </a:ext>
            </a:extLst>
          </p:cNvPr>
          <p:cNvSpPr/>
          <p:nvPr/>
        </p:nvSpPr>
        <p:spPr>
          <a:xfrm>
            <a:off x="274320" y="4846320"/>
            <a:ext cx="5486400" cy="12801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277556-60C9-5309-0896-D15E053BA1DE}"/>
              </a:ext>
            </a:extLst>
          </p:cNvPr>
          <p:cNvSpPr/>
          <p:nvPr/>
        </p:nvSpPr>
        <p:spPr>
          <a:xfrm>
            <a:off x="274320" y="4846320"/>
            <a:ext cx="38100" cy="128016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2597A6-3420-C179-F618-583AC1FBC7B5}"/>
              </a:ext>
            </a:extLst>
          </p:cNvPr>
          <p:cNvSpPr txBox="1"/>
          <p:nvPr/>
        </p:nvSpPr>
        <p:spPr>
          <a:xfrm>
            <a:off x="285242" y="4801031"/>
            <a:ext cx="51816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rPr dirty="0" err="1"/>
              <a:t>内部数据组织</a:t>
            </a:r>
            <a:r>
              <a:rPr dirty="0"/>
              <a:t>: 单 tensor </a:t>
            </a:r>
            <a:r>
              <a:rPr lang="en-US" dirty="0"/>
              <a:t>,</a:t>
            </a:r>
            <a:r>
              <a:rPr lang="en-US" dirty="0" err="1"/>
              <a:t>kernel</a:t>
            </a:r>
            <a:r>
              <a:rPr dirty="0" err="1"/>
              <a:t>内部分拆</a:t>
            </a:r>
            <a:endParaRPr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AC4C6E-34BF-F4B6-DCB8-4355F8CCCD03}"/>
              </a:ext>
            </a:extLst>
          </p:cNvPr>
          <p:cNvSpPr txBox="1"/>
          <p:nvPr/>
        </p:nvSpPr>
        <p:spPr>
          <a:xfrm>
            <a:off x="360045" y="4958215"/>
            <a:ext cx="5353050" cy="1226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lang="zh-CN" altLang="en-US" dirty="0"/>
              <a:t>所有模型类型共用一条原则</a:t>
            </a:r>
            <a:r>
              <a:rPr lang="en-US" altLang="zh-CN" dirty="0"/>
              <a:t>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lang="en-US" altLang="zh-CN" dirty="0"/>
              <a:t>  → </a:t>
            </a:r>
            <a:r>
              <a:rPr lang="zh-CN" altLang="en-US" dirty="0"/>
              <a:t>一个 </a:t>
            </a:r>
            <a:r>
              <a:rPr lang="en-US" dirty="0"/>
              <a:t>layer </a:t>
            </a:r>
            <a:r>
              <a:rPr lang="zh-CN" altLang="en-US" dirty="0"/>
              <a:t>一个 </a:t>
            </a:r>
            <a:r>
              <a:rPr lang="en-US" dirty="0"/>
              <a:t>tensor，</a:t>
            </a:r>
            <a:r>
              <a:rPr lang="zh-CN" altLang="en-US" dirty="0"/>
              <a:t>不同类型的组件打包在同一块 </a:t>
            </a:r>
            <a:r>
              <a:rPr lang="en-US" dirty="0"/>
              <a:t>buffer </a:t>
            </a:r>
            <a:r>
              <a:rPr lang="zh-CN" altLang="en-US" dirty="0"/>
              <a:t>里→ </a:t>
            </a:r>
            <a:r>
              <a:rPr lang="en-US" dirty="0"/>
              <a:t>GQA </a:t>
            </a:r>
            <a:r>
              <a:rPr lang="zh-CN" altLang="en-US" dirty="0"/>
              <a:t>的 </a:t>
            </a:r>
            <a:r>
              <a:rPr lang="en-US" dirty="0"/>
              <a:t>K </a:t>
            </a:r>
            <a:r>
              <a:rPr lang="zh-CN" altLang="en-US" dirty="0"/>
              <a:t>和 </a:t>
            </a:r>
            <a:r>
              <a:rPr lang="en-US" dirty="0"/>
              <a:t>V </a:t>
            </a:r>
            <a:r>
              <a:rPr lang="zh-CN" altLang="en-US" dirty="0"/>
              <a:t>在同一个 </a:t>
            </a:r>
            <a:r>
              <a:rPr lang="en-US" dirty="0"/>
              <a:t>tensor </a:t>
            </a:r>
            <a:r>
              <a:rPr lang="zh-CN" altLang="en-US" dirty="0"/>
              <a:t>的相邻区域 → </a:t>
            </a:r>
            <a:r>
              <a:rPr lang="en-US" dirty="0"/>
              <a:t>MLA </a:t>
            </a:r>
            <a:r>
              <a:rPr lang="zh-CN" altLang="en-US" dirty="0"/>
              <a:t>的 </a:t>
            </a:r>
            <a:r>
              <a:rPr lang="en-US" dirty="0" err="1"/>
              <a:t>kv_lora</a:t>
            </a:r>
            <a:r>
              <a:rPr lang="en-US" dirty="0"/>
              <a:t> </a:t>
            </a:r>
            <a:r>
              <a:rPr lang="zh-CN" altLang="en-US" dirty="0"/>
              <a:t>和 </a:t>
            </a:r>
            <a:r>
              <a:rPr lang="en-US" dirty="0" err="1"/>
              <a:t>k_rope</a:t>
            </a:r>
            <a:r>
              <a:rPr lang="en-US" dirty="0"/>
              <a:t> </a:t>
            </a:r>
            <a:r>
              <a:rPr lang="zh-CN" altLang="en-US" dirty="0"/>
              <a:t>在同一 </a:t>
            </a:r>
            <a:r>
              <a:rPr lang="en-US" dirty="0"/>
              <a:t>tensor </a:t>
            </a:r>
            <a:r>
              <a:rPr lang="zh-CN" altLang="en-US" dirty="0"/>
              <a:t>的相邻区域 → </a:t>
            </a:r>
            <a:r>
              <a:rPr lang="en-US" dirty="0"/>
              <a:t>fp8 </a:t>
            </a:r>
            <a:r>
              <a:rPr lang="zh-CN" altLang="en-US" dirty="0"/>
              <a:t>的就多几个 </a:t>
            </a:r>
            <a:r>
              <a:rPr lang="en-US" dirty="0"/>
              <a:t>padding </a:t>
            </a:r>
            <a:r>
              <a:rPr lang="zh-CN" altLang="en-US" dirty="0"/>
              <a:t>字节，还是同一个 </a:t>
            </a:r>
            <a:r>
              <a:rPr lang="en-US" dirty="0"/>
              <a:t>tensor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lang="en-US" dirty="0"/>
              <a:t>kernel </a:t>
            </a:r>
            <a:r>
              <a:rPr lang="zh-CN" altLang="en-US" dirty="0"/>
              <a:t>负责拆</a:t>
            </a:r>
            <a:r>
              <a:rPr lang="en-US" altLang="zh-CN" dirty="0"/>
              <a:t>:  </a:t>
            </a:r>
            <a:r>
              <a:rPr lang="zh-CN" altLang="en-US" dirty="0"/>
              <a:t>传入一个 </a:t>
            </a:r>
            <a:r>
              <a:rPr lang="en-US" dirty="0"/>
              <a:t>int8 blob → kernel </a:t>
            </a:r>
            <a:r>
              <a:rPr lang="zh-CN" altLang="en-US" dirty="0"/>
              <a:t>内部按 </a:t>
            </a:r>
            <a:r>
              <a:rPr lang="en-US" dirty="0"/>
              <a:t>struct </a:t>
            </a:r>
            <a:r>
              <a:rPr lang="zh-CN" altLang="en-US" dirty="0"/>
              <a:t>布局解析各字段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lang="en-US" dirty="0"/>
              <a:t>host </a:t>
            </a:r>
            <a:r>
              <a:rPr lang="zh-CN" altLang="en-US" dirty="0"/>
              <a:t>只管传</a:t>
            </a:r>
            <a:r>
              <a:rPr lang="en-US" altLang="zh-CN" dirty="0"/>
              <a:t>:    </a:t>
            </a:r>
            <a:r>
              <a:rPr lang="en-US" dirty="0" err="1"/>
              <a:t>raw.view</a:t>
            </a:r>
            <a:r>
              <a:rPr lang="en-US" dirty="0"/>
              <a:t>(</a:t>
            </a:r>
            <a:r>
              <a:rPr lang="en-US" dirty="0" err="1"/>
              <a:t>dtype</a:t>
            </a:r>
            <a:r>
              <a:rPr lang="en-US" dirty="0"/>
              <a:t>).view(shape) → </a:t>
            </a:r>
            <a:r>
              <a:rPr lang="zh-CN" altLang="en-US" dirty="0"/>
              <a:t>传进去 → 结束</a:t>
            </a:r>
            <a:endParaRPr b="1" dirty="0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1F5B0B6-2D70-6883-4E34-1FDBB16FE0D5}"/>
              </a:ext>
            </a:extLst>
          </p:cNvPr>
          <p:cNvSpPr/>
          <p:nvPr/>
        </p:nvSpPr>
        <p:spPr>
          <a:xfrm>
            <a:off x="6035040" y="4846320"/>
            <a:ext cx="5577840" cy="12801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517CFD3-0DC0-E2DA-0252-F9DCB3CCCE35}"/>
              </a:ext>
            </a:extLst>
          </p:cNvPr>
          <p:cNvSpPr/>
          <p:nvPr/>
        </p:nvSpPr>
        <p:spPr>
          <a:xfrm>
            <a:off x="6035040" y="4846320"/>
            <a:ext cx="38100" cy="128016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A9A7EBD-E534-7F71-5D63-535B96CD602E}"/>
              </a:ext>
            </a:extLst>
          </p:cNvPr>
          <p:cNvSpPr txBox="1"/>
          <p:nvPr/>
        </p:nvSpPr>
        <p:spPr>
          <a:xfrm>
            <a:off x="6187440" y="4864743"/>
            <a:ext cx="52730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rPr dirty="0" err="1"/>
              <a:t>分组方案</a:t>
            </a:r>
            <a:r>
              <a:rPr dirty="0"/>
              <a:t>: </a:t>
            </a:r>
            <a:r>
              <a:rPr dirty="0" err="1"/>
              <a:t>get_kv_cache_groups</a:t>
            </a:r>
            <a:r>
              <a:rPr dirty="0"/>
              <a:t>() </a:t>
            </a:r>
            <a:r>
              <a:rPr dirty="0" err="1"/>
              <a:t>决策级联</a:t>
            </a:r>
            <a:endParaRPr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6AE9AD-AC72-AD6B-E67F-31DC61AACB3A}"/>
              </a:ext>
            </a:extLst>
          </p:cNvPr>
          <p:cNvSpPr txBox="1"/>
          <p:nvPr/>
        </p:nvSpPr>
        <p:spPr>
          <a:xfrm>
            <a:off x="6206490" y="5137166"/>
            <a:ext cx="5273040" cy="79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情况1: </a:t>
            </a:r>
            <a:r>
              <a:rPr dirty="0" err="1"/>
              <a:t>所有层相同</a:t>
            </a:r>
            <a:r>
              <a:rPr dirty="0"/>
              <a:t> → 1 group </a:t>
            </a:r>
            <a:r>
              <a:rPr dirty="0" err="1"/>
              <a:t>全包含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情况2: </a:t>
            </a:r>
            <a:r>
              <a:rPr dirty="0" err="1"/>
              <a:t>同类型不同维度</a:t>
            </a:r>
            <a:r>
              <a:rPr dirty="0"/>
              <a:t> → </a:t>
            </a:r>
            <a:r>
              <a:rPr dirty="0" err="1"/>
              <a:t>UniformTypeKVCacheSpecs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情况3: DS V4 → 按 </a:t>
            </a:r>
            <a:r>
              <a:rPr dirty="0" err="1"/>
              <a:t>page_size</a:t>
            </a:r>
            <a:r>
              <a:rPr dirty="0"/>
              <a:t> </a:t>
            </a:r>
            <a:r>
              <a:rPr dirty="0" err="1"/>
              <a:t>分桶</a:t>
            </a:r>
            <a:r>
              <a:rPr dirty="0"/>
              <a:t> + </a:t>
            </a:r>
            <a:r>
              <a:rPr dirty="0" err="1"/>
              <a:t>layer_tuple</a:t>
            </a:r>
            <a:r>
              <a:rPr dirty="0"/>
              <a:t> </a:t>
            </a:r>
            <a:r>
              <a:rPr dirty="0" err="1"/>
              <a:t>对齐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情况4: </a:t>
            </a:r>
            <a:r>
              <a:rPr dirty="0" err="1"/>
              <a:t>通用</a:t>
            </a:r>
            <a:r>
              <a:rPr dirty="0"/>
              <a:t> Hybrid → </a:t>
            </a:r>
            <a:r>
              <a:rPr dirty="0" err="1"/>
              <a:t>min_num_layers</a:t>
            </a:r>
            <a:r>
              <a:rPr dirty="0"/>
              <a:t> </a:t>
            </a:r>
            <a:r>
              <a:rPr dirty="0" err="1"/>
              <a:t>分组</a:t>
            </a:r>
            <a:r>
              <a:rPr dirty="0"/>
              <a:t> + padding </a:t>
            </a:r>
            <a:r>
              <a:rPr dirty="0" err="1"/>
              <a:t>补齐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4959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791C4F-92C6-77C2-787B-31137A89F8E9}"/>
              </a:ext>
            </a:extLst>
          </p:cNvPr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C8102E"/>
                </a:solidFill>
                <a:latin typeface="Microsoft YaHei"/>
              </a:defRPr>
            </a:pPr>
            <a:r>
              <a:t>Ascend 的同一管线：为什么变成了 600 行 if-else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F6F16E-20FB-09F5-612E-EFD07D37033D}"/>
              </a:ext>
            </a:extLst>
          </p:cNvPr>
          <p:cNvSpPr txBox="1"/>
          <p:nvPr/>
        </p:nvSpPr>
        <p:spPr>
          <a:xfrm>
            <a:off x="548640" y="6400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上游的四个阶段在 Ascend 侧全部出现了信息丢失——每一步都只能完成 1/N 的工作，剩余 N-1/N 泄漏到 model_runner。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C4C6219-32D1-958A-03AC-48C77E792239}"/>
              </a:ext>
            </a:extLst>
          </p:cNvPr>
          <p:cNvSpPr/>
          <p:nvPr/>
        </p:nvSpPr>
        <p:spPr>
          <a:xfrm>
            <a:off x="457200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chemeClr val="tx2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8102E"/>
                </a:solidFill>
                <a:latin typeface="Consolas"/>
              </a:defRPr>
            </a:pPr>
            <a:r>
              <a:t>① Spec 创建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BC35A-9CAE-C49C-C4F9-B36632F05D11}"/>
              </a:ext>
            </a:extLst>
          </p:cNvPr>
          <p:cNvSpPr txBox="1"/>
          <p:nvPr/>
        </p:nvSpPr>
        <p:spPr>
          <a:xfrm>
            <a:off x="2599944" y="1026160"/>
            <a:ext cx="152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9898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793D4F1-BA80-EF5B-EC94-39EF4838607A}"/>
              </a:ext>
            </a:extLst>
          </p:cNvPr>
          <p:cNvSpPr/>
          <p:nvPr/>
        </p:nvSpPr>
        <p:spPr>
          <a:xfrm>
            <a:off x="2726944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chemeClr val="tx2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8102E"/>
                </a:solidFill>
                <a:latin typeface="Consolas"/>
              </a:defRPr>
            </a:pPr>
            <a:r>
              <a:rPr dirty="0"/>
              <a:t>② Backend: </a:t>
            </a:r>
            <a:r>
              <a:rPr dirty="0" err="1"/>
              <a:t>只返参考Shape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72902F-D469-9BC9-A97E-02774259EB1E}"/>
              </a:ext>
            </a:extLst>
          </p:cNvPr>
          <p:cNvSpPr txBox="1"/>
          <p:nvPr/>
        </p:nvSpPr>
        <p:spPr>
          <a:xfrm>
            <a:off x="4869688" y="1026160"/>
            <a:ext cx="152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9898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56C9551-29C3-91CC-E6A6-3353B7426ECC}"/>
              </a:ext>
            </a:extLst>
          </p:cNvPr>
          <p:cNvSpPr/>
          <p:nvPr/>
        </p:nvSpPr>
        <p:spPr>
          <a:xfrm>
            <a:off x="4996688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chemeClr val="tx2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8102E"/>
                </a:solidFill>
                <a:latin typeface="Consolas"/>
              </a:defRPr>
            </a:pPr>
            <a:r>
              <a:rPr dirty="0"/>
              <a:t>③ </a:t>
            </a:r>
            <a:r>
              <a:rPr dirty="0" err="1"/>
              <a:t>全局规划</a:t>
            </a:r>
            <a:r>
              <a:rPr dirty="0"/>
              <a:t>: 有 patch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BE5A25-63C7-F932-1187-249F537AD341}"/>
              </a:ext>
            </a:extLst>
          </p:cNvPr>
          <p:cNvSpPr txBox="1"/>
          <p:nvPr/>
        </p:nvSpPr>
        <p:spPr>
          <a:xfrm>
            <a:off x="7139432" y="1026160"/>
            <a:ext cx="152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9898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15540EF-FBDD-F8CB-3699-5F4A1FE2CE1A}"/>
              </a:ext>
            </a:extLst>
          </p:cNvPr>
          <p:cNvSpPr/>
          <p:nvPr/>
        </p:nvSpPr>
        <p:spPr>
          <a:xfrm>
            <a:off x="7266432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chemeClr val="tx2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8102E"/>
                </a:solidFill>
                <a:latin typeface="Consolas"/>
              </a:defRPr>
            </a:pPr>
            <a:r>
              <a:rPr dirty="0"/>
              <a:t>④ Allocate: </a:t>
            </a:r>
            <a:r>
              <a:rPr dirty="0" err="1"/>
              <a:t>多tensor拆分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8E13BB-38E4-2DE1-E6FF-9D1DACFB873F}"/>
              </a:ext>
            </a:extLst>
          </p:cNvPr>
          <p:cNvSpPr txBox="1"/>
          <p:nvPr/>
        </p:nvSpPr>
        <p:spPr>
          <a:xfrm>
            <a:off x="9409176" y="1026160"/>
            <a:ext cx="152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9898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CE308A-855C-2EB2-EF83-95477FB3AC10}"/>
              </a:ext>
            </a:extLst>
          </p:cNvPr>
          <p:cNvSpPr/>
          <p:nvPr/>
        </p:nvSpPr>
        <p:spPr>
          <a:xfrm>
            <a:off x="9536176" y="1051560"/>
            <a:ext cx="2168144" cy="304800"/>
          </a:xfrm>
          <a:prstGeom prst="roundRect">
            <a:avLst>
              <a:gd name="adj" fmla="val 30000"/>
            </a:avLst>
          </a:prstGeom>
          <a:solidFill>
            <a:schemeClr val="tx2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8102E"/>
                </a:solidFill>
                <a:latin typeface="Consolas"/>
              </a:defRPr>
            </a:pPr>
            <a:r>
              <a:rPr dirty="0"/>
              <a:t>⑤ Reshape: 15+ if-else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97034BA-89E8-2207-1AB6-0A7551CC6FA9}"/>
              </a:ext>
            </a:extLst>
          </p:cNvPr>
          <p:cNvSpPr/>
          <p:nvPr/>
        </p:nvSpPr>
        <p:spPr>
          <a:xfrm>
            <a:off x="274320" y="1554480"/>
            <a:ext cx="3749039" cy="23774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25B82F-B15B-7C63-3653-AB54399EFBDD}"/>
              </a:ext>
            </a:extLst>
          </p:cNvPr>
          <p:cNvSpPr/>
          <p:nvPr/>
        </p:nvSpPr>
        <p:spPr>
          <a:xfrm>
            <a:off x="274320" y="1554480"/>
            <a:ext cx="38100" cy="2377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53D23D-5721-0095-17E7-E1D76E02D699}"/>
              </a:ext>
            </a:extLst>
          </p:cNvPr>
          <p:cNvSpPr txBox="1"/>
          <p:nvPr/>
        </p:nvSpPr>
        <p:spPr>
          <a:xfrm>
            <a:off x="426720" y="165608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① Spec: AscendMLAAttentionSpec「万能类」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881864-8C67-A0B5-9FE4-B3AC3156BB68}"/>
              </a:ext>
            </a:extLst>
          </p:cNvPr>
          <p:cNvSpPr txBox="1"/>
          <p:nvPr/>
        </p:nvSpPr>
        <p:spPr>
          <a:xfrm>
            <a:off x="366777" y="2100580"/>
            <a:ext cx="3874706" cy="1032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上游</a:t>
            </a:r>
            <a:r>
              <a:rPr dirty="0"/>
              <a:t>: 1 </a:t>
            </a:r>
            <a:r>
              <a:rPr dirty="0" err="1"/>
              <a:t>种模型</a:t>
            </a:r>
            <a:r>
              <a:rPr dirty="0"/>
              <a:t> → 1 种 Spec </a:t>
            </a:r>
            <a:r>
              <a:rPr dirty="0" err="1"/>
              <a:t>子类</a:t>
            </a:r>
            <a:r>
              <a:rPr dirty="0"/>
              <a:t> (</a:t>
            </a:r>
            <a:r>
              <a:rPr dirty="0" err="1"/>
              <a:t>类型即语义</a:t>
            </a:r>
            <a:r>
              <a:rPr dirty="0"/>
              <a:t>)</a:t>
            </a:r>
          </a:p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Ascend: </a:t>
            </a:r>
            <a:r>
              <a:rPr dirty="0" err="1"/>
              <a:t>所有</a:t>
            </a:r>
            <a:r>
              <a:rPr dirty="0"/>
              <a:t> MLA </a:t>
            </a:r>
            <a:r>
              <a:rPr dirty="0" err="1"/>
              <a:t>变体挤进同一个</a:t>
            </a:r>
            <a:r>
              <a:rPr dirty="0"/>
              <a:t> </a:t>
            </a:r>
            <a:r>
              <a:rPr dirty="0" err="1"/>
              <a:t>AscendMLAAttentionSpec</a:t>
            </a:r>
            <a:endParaRPr dirty="0"/>
          </a:p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新增</a:t>
            </a:r>
            <a:r>
              <a:rPr dirty="0"/>
              <a:t> 6 个 NPU </a:t>
            </a:r>
            <a:r>
              <a:rPr dirty="0" err="1"/>
              <a:t>特有字段</a:t>
            </a:r>
            <a:r>
              <a:rPr dirty="0"/>
              <a:t>: </a:t>
            </a:r>
            <a:r>
              <a:rPr dirty="0" err="1"/>
              <a:t>scale_dim</a:t>
            </a:r>
            <a:r>
              <a:rPr dirty="0"/>
              <a:t>, </a:t>
            </a:r>
            <a:r>
              <a:rPr dirty="0" err="1"/>
              <a:t>scale_dtype</a:t>
            </a:r>
            <a:r>
              <a:rPr dirty="0"/>
              <a:t>,</a:t>
            </a:r>
          </a:p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sparse_head_dim</a:t>
            </a:r>
            <a:r>
              <a:rPr dirty="0"/>
              <a:t>, cache_sparse_c8, c8_k_cache_dtype...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→ Spec </a:t>
            </a:r>
            <a:r>
              <a:rPr dirty="0" err="1"/>
              <a:t>声明了信息，但缺少解释方法</a:t>
            </a:r>
            <a:r>
              <a:rPr dirty="0"/>
              <a:t> (</a:t>
            </a:r>
            <a:r>
              <a:rPr dirty="0" err="1"/>
              <a:t>page_size_bytes</a:t>
            </a:r>
            <a:r>
              <a:rPr dirty="0"/>
              <a:t> </a:t>
            </a:r>
            <a:r>
              <a:rPr dirty="0" err="1"/>
              <a:t>有分支</a:t>
            </a:r>
            <a:r>
              <a:rPr dirty="0"/>
              <a:t>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3C497A9-2D34-B5D9-756F-5D786EBEE0DA}"/>
              </a:ext>
            </a:extLst>
          </p:cNvPr>
          <p:cNvSpPr/>
          <p:nvPr/>
        </p:nvSpPr>
        <p:spPr>
          <a:xfrm>
            <a:off x="4114800" y="1554480"/>
            <a:ext cx="3749039" cy="23774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E19E22-6F03-CDEE-9B8D-3D678306CFE4}"/>
              </a:ext>
            </a:extLst>
          </p:cNvPr>
          <p:cNvSpPr/>
          <p:nvPr/>
        </p:nvSpPr>
        <p:spPr>
          <a:xfrm>
            <a:off x="4114800" y="1554480"/>
            <a:ext cx="38100" cy="2377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DC65EF-58CB-4A92-16E4-3F5518924F62}"/>
              </a:ext>
            </a:extLst>
          </p:cNvPr>
          <p:cNvSpPr txBox="1"/>
          <p:nvPr/>
        </p:nvSpPr>
        <p:spPr>
          <a:xfrm>
            <a:off x="4267200" y="165608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② Backend: 只返回「参考 Shape」— 1/N 信息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94D1B3-583C-C974-3746-2F92B9F27819}"/>
              </a:ext>
            </a:extLst>
          </p:cNvPr>
          <p:cNvSpPr txBox="1"/>
          <p:nvPr/>
        </p:nvSpPr>
        <p:spPr>
          <a:xfrm>
            <a:off x="4192428" y="2125980"/>
            <a:ext cx="3776664" cy="83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上游</a:t>
            </a:r>
            <a:r>
              <a:rPr dirty="0"/>
              <a:t>: </a:t>
            </a:r>
            <a:r>
              <a:rPr dirty="0" err="1"/>
              <a:t>get_kv_cache_shape</a:t>
            </a:r>
            <a:r>
              <a:rPr dirty="0"/>
              <a:t>() → (2,N,B,H,D) </a:t>
            </a:r>
            <a:r>
              <a:rPr dirty="0" err="1"/>
              <a:t>完整可用</a:t>
            </a:r>
            <a:endParaRPr dirty="0"/>
          </a:p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Ascend: </a:t>
            </a:r>
            <a:r>
              <a:rPr dirty="0" err="1"/>
              <a:t>同名方法</a:t>
            </a:r>
            <a:r>
              <a:rPr dirty="0"/>
              <a:t> → (N,B,1,576) </a:t>
            </a:r>
            <a:r>
              <a:rPr dirty="0" err="1"/>
              <a:t>参考值</a:t>
            </a:r>
            <a:endParaRPr dirty="0"/>
          </a:p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Sparse MLA </a:t>
            </a:r>
            <a:r>
              <a:rPr dirty="0" err="1"/>
              <a:t>实际需要</a:t>
            </a:r>
            <a:r>
              <a:rPr dirty="0"/>
              <a:t> 3~4 </a:t>
            </a:r>
            <a:r>
              <a:rPr dirty="0" err="1"/>
              <a:t>tensor，Backend</a:t>
            </a:r>
            <a:r>
              <a:rPr dirty="0"/>
              <a:t> </a:t>
            </a:r>
            <a:r>
              <a:rPr dirty="0" err="1"/>
              <a:t>只返回</a:t>
            </a:r>
            <a:r>
              <a:rPr dirty="0"/>
              <a:t> 1 个 shape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→ </a:t>
            </a:r>
            <a:r>
              <a:rPr dirty="0" err="1"/>
              <a:t>剩余</a:t>
            </a:r>
            <a:r>
              <a:rPr dirty="0"/>
              <a:t> N-1 个 tensor 的 shape </a:t>
            </a:r>
            <a:r>
              <a:rPr dirty="0" err="1"/>
              <a:t>需要</a:t>
            </a:r>
            <a:r>
              <a:rPr dirty="0"/>
              <a:t> </a:t>
            </a:r>
            <a:r>
              <a:rPr dirty="0" err="1"/>
              <a:t>model_runner</a:t>
            </a:r>
            <a:r>
              <a:rPr dirty="0"/>
              <a:t> </a:t>
            </a:r>
            <a:r>
              <a:rPr dirty="0" err="1"/>
              <a:t>自己推断</a:t>
            </a:r>
            <a:endParaRPr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3D1A08A-0E92-1E4E-3CCD-9624691D1522}"/>
              </a:ext>
            </a:extLst>
          </p:cNvPr>
          <p:cNvSpPr/>
          <p:nvPr/>
        </p:nvSpPr>
        <p:spPr>
          <a:xfrm>
            <a:off x="7955280" y="1554480"/>
            <a:ext cx="3749039" cy="23774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1839C3-3F88-CF64-8766-811B3897DEB6}"/>
              </a:ext>
            </a:extLst>
          </p:cNvPr>
          <p:cNvSpPr/>
          <p:nvPr/>
        </p:nvSpPr>
        <p:spPr>
          <a:xfrm>
            <a:off x="7955280" y="1554480"/>
            <a:ext cx="38100" cy="23774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FEADC8-7BC7-EEB6-CA74-0ACB558FC74C}"/>
              </a:ext>
            </a:extLst>
          </p:cNvPr>
          <p:cNvSpPr txBox="1"/>
          <p:nvPr/>
        </p:nvSpPr>
        <p:spPr>
          <a:xfrm>
            <a:off x="8107680" y="165608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③④⑤ Allocate+Reshape: 模型类型判断泄漏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42855B-DBFC-7041-DF67-AAEF41F5C26E}"/>
              </a:ext>
            </a:extLst>
          </p:cNvPr>
          <p:cNvSpPr txBox="1"/>
          <p:nvPr/>
        </p:nvSpPr>
        <p:spPr>
          <a:xfrm>
            <a:off x="8107680" y="1935480"/>
            <a:ext cx="3444239" cy="1224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model_runner</a:t>
            </a:r>
            <a:r>
              <a:rPr dirty="0"/>
              <a:t> </a:t>
            </a:r>
            <a:r>
              <a:rPr dirty="0" err="1"/>
              <a:t>被迫检查</a:t>
            </a:r>
            <a:r>
              <a:rPr dirty="0"/>
              <a:t>: </a:t>
            </a:r>
            <a:r>
              <a:rPr dirty="0" err="1"/>
              <a:t>use_sparse</a:t>
            </a:r>
            <a:r>
              <a:rPr dirty="0"/>
              <a:t>? </a:t>
            </a:r>
            <a:r>
              <a:rPr dirty="0" err="1"/>
              <a:t>use_compress</a:t>
            </a:r>
            <a:r>
              <a:rPr dirty="0"/>
              <a:t>? </a:t>
            </a:r>
            <a:r>
              <a:rPr dirty="0" err="1"/>
              <a:t>use_mla</a:t>
            </a:r>
            <a:r>
              <a:rPr dirty="0"/>
              <a:t>?</a:t>
            </a:r>
          </a:p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use_hybrid_blocks</a:t>
            </a:r>
            <a:r>
              <a:rPr dirty="0"/>
              <a:t>? C8? A5? A3? </a:t>
            </a:r>
            <a:r>
              <a:rPr dirty="0" err="1"/>
              <a:t>cache_only</a:t>
            </a:r>
            <a:r>
              <a:rPr dirty="0"/>
              <a:t>?</a:t>
            </a:r>
          </a:p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Allocate: ~185 行, </a:t>
            </a:r>
            <a:r>
              <a:rPr dirty="0" err="1"/>
              <a:t>判断需要拆几个</a:t>
            </a:r>
            <a:r>
              <a:rPr dirty="0"/>
              <a:t> tensor + </a:t>
            </a:r>
            <a:r>
              <a:rPr dirty="0" err="1"/>
              <a:t>各自多大</a:t>
            </a:r>
            <a:endParaRPr dirty="0"/>
          </a:p>
          <a:p>
            <a:pPr marL="171450" indent="-17145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Reshape: ~350 行, </a:t>
            </a:r>
            <a:r>
              <a:rPr dirty="0" err="1"/>
              <a:t>判断每个</a:t>
            </a:r>
            <a:r>
              <a:rPr dirty="0"/>
              <a:t> tensor 的 </a:t>
            </a:r>
            <a:r>
              <a:rPr dirty="0" err="1"/>
              <a:t>dtype</a:t>
            </a:r>
            <a:r>
              <a:rPr dirty="0"/>
              <a:t> + shape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→ 15+ if-else, </a:t>
            </a:r>
            <a:r>
              <a:rPr dirty="0" err="1"/>
              <a:t>每个新模型加</a:t>
            </a:r>
            <a:r>
              <a:rPr dirty="0"/>
              <a:t> 3~5 </a:t>
            </a:r>
            <a:r>
              <a:rPr dirty="0" err="1"/>
              <a:t>处分支</a:t>
            </a:r>
            <a:endParaRPr dirty="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584B4A9-5433-FE4B-41D9-ADF7D4CB8C10}"/>
              </a:ext>
            </a:extLst>
          </p:cNvPr>
          <p:cNvSpPr/>
          <p:nvPr/>
        </p:nvSpPr>
        <p:spPr>
          <a:xfrm>
            <a:off x="274320" y="4114800"/>
            <a:ext cx="11338560" cy="609600"/>
          </a:xfrm>
          <a:prstGeom prst="roundRect">
            <a:avLst>
              <a:gd name="adj" fmla="val 4000"/>
            </a:avLst>
          </a:prstGeom>
          <a:solidFill>
            <a:srgbClr val="FAEBEE"/>
          </a:solidFill>
          <a:ln w="1270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5381F0-5608-3935-40E7-385A7D4A6A88}"/>
              </a:ext>
            </a:extLst>
          </p:cNvPr>
          <p:cNvSpPr/>
          <p:nvPr/>
        </p:nvSpPr>
        <p:spPr>
          <a:xfrm>
            <a:off x="274320" y="4114800"/>
            <a:ext cx="50800" cy="609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70C5F7-8990-CDB0-00EB-2165FF979BC8}"/>
              </a:ext>
            </a:extLst>
          </p:cNvPr>
          <p:cNvSpPr txBox="1"/>
          <p:nvPr/>
        </p:nvSpPr>
        <p:spPr>
          <a:xfrm>
            <a:off x="452120" y="4191000"/>
            <a:ext cx="109829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8102E"/>
                </a:solidFill>
                <a:latin typeface="Microsoft YaHei"/>
              </a:defRPr>
            </a:pPr>
            <a:r>
              <a:t>&gt; 一句话总结核心差距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5CEFDA-5F19-4835-FD86-FDDA312DCB4B}"/>
              </a:ext>
            </a:extLst>
          </p:cNvPr>
          <p:cNvSpPr txBox="1"/>
          <p:nvPr/>
        </p:nvSpPr>
        <p:spPr>
          <a:xfrm>
            <a:off x="452120" y="4394200"/>
            <a:ext cx="109829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上游</a:t>
            </a:r>
            <a:r>
              <a:rPr dirty="0"/>
              <a:t> Backend 的 </a:t>
            </a:r>
            <a:r>
              <a:rPr dirty="0" err="1"/>
              <a:t>get_kv_cache_shape</a:t>
            </a:r>
            <a:r>
              <a:rPr dirty="0"/>
              <a:t>() </a:t>
            </a:r>
            <a:r>
              <a:rPr dirty="0" err="1"/>
              <a:t>一个方法回答了全部存储问题；Ascend</a:t>
            </a:r>
            <a:r>
              <a:rPr dirty="0"/>
              <a:t> Backend </a:t>
            </a:r>
            <a:r>
              <a:rPr dirty="0" err="1"/>
              <a:t>的同名方法只回答了</a:t>
            </a:r>
            <a:r>
              <a:rPr dirty="0"/>
              <a:t> 1/N </a:t>
            </a:r>
            <a:r>
              <a:rPr dirty="0" err="1"/>
              <a:t>的信息</a:t>
            </a:r>
            <a:r>
              <a:rPr dirty="0"/>
              <a:t> (</a:t>
            </a:r>
            <a:r>
              <a:rPr dirty="0" err="1"/>
              <a:t>一个</a:t>
            </a:r>
            <a:r>
              <a:rPr dirty="0"/>
              <a:t> tensor 的 shape)，</a:t>
            </a:r>
            <a:r>
              <a:rPr dirty="0" err="1"/>
              <a:t>剩下</a:t>
            </a:r>
            <a:r>
              <a:rPr dirty="0"/>
              <a:t> N-1/N </a:t>
            </a:r>
            <a:r>
              <a:rPr dirty="0" err="1"/>
              <a:t>泄漏到了</a:t>
            </a:r>
            <a:r>
              <a:rPr dirty="0"/>
              <a:t> </a:t>
            </a:r>
            <a:r>
              <a:rPr dirty="0" err="1"/>
              <a:t>model_runner</a:t>
            </a:r>
            <a:r>
              <a:rPr dirty="0"/>
              <a:t> 的 15+ 个 if-else </a:t>
            </a:r>
            <a:r>
              <a:rPr dirty="0" err="1"/>
              <a:t>分支里</a:t>
            </a:r>
            <a:r>
              <a:rPr dirty="0"/>
              <a:t>。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C542E5C-5255-979A-77ED-CE2DFC0CFD4F}"/>
              </a:ext>
            </a:extLst>
          </p:cNvPr>
          <p:cNvSpPr/>
          <p:nvPr/>
        </p:nvSpPr>
        <p:spPr>
          <a:xfrm>
            <a:off x="274320" y="4846320"/>
            <a:ext cx="5486400" cy="12801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E8CBD7-4F23-9DF2-2D04-9F4605EBC0C5}"/>
              </a:ext>
            </a:extLst>
          </p:cNvPr>
          <p:cNvSpPr/>
          <p:nvPr/>
        </p:nvSpPr>
        <p:spPr>
          <a:xfrm>
            <a:off x="274320" y="4846320"/>
            <a:ext cx="38100" cy="1280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8ADDE3-3A70-792F-F31A-36C7FC8122E1}"/>
              </a:ext>
            </a:extLst>
          </p:cNvPr>
          <p:cNvSpPr txBox="1"/>
          <p:nvPr/>
        </p:nvSpPr>
        <p:spPr>
          <a:xfrm>
            <a:off x="426720" y="4947920"/>
            <a:ext cx="5181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根因 1: NPU 算子不支持 stride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35E788-B8AD-74DB-A704-5ABEB8B961C4}"/>
              </a:ext>
            </a:extLst>
          </p:cNvPr>
          <p:cNvSpPr txBox="1"/>
          <p:nvPr/>
        </p:nvSpPr>
        <p:spPr>
          <a:xfrm>
            <a:off x="426720" y="5227320"/>
            <a:ext cx="5181600" cy="79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CUDA kernel: SIMT LSU 可处理任意 stride 访问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单 tensor (2,N,B,H,D)，kernel 内部 offset 切 K/V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 NPU: DMA Engine 只接受 {base_addr, length}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host 侧必须预拆分为独立连续 tensor → 分配+重塑复杂化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4B02629-9172-05E2-1F39-BC080F5D13AD}"/>
              </a:ext>
            </a:extLst>
          </p:cNvPr>
          <p:cNvSpPr/>
          <p:nvPr/>
        </p:nvSpPr>
        <p:spPr>
          <a:xfrm>
            <a:off x="6035040" y="4846320"/>
            <a:ext cx="5577840" cy="12801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716E4F0-0AE4-F9DE-FF0C-5866C442FDF4}"/>
              </a:ext>
            </a:extLst>
          </p:cNvPr>
          <p:cNvSpPr/>
          <p:nvPr/>
        </p:nvSpPr>
        <p:spPr>
          <a:xfrm>
            <a:off x="6035040" y="4846320"/>
            <a:ext cx="38100" cy="1280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3DDC69-1A2A-3C15-3D1E-74B27B2203F7}"/>
              </a:ext>
            </a:extLst>
          </p:cNvPr>
          <p:cNvSpPr txBox="1"/>
          <p:nvPr/>
        </p:nvSpPr>
        <p:spPr>
          <a:xfrm>
            <a:off x="6187440" y="4947920"/>
            <a:ext cx="52730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根因 2: Backend 接口语义不足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388503-47B2-DE3B-2391-D3C266FDD7D7}"/>
              </a:ext>
            </a:extLst>
          </p:cNvPr>
          <p:cNvSpPr txBox="1"/>
          <p:nvPr/>
        </p:nvSpPr>
        <p:spPr>
          <a:xfrm>
            <a:off x="6187440" y="5227320"/>
            <a:ext cx="5273040" cy="79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上游: tuple[int,...] 返回值 → 恰好够用 (1 tensor)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Ascend: 需要表达 2~4 个 tensor 的布局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单返回值语义空间不够 → 只能返回「参考 shape」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拆分信息 (split ratio, dtype, count) 泄漏到外部</a:t>
            </a:r>
          </a:p>
        </p:txBody>
      </p:sp>
    </p:spTree>
    <p:extLst>
      <p:ext uri="{BB962C8B-B14F-4D97-AF65-F5344CB8AC3E}">
        <p14:creationId xmlns:p14="http://schemas.microsoft.com/office/powerpoint/2010/main" val="1326616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57D60E-02B7-0D81-9E74-6E634C1327F0}"/>
              </a:ext>
            </a:extLst>
          </p:cNvPr>
          <p:cNvSpPr txBox="1"/>
          <p:nvPr/>
        </p:nvSpPr>
        <p:spPr>
          <a:xfrm>
            <a:off x="548640" y="182880"/>
            <a:ext cx="10972800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58B230"/>
                </a:solidFill>
                <a:latin typeface="Microsoft YaHei"/>
              </a:defRPr>
            </a:pPr>
            <a:r>
              <a:rPr dirty="0" err="1"/>
              <a:t>社区</a:t>
            </a:r>
            <a:r>
              <a:rPr dirty="0"/>
              <a:t> KV Cache </a:t>
            </a:r>
            <a:r>
              <a:rPr dirty="0" err="1"/>
              <a:t>管理（一</a:t>
            </a:r>
            <a:r>
              <a:rPr dirty="0"/>
              <a:t>）：</a:t>
            </a:r>
            <a:r>
              <a:rPr dirty="0" err="1"/>
              <a:t>分层分组方案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932DA3-88E7-6108-81B2-5B21FC3F7BF2}"/>
              </a:ext>
            </a:extLst>
          </p:cNvPr>
          <p:cNvSpPr txBox="1"/>
          <p:nvPr/>
        </p:nvSpPr>
        <p:spPr>
          <a:xfrm>
            <a:off x="312420" y="604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get_kv_cache_groups</a:t>
            </a:r>
            <a:r>
              <a:rPr dirty="0"/>
              <a:t>() </a:t>
            </a:r>
            <a:r>
              <a:rPr dirty="0" err="1"/>
              <a:t>决策级联</a:t>
            </a:r>
            <a:r>
              <a:rPr dirty="0"/>
              <a:t>——</a:t>
            </a:r>
            <a:r>
              <a:rPr dirty="0" err="1"/>
              <a:t>从简到繁依次尝试，上游用一套算法覆盖所有模型类型（纯GQA</a:t>
            </a:r>
            <a:r>
              <a:rPr dirty="0"/>
              <a:t> / Hybrid / DS V4 / </a:t>
            </a:r>
            <a:r>
              <a:rPr dirty="0" err="1"/>
              <a:t>Mamba混合</a:t>
            </a:r>
            <a:r>
              <a:rPr dirty="0"/>
              <a:t>）。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49DA9D-8464-2F79-0199-D2DCECD4B0F9}"/>
              </a:ext>
            </a:extLst>
          </p:cNvPr>
          <p:cNvSpPr/>
          <p:nvPr/>
        </p:nvSpPr>
        <p:spPr>
          <a:xfrm>
            <a:off x="274320" y="1005840"/>
            <a:ext cx="2743200" cy="19202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F3ECC7-EC24-A921-EBF9-36C06439D8F9}"/>
              </a:ext>
            </a:extLst>
          </p:cNvPr>
          <p:cNvSpPr/>
          <p:nvPr/>
        </p:nvSpPr>
        <p:spPr>
          <a:xfrm>
            <a:off x="274320" y="1005840"/>
            <a:ext cx="38100" cy="192024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EB3BCD-FD45-267E-3E1F-4554E6B5FDD0}"/>
              </a:ext>
            </a:extLst>
          </p:cNvPr>
          <p:cNvSpPr txBox="1"/>
          <p:nvPr/>
        </p:nvSpPr>
        <p:spPr>
          <a:xfrm>
            <a:off x="426720" y="1107440"/>
            <a:ext cx="2438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情况1: Uniform Spec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0078E8-A098-2DF6-34A0-AD4638187F68}"/>
              </a:ext>
            </a:extLst>
          </p:cNvPr>
          <p:cNvSpPr txBox="1"/>
          <p:nvPr/>
        </p:nvSpPr>
        <p:spPr>
          <a:xfrm>
            <a:off x="426720" y="1386840"/>
            <a:ext cx="2438400" cy="143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所有层</a:t>
            </a:r>
            <a:r>
              <a:rPr dirty="0"/>
              <a:t> </a:t>
            </a:r>
            <a:r>
              <a:rPr dirty="0" err="1"/>
              <a:t>KVCacheSpec</a:t>
            </a:r>
            <a:r>
              <a:rPr dirty="0"/>
              <a:t> </a:t>
            </a:r>
            <a:r>
              <a:rPr dirty="0" err="1"/>
              <a:t>完全相同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→ 1 个 </a:t>
            </a:r>
            <a:r>
              <a:rPr dirty="0" err="1"/>
              <a:t>group，包含所有层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适用</a:t>
            </a:r>
            <a:r>
              <a:rPr dirty="0"/>
              <a:t>: Llama, Qwen3 </a:t>
            </a:r>
            <a:r>
              <a:rPr dirty="0" err="1"/>
              <a:t>MoE</a:t>
            </a:r>
            <a:r>
              <a:rPr dirty="0"/>
              <a:t> (纯 GQA)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page_size</a:t>
            </a:r>
            <a:r>
              <a:rPr dirty="0"/>
              <a:t> = </a:t>
            </a:r>
            <a:r>
              <a:rPr dirty="0" err="1"/>
              <a:t>num_layers</a:t>
            </a:r>
            <a:r>
              <a:rPr dirty="0"/>
              <a:t> ×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block_size</a:t>
            </a:r>
            <a:r>
              <a:rPr dirty="0"/>
              <a:t> × </a:t>
            </a:r>
            <a:r>
              <a:rPr dirty="0" err="1"/>
              <a:t>kv_hidden_size</a:t>
            </a: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8C23675-4783-0029-61BB-B6D32D844CAD}"/>
              </a:ext>
            </a:extLst>
          </p:cNvPr>
          <p:cNvSpPr/>
          <p:nvPr/>
        </p:nvSpPr>
        <p:spPr>
          <a:xfrm>
            <a:off x="3200400" y="1005840"/>
            <a:ext cx="2743200" cy="19202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53C612-E1E5-A61A-2B7F-B68563300B21}"/>
              </a:ext>
            </a:extLst>
          </p:cNvPr>
          <p:cNvSpPr/>
          <p:nvPr/>
        </p:nvSpPr>
        <p:spPr>
          <a:xfrm>
            <a:off x="3200400" y="1005840"/>
            <a:ext cx="38100" cy="192024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169A2-6218-0164-FD92-F451860E60DB}"/>
              </a:ext>
            </a:extLst>
          </p:cNvPr>
          <p:cNvSpPr txBox="1"/>
          <p:nvPr/>
        </p:nvSpPr>
        <p:spPr>
          <a:xfrm>
            <a:off x="3352800" y="1107440"/>
            <a:ext cx="2438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0B"/>
                </a:solidFill>
                <a:latin typeface="Microsoft YaHei"/>
              </a:defRPr>
            </a:pPr>
            <a:r>
              <a:t>情况2: Uniform Type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5E22E6-48C5-B916-7181-10B76900C24D}"/>
              </a:ext>
            </a:extLst>
          </p:cNvPr>
          <p:cNvSpPr txBox="1"/>
          <p:nvPr/>
        </p:nvSpPr>
        <p:spPr>
          <a:xfrm>
            <a:off x="3352800" y="1386840"/>
            <a:ext cx="2438400" cy="143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同 attention 类型，不同 hidden_size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1 个 UniformTypeKVCacheSpecs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适用: 同类型但维度不同的层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page_size = max(page_sizes)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通过 GCD 近似对齐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C0DF40C-62D2-E1BD-1331-8010E40F24FD}"/>
              </a:ext>
            </a:extLst>
          </p:cNvPr>
          <p:cNvSpPr/>
          <p:nvPr/>
        </p:nvSpPr>
        <p:spPr>
          <a:xfrm>
            <a:off x="6126480" y="1005840"/>
            <a:ext cx="2834640" cy="19202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009871-AF56-5362-4F63-8912A96BD6FF}"/>
              </a:ext>
            </a:extLst>
          </p:cNvPr>
          <p:cNvSpPr/>
          <p:nvPr/>
        </p:nvSpPr>
        <p:spPr>
          <a:xfrm>
            <a:off x="6126480" y="1005840"/>
            <a:ext cx="38100" cy="1920240"/>
          </a:xfrm>
          <a:prstGeom prst="rect">
            <a:avLst/>
          </a:prstGeom>
          <a:solidFill>
            <a:srgbClr val="C60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0222C8-A269-612E-DFD3-2C2F08B48BC2}"/>
              </a:ext>
            </a:extLst>
          </p:cNvPr>
          <p:cNvSpPr txBox="1"/>
          <p:nvPr/>
        </p:nvSpPr>
        <p:spPr>
          <a:xfrm>
            <a:off x="6278880" y="1107440"/>
            <a:ext cx="25298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54"/>
                </a:solidFill>
                <a:latin typeface="Microsoft YaHei"/>
              </a:defRPr>
            </a:pPr>
            <a:r>
              <a:t>情况3: DeepSeek V4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A8BF8A-C829-A49D-F9F6-A3622CFD49A3}"/>
              </a:ext>
            </a:extLst>
          </p:cNvPr>
          <p:cNvSpPr txBox="1"/>
          <p:nvPr/>
        </p:nvSpPr>
        <p:spPr>
          <a:xfrm>
            <a:off x="6278880" y="1386840"/>
            <a:ext cx="2529840" cy="143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SWA + MLA 三层结构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group_and_unify + uniform groups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按 page_size 分桶 + layer_tuple 对齐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每 (tuple_idx, bucket) → KVCacheTensor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num_blocks = mem / (tuple_bytes × tuples)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2E7DAF7-7B1F-AC5F-8DF2-29BB5E0A601A}"/>
              </a:ext>
            </a:extLst>
          </p:cNvPr>
          <p:cNvSpPr/>
          <p:nvPr/>
        </p:nvSpPr>
        <p:spPr>
          <a:xfrm>
            <a:off x="9144000" y="1005840"/>
            <a:ext cx="2743200" cy="19202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2CFE29-1046-30C5-2299-AC9CAC90B283}"/>
              </a:ext>
            </a:extLst>
          </p:cNvPr>
          <p:cNvSpPr/>
          <p:nvPr/>
        </p:nvSpPr>
        <p:spPr>
          <a:xfrm>
            <a:off x="9144000" y="1005840"/>
            <a:ext cx="38100" cy="1920240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CFEA9A-5DB8-9AEC-55B7-7EEB548D855F}"/>
              </a:ext>
            </a:extLst>
          </p:cNvPr>
          <p:cNvSpPr txBox="1"/>
          <p:nvPr/>
        </p:nvSpPr>
        <p:spPr>
          <a:xfrm>
            <a:off x="9296400" y="1107440"/>
            <a:ext cx="2438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ED6C00"/>
                </a:solidFill>
                <a:latin typeface="Microsoft YaHei"/>
              </a:defRPr>
            </a:pPr>
            <a:r>
              <a:t>情况4: 通用 Hybrid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04AEF6-DA9C-2E8E-C7DA-88DBFC01092E}"/>
              </a:ext>
            </a:extLst>
          </p:cNvPr>
          <p:cNvSpPr txBox="1"/>
          <p:nvPr/>
        </p:nvSpPr>
        <p:spPr>
          <a:xfrm>
            <a:off x="9296400" y="1386840"/>
            <a:ext cx="2438400" cy="143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多 attention 类型混合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min_num_layers 分组 + padding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例: Gemma3 52sw+10full → 7 groups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例: Llama4 3local+1full → 4 groups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例: Qwen3.5 attn+mamba → 4 groups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B4CD521-E7E3-B5FB-3555-1CD1B848A199}"/>
              </a:ext>
            </a:extLst>
          </p:cNvPr>
          <p:cNvSpPr/>
          <p:nvPr/>
        </p:nvSpPr>
        <p:spPr>
          <a:xfrm>
            <a:off x="274320" y="3154680"/>
            <a:ext cx="5669280" cy="167640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>
                <a:solidFill>
                  <a:schemeClr val="bg2">
                    <a:lumMod val="25000"/>
                  </a:schemeClr>
                </a:solidFill>
              </a:rPr>
              <a:t>#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通用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 Hybrid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分组算法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 (kv_cache_utils.py:1057-1176)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>
                <a:solidFill>
                  <a:schemeClr val="bg2">
                    <a:lumMod val="25000"/>
                  </a:schemeClr>
                </a:solidFill>
              </a:rPr>
              <a:t># Step 1: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相同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 spec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类型聚拢</a:t>
            </a:r>
            <a:endParaRPr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same_type_layers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defaultdict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(list)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>
                <a:solidFill>
                  <a:schemeClr val="bg2">
                    <a:lumMod val="25000"/>
                  </a:schemeClr>
                </a:solidFill>
              </a:rPr>
              <a:t>for name, spec in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kv_cache_spec.items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():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>
                <a:solidFill>
                  <a:schemeClr val="bg2">
                    <a:lumMod val="25000"/>
                  </a:schemeClr>
                </a:solidFill>
              </a:rPr>
              <a:t>   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same_type_layers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[spec].append(name)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>
                <a:solidFill>
                  <a:schemeClr val="bg2">
                    <a:lumMod val="25000"/>
                  </a:schemeClr>
                </a:solidFill>
              </a:rPr>
              <a:t># Step 2: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确定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group_size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 = min(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每类层数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group_size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 = min(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len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(layers) for layers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>
                <a:solidFill>
                  <a:schemeClr val="bg2">
                    <a:lumMod val="25000"/>
                  </a:schemeClr>
                </a:solidFill>
              </a:rPr>
              <a:t>                  in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same_type_layers.values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())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>
                <a:solidFill>
                  <a:schemeClr val="bg2">
                    <a:lumMod val="25000"/>
                  </a:schemeClr>
                </a:solidFill>
              </a:rPr>
              <a:t># Step 3: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每类层按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 layers[i::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num_groups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]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交错分配</a:t>
            </a:r>
            <a:endParaRPr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>
                <a:solidFill>
                  <a:schemeClr val="bg2">
                    <a:lumMod val="25000"/>
                  </a:schemeClr>
                </a:solidFill>
              </a:rPr>
              <a:t>#   (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兼容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 PP 跨 stage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对齐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避免空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 group)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>
                <a:solidFill>
                  <a:schemeClr val="bg2">
                    <a:lumMod val="25000"/>
                  </a:schemeClr>
                </a:solidFill>
              </a:rPr>
              <a:t># Step 4: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不足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group_size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的用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 padding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补齐</a:t>
            </a:r>
            <a:endParaRPr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>
                <a:solidFill>
                  <a:schemeClr val="bg2">
                    <a:lumMod val="25000"/>
                  </a:schemeClr>
                </a:solidFill>
              </a:rPr>
              <a:t>#   →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创建</a:t>
            </a:r>
            <a:r>
              <a:rPr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dirty="0" err="1">
                <a:solidFill>
                  <a:schemeClr val="bg2">
                    <a:lumMod val="25000"/>
                  </a:schemeClr>
                </a:solidFill>
              </a:rPr>
              <a:t>KVCacheGroupSpec</a:t>
            </a:r>
            <a:endParaRPr dirty="0">
              <a:solidFill>
                <a:schemeClr val="bg2">
                  <a:lumMod val="25000"/>
                </a:schemeClr>
              </a:solidFill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04FEF60-9A83-AC06-6723-E63E6335AE5D}"/>
              </a:ext>
            </a:extLst>
          </p:cNvPr>
          <p:cNvGraphicFramePr>
            <a:graphicFrameLocks noGrp="1"/>
          </p:cNvGraphicFramePr>
          <p:nvPr/>
        </p:nvGraphicFramePr>
        <p:xfrm>
          <a:off x="6217920" y="315468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设计约束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同 group 内相同 attention 类型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保证 block 分配数量一致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跨 group 相同 page_size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内存池只有一个 page size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每类 group 层数相等 (或加 padding)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保证 block table 可重复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每 token 每层物理内存相同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当前强假设, Mamba 例外需 padding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rPr dirty="0"/>
                        <a:t>KV Sharing </a:t>
                      </a:r>
                      <a:r>
                        <a:rPr dirty="0" err="1"/>
                        <a:t>层不参与分配</a:t>
                      </a:r>
                      <a:endParaRPr dirty="0"/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rPr dirty="0" err="1"/>
                        <a:t>直接复用目标层</a:t>
                      </a:r>
                      <a:r>
                        <a:rPr dirty="0"/>
                        <a:t> KV cache (gemma-3n)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09D7BDC-27F0-85EE-DCC8-99DEFFCB5DB6}"/>
              </a:ext>
            </a:extLst>
          </p:cNvPr>
          <p:cNvSpPr/>
          <p:nvPr/>
        </p:nvSpPr>
        <p:spPr>
          <a:xfrm>
            <a:off x="274320" y="5029200"/>
            <a:ext cx="11612880" cy="609600"/>
          </a:xfrm>
          <a:prstGeom prst="roundRect">
            <a:avLst>
              <a:gd name="adj" fmla="val 4000"/>
            </a:avLst>
          </a:prstGeom>
          <a:solidFill>
            <a:srgbClr val="F1F8EE"/>
          </a:solidFill>
          <a:ln w="12700">
            <a:solidFill>
              <a:srgbClr val="94E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C99A66-A147-F2C5-9DD0-6A30D341FE05}"/>
              </a:ext>
            </a:extLst>
          </p:cNvPr>
          <p:cNvSpPr/>
          <p:nvPr/>
        </p:nvSpPr>
        <p:spPr>
          <a:xfrm>
            <a:off x="274320" y="5029200"/>
            <a:ext cx="50800" cy="60960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B7602D-A525-D09D-F32B-05FA0A2BB88E}"/>
              </a:ext>
            </a:extLst>
          </p:cNvPr>
          <p:cNvSpPr txBox="1"/>
          <p:nvPr/>
        </p:nvSpPr>
        <p:spPr>
          <a:xfrm>
            <a:off x="452120" y="5105400"/>
            <a:ext cx="112572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58B230"/>
                </a:solidFill>
                <a:latin typeface="Microsoft YaHei"/>
              </a:defRPr>
            </a:pPr>
            <a:r>
              <a:t>&gt; 分组层的核心设计思想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E73C8A-8C7B-A296-65C3-8A0FE6D77C94}"/>
              </a:ext>
            </a:extLst>
          </p:cNvPr>
          <p:cNvSpPr txBox="1"/>
          <p:nvPr/>
        </p:nvSpPr>
        <p:spPr>
          <a:xfrm>
            <a:off x="452120" y="5308600"/>
            <a:ext cx="112572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将不同 attention 类型的层按「最小公倍数」分组，确保每个 group 有相同数量的层、所有 group 有相同的 page_size。这样上层 BlockPool 可以用统一的 block 大小管理所有 KV cache，避免内存碎片。Mamba 模型通过增大 attention 的 block_size 来对齐两种不同 state_size。</a:t>
            </a:r>
          </a:p>
        </p:txBody>
      </p:sp>
    </p:spTree>
    <p:extLst>
      <p:ext uri="{BB962C8B-B14F-4D97-AF65-F5344CB8AC3E}">
        <p14:creationId xmlns:p14="http://schemas.microsoft.com/office/powerpoint/2010/main" val="2747827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FB5A10-4551-DE4D-99E2-C10714B9081D}"/>
              </a:ext>
            </a:extLst>
          </p:cNvPr>
          <p:cNvSpPr txBox="1"/>
          <p:nvPr/>
        </p:nvSpPr>
        <p:spPr>
          <a:xfrm>
            <a:off x="91440" y="4190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58B230"/>
                </a:solidFill>
                <a:latin typeface="Microsoft YaHei"/>
              </a:defRPr>
            </a:pPr>
            <a:r>
              <a:rPr dirty="0" err="1"/>
              <a:t>社区</a:t>
            </a:r>
            <a:r>
              <a:rPr dirty="0"/>
              <a:t> KV Cache </a:t>
            </a:r>
            <a:r>
              <a:rPr dirty="0" err="1"/>
              <a:t>管理（二</a:t>
            </a:r>
            <a:r>
              <a:rPr dirty="0"/>
              <a:t>）：</a:t>
            </a:r>
            <a:r>
              <a:rPr dirty="0" err="1"/>
              <a:t>空间分配与大小计算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C63742-6FBA-CB81-2626-80EC2802137F}"/>
              </a:ext>
            </a:extLst>
          </p:cNvPr>
          <p:cNvSpPr txBox="1"/>
          <p:nvPr/>
        </p:nvSpPr>
        <p:spPr>
          <a:xfrm>
            <a:off x="121158" y="4292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一切从</a:t>
            </a:r>
            <a:r>
              <a:rPr dirty="0"/>
              <a:t> </a:t>
            </a:r>
            <a:r>
              <a:rPr dirty="0" err="1"/>
              <a:t>page_size_bytes</a:t>
            </a:r>
            <a:r>
              <a:rPr dirty="0"/>
              <a:t> </a:t>
            </a:r>
            <a:r>
              <a:rPr dirty="0" err="1"/>
              <a:t>开始</a:t>
            </a:r>
            <a:r>
              <a:rPr dirty="0"/>
              <a:t>——</a:t>
            </a:r>
            <a:r>
              <a:rPr dirty="0" err="1"/>
              <a:t>一个</a:t>
            </a:r>
            <a:r>
              <a:rPr dirty="0"/>
              <a:t> block </a:t>
            </a:r>
            <a:r>
              <a:rPr dirty="0" err="1"/>
              <a:t>占多少字节。不同</a:t>
            </a:r>
            <a:r>
              <a:rPr dirty="0"/>
              <a:t> Spec </a:t>
            </a:r>
            <a:r>
              <a:rPr dirty="0" err="1"/>
              <a:t>子类独立实现，无</a:t>
            </a:r>
            <a:r>
              <a:rPr dirty="0"/>
              <a:t> if-else </a:t>
            </a:r>
            <a:r>
              <a:rPr dirty="0" err="1"/>
              <a:t>分支</a:t>
            </a:r>
            <a:r>
              <a:rPr dirty="0"/>
              <a:t>。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D66AD83-2BCA-F6D8-4DCB-2998D95B5F5A}"/>
              </a:ext>
            </a:extLst>
          </p:cNvPr>
          <p:cNvSpPr/>
          <p:nvPr/>
        </p:nvSpPr>
        <p:spPr>
          <a:xfrm>
            <a:off x="159258" y="644144"/>
            <a:ext cx="5486400" cy="30734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page_size_bytes 计算层级树 (每个子类独立 override)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endParaRPr/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AttentionSpec.page_size_bytes (顶层包装)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= real_page_size_bytes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+ FP8_PER_TOKEN_HEAD: 2×B×H×sizeof(f32)  ← K/V scale 预留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× page_size_padded 对齐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endParaRPr/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├── FullAttentionSpec.real_page_size_bytes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     = B × H × (head_size + head_size_v) × dtype_size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     NVFP4: B × H × (head_size//2 + head_size//16)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├── MLAAttentionSpec.real_page_size_bytes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     fp8_ds_mla+V4: storage_B × 584  (448+128+8)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     fp8_ds_mla+V3.2: B × 656       (512+128+16)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     default: storage_B × H × head_size × dtype_size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     storage_B = B // compress_ratio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└── MambaSpec.page_size_bytes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      = sum(prod(shape) × dtype_size for each state)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78E5F68-C484-0240-DE8F-F3B63AA77613}"/>
              </a:ext>
            </a:extLst>
          </p:cNvPr>
          <p:cNvSpPr/>
          <p:nvPr/>
        </p:nvSpPr>
        <p:spPr>
          <a:xfrm>
            <a:off x="5890260" y="568960"/>
            <a:ext cx="5669280" cy="1881632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3906DE-D7EE-6C8D-8F91-3030B3AFA0A4}"/>
              </a:ext>
            </a:extLst>
          </p:cNvPr>
          <p:cNvSpPr/>
          <p:nvPr/>
        </p:nvSpPr>
        <p:spPr>
          <a:xfrm>
            <a:off x="5890260" y="568960"/>
            <a:ext cx="38100" cy="155448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42BED9-343C-6C4D-853E-EB76EE1FD4E1}"/>
              </a:ext>
            </a:extLst>
          </p:cNvPr>
          <p:cNvSpPr txBox="1"/>
          <p:nvPr/>
        </p:nvSpPr>
        <p:spPr>
          <a:xfrm>
            <a:off x="6012180" y="569468"/>
            <a:ext cx="5364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0B"/>
                </a:solidFill>
                <a:latin typeface="Microsoft YaHei"/>
              </a:defRPr>
            </a:pPr>
            <a:r>
              <a:rPr dirty="0"/>
              <a:t>从 </a:t>
            </a:r>
            <a:r>
              <a:rPr dirty="0" err="1"/>
              <a:t>available_memory</a:t>
            </a:r>
            <a:r>
              <a:rPr dirty="0"/>
              <a:t> 到 </a:t>
            </a:r>
            <a:r>
              <a:rPr dirty="0" err="1"/>
              <a:t>num_blocks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4D34D-23A3-45FA-662E-24A9C8C87941}"/>
              </a:ext>
            </a:extLst>
          </p:cNvPr>
          <p:cNvSpPr txBox="1"/>
          <p:nvPr/>
        </p:nvSpPr>
        <p:spPr>
          <a:xfrm>
            <a:off x="5928360" y="773933"/>
            <a:ext cx="5135880" cy="1609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情况</a:t>
            </a:r>
            <a:r>
              <a:rPr dirty="0"/>
              <a:t> A (Uniform): </a:t>
            </a:r>
            <a:r>
              <a:rPr dirty="0" err="1"/>
              <a:t>num_blocks</a:t>
            </a:r>
            <a:r>
              <a:rPr dirty="0"/>
              <a:t> = available // </a:t>
            </a:r>
            <a:r>
              <a:rPr dirty="0" err="1"/>
              <a:t>page_size_bytes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每层一个</a:t>
            </a:r>
            <a:r>
              <a:rPr dirty="0"/>
              <a:t> </a:t>
            </a:r>
            <a:r>
              <a:rPr dirty="0" err="1"/>
              <a:t>KVCacheTensor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情况</a:t>
            </a:r>
            <a:r>
              <a:rPr dirty="0"/>
              <a:t> B (DS V4): </a:t>
            </a:r>
            <a:r>
              <a:rPr dirty="0" err="1"/>
              <a:t>num_blocks</a:t>
            </a:r>
            <a:r>
              <a:rPr dirty="0"/>
              <a:t> = available // (</a:t>
            </a:r>
            <a:r>
              <a:rPr dirty="0" err="1"/>
              <a:t>tuple_bytes</a:t>
            </a:r>
            <a:r>
              <a:rPr dirty="0"/>
              <a:t> × </a:t>
            </a:r>
            <a:r>
              <a:rPr dirty="0" err="1"/>
              <a:t>num_tuples</a:t>
            </a:r>
            <a:r>
              <a:rPr dirty="0"/>
              <a:t>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每个</a:t>
            </a:r>
            <a:r>
              <a:rPr dirty="0"/>
              <a:t> (</a:t>
            </a:r>
            <a:r>
              <a:rPr dirty="0" err="1"/>
              <a:t>tuple_idx</a:t>
            </a:r>
            <a:r>
              <a:rPr dirty="0"/>
              <a:t>, bucket) </a:t>
            </a:r>
            <a:r>
              <a:rPr dirty="0" err="1"/>
              <a:t>一个</a:t>
            </a:r>
            <a:r>
              <a:rPr dirty="0"/>
              <a:t> </a:t>
            </a:r>
            <a:r>
              <a:rPr dirty="0" err="1"/>
              <a:t>KVCacheTensor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情况</a:t>
            </a:r>
            <a:r>
              <a:rPr dirty="0"/>
              <a:t> C (Hybrid): </a:t>
            </a:r>
            <a:r>
              <a:rPr dirty="0" err="1"/>
              <a:t>num_blocks</a:t>
            </a:r>
            <a:r>
              <a:rPr dirty="0"/>
              <a:t> = available // </a:t>
            </a:r>
            <a:r>
              <a:rPr dirty="0" err="1"/>
              <a:t>page_size</a:t>
            </a:r>
            <a:r>
              <a:rPr dirty="0"/>
              <a:t> // </a:t>
            </a:r>
            <a:r>
              <a:rPr dirty="0" err="1"/>
              <a:t>group_size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多个</a:t>
            </a:r>
            <a:r>
              <a:rPr dirty="0"/>
              <a:t> group </a:t>
            </a:r>
            <a:r>
              <a:rPr dirty="0" err="1"/>
              <a:t>的对应层</a:t>
            </a:r>
            <a:r>
              <a:rPr dirty="0"/>
              <a:t> </a:t>
            </a:r>
            <a:r>
              <a:rPr dirty="0" err="1"/>
              <a:t>shared_by</a:t>
            </a:r>
            <a:r>
              <a:rPr dirty="0"/>
              <a:t> </a:t>
            </a:r>
            <a:r>
              <a:rPr dirty="0" err="1"/>
              <a:t>合并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最终产物</a:t>
            </a:r>
            <a:r>
              <a:rPr dirty="0"/>
              <a:t>: </a:t>
            </a:r>
            <a:r>
              <a:rPr dirty="0" err="1"/>
              <a:t>KVCacheConfig</a:t>
            </a:r>
            <a:r>
              <a:rPr dirty="0"/>
              <a:t> { </a:t>
            </a:r>
            <a:r>
              <a:rPr dirty="0" err="1"/>
              <a:t>num_blocks</a:t>
            </a:r>
            <a:r>
              <a:rPr dirty="0"/>
              <a:t>, </a:t>
            </a:r>
            <a:r>
              <a:rPr dirty="0" err="1"/>
              <a:t>kv_cache_tensors</a:t>
            </a:r>
            <a:r>
              <a:rPr dirty="0"/>
              <a:t>[], groups[] }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Worker 侧: </a:t>
            </a:r>
            <a:r>
              <a:rPr dirty="0" err="1"/>
              <a:t>torch.zeros</a:t>
            </a:r>
            <a:r>
              <a:rPr dirty="0"/>
              <a:t>(</a:t>
            </a:r>
            <a:r>
              <a:rPr dirty="0" err="1"/>
              <a:t>tensor.size</a:t>
            </a:r>
            <a:r>
              <a:rPr dirty="0"/>
              <a:t>, </a:t>
            </a:r>
            <a:r>
              <a:rPr dirty="0" err="1"/>
              <a:t>dtype</a:t>
            </a:r>
            <a:r>
              <a:rPr dirty="0"/>
              <a:t>=int8)  ← 30行, 0分支!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80DB30D-C7CA-43DC-BA18-76C1F77D6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795929"/>
              </p:ext>
            </p:extLst>
          </p:nvPr>
        </p:nvGraphicFramePr>
        <p:xfrm>
          <a:off x="4245863" y="2719058"/>
          <a:ext cx="7603430" cy="1653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06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06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61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 (B=16)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Spec 类型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page_size_bytes 公式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实际值</a:t>
                      </a:r>
                      <a:endParaRPr dirty="0"/>
                    </a:p>
                  </a:txBody>
                  <a:tcPr>
                    <a:solidFill>
                      <a:srgbClr val="188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/>
                        <a:t>1 token bytes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67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Qwen3 MoE bf16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FullAttention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16×8×(128+128)×2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65,536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256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167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DS V3.1 MLA bf16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MLAAttention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16×1×576×2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18,432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1,152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167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DS V3.2 fp8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MLAAttention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16×656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10,496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656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167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DS V4 fp8 C4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MLAAttention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(16//4)×584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2,336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584/C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167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Qwen3.5 attn bf16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FullAttention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16×4×(256+256)×2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65,536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4,096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167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Qwen3.5 mamba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MambaSpec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sum(shapes×dtype)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取决于 state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state_size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0167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NVFP4 GQA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FullAttention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16×8×(64+8)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9,216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rPr dirty="0"/>
                        <a:t>72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52C6194-115F-EFA7-6970-C72304CF6811}"/>
              </a:ext>
            </a:extLst>
          </p:cNvPr>
          <p:cNvSpPr/>
          <p:nvPr/>
        </p:nvSpPr>
        <p:spPr>
          <a:xfrm>
            <a:off x="159258" y="4606544"/>
            <a:ext cx="5486400" cy="118872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1706D3-07EB-13BC-AA61-BE9FD3B7D1E7}"/>
              </a:ext>
            </a:extLst>
          </p:cNvPr>
          <p:cNvSpPr/>
          <p:nvPr/>
        </p:nvSpPr>
        <p:spPr>
          <a:xfrm>
            <a:off x="159258" y="4606544"/>
            <a:ext cx="38100" cy="118872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93F024-B75F-DD07-9B5E-9107971A4620}"/>
              </a:ext>
            </a:extLst>
          </p:cNvPr>
          <p:cNvSpPr txBox="1"/>
          <p:nvPr/>
        </p:nvSpPr>
        <p:spPr>
          <a:xfrm>
            <a:off x="311658" y="4708144"/>
            <a:ext cx="5181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0B"/>
                </a:solidFill>
                <a:latin typeface="Microsoft YaHei"/>
              </a:defRPr>
            </a:pPr>
            <a:r>
              <a:t>per-request 最大内存: max_memory_usage_bytes()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4A953C-D156-0EC1-5C50-BE174DB768C7}"/>
              </a:ext>
            </a:extLst>
          </p:cNvPr>
          <p:cNvSpPr txBox="1"/>
          <p:nvPr/>
        </p:nvSpPr>
        <p:spPr>
          <a:xfrm>
            <a:off x="311658" y="4891364"/>
            <a:ext cx="5410200" cy="83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FullAttn</a:t>
            </a:r>
            <a:r>
              <a:rPr dirty="0"/>
              <a:t>: cdiv(</a:t>
            </a:r>
            <a:r>
              <a:rPr dirty="0" err="1"/>
              <a:t>max_len</a:t>
            </a:r>
            <a:r>
              <a:rPr dirty="0"/>
              <a:t>, B) × </a:t>
            </a:r>
            <a:r>
              <a:rPr dirty="0" err="1"/>
              <a:t>page_size_bytes</a:t>
            </a:r>
            <a:r>
              <a:rPr dirty="0"/>
              <a:t> // (</a:t>
            </a:r>
            <a:r>
              <a:rPr dirty="0" err="1"/>
              <a:t>dcp_world</a:t>
            </a:r>
            <a:r>
              <a:rPr dirty="0"/>
              <a:t> × </a:t>
            </a:r>
            <a:r>
              <a:rPr dirty="0" err="1"/>
              <a:t>pcp_world</a:t>
            </a:r>
            <a:r>
              <a:rPr dirty="0"/>
              <a:t>)  # </a:t>
            </a:r>
            <a:r>
              <a:rPr dirty="0" err="1"/>
              <a:t>上下文并行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SlidingWindow</a:t>
            </a:r>
            <a:r>
              <a:rPr dirty="0"/>
              <a:t>: min(sw-1+tokens, </a:t>
            </a:r>
            <a:r>
              <a:rPr dirty="0" err="1"/>
              <a:t>max_len</a:t>
            </a:r>
            <a:r>
              <a:rPr dirty="0"/>
              <a:t>) token </a:t>
            </a:r>
            <a:r>
              <a:rPr dirty="0" err="1"/>
              <a:t>上限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Mamba: '</a:t>
            </a:r>
            <a:r>
              <a:rPr dirty="0" err="1"/>
              <a:t>all'→cdiv</a:t>
            </a:r>
            <a:r>
              <a:rPr dirty="0"/>
              <a:t>(</a:t>
            </a:r>
            <a:r>
              <a:rPr dirty="0" err="1"/>
              <a:t>max_len,B</a:t>
            </a:r>
            <a:r>
              <a:rPr dirty="0"/>
              <a:t>) / 'align'→2B / 'none'→1B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UniformTypeKVCacheSpecs</a:t>
            </a:r>
            <a:r>
              <a:rPr dirty="0"/>
              <a:t>: max(</a:t>
            </a:r>
            <a:r>
              <a:rPr dirty="0" err="1"/>
              <a:t>内部各</a:t>
            </a:r>
            <a:r>
              <a:rPr dirty="0"/>
              <a:t> spec </a:t>
            </a:r>
            <a:r>
              <a:rPr dirty="0" err="1"/>
              <a:t>的计算值</a:t>
            </a:r>
            <a:r>
              <a:rPr dirty="0"/>
              <a:t>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8161D2D-6C43-82A8-2325-1ED25DC5726F}"/>
              </a:ext>
            </a:extLst>
          </p:cNvPr>
          <p:cNvSpPr/>
          <p:nvPr/>
        </p:nvSpPr>
        <p:spPr>
          <a:xfrm>
            <a:off x="5996178" y="4569460"/>
            <a:ext cx="5669280" cy="118872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37B050-B331-A242-273E-1330290E8463}"/>
              </a:ext>
            </a:extLst>
          </p:cNvPr>
          <p:cNvSpPr/>
          <p:nvPr/>
        </p:nvSpPr>
        <p:spPr>
          <a:xfrm>
            <a:off x="5967222" y="4569460"/>
            <a:ext cx="38100" cy="118872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4F541D-FCC6-C806-A387-3A245877B888}"/>
              </a:ext>
            </a:extLst>
          </p:cNvPr>
          <p:cNvSpPr txBox="1"/>
          <p:nvPr/>
        </p:nvSpPr>
        <p:spPr>
          <a:xfrm>
            <a:off x="6036564" y="4611866"/>
            <a:ext cx="5364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KVCacheTensor.shared_by: 多层共享物理 buffer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8EB480-3C75-02FA-6681-013162503B46}"/>
              </a:ext>
            </a:extLst>
          </p:cNvPr>
          <p:cNvSpPr txBox="1"/>
          <p:nvPr/>
        </p:nvSpPr>
        <p:spPr>
          <a:xfrm>
            <a:off x="6052566" y="4795184"/>
            <a:ext cx="5984939" cy="1032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KVCacheConfig</a:t>
            </a:r>
            <a:r>
              <a:rPr dirty="0"/>
              <a:t> 的 </a:t>
            </a:r>
            <a:r>
              <a:rPr dirty="0" err="1"/>
              <a:t>kv_cache_tensors</a:t>
            </a:r>
            <a:r>
              <a:rPr dirty="0"/>
              <a:t> </a:t>
            </a:r>
            <a:r>
              <a:rPr dirty="0" err="1"/>
              <a:t>列表中的每个元素</a:t>
            </a:r>
            <a:r>
              <a:rPr dirty="0"/>
              <a:t>:  size: </a:t>
            </a:r>
            <a:r>
              <a:rPr dirty="0" err="1"/>
              <a:t>总字节数</a:t>
            </a:r>
            <a:r>
              <a:rPr dirty="0"/>
              <a:t> = </a:t>
            </a:r>
            <a:r>
              <a:rPr dirty="0" err="1"/>
              <a:t>page_size_bytes</a:t>
            </a:r>
            <a:r>
              <a:rPr dirty="0"/>
              <a:t> × </a:t>
            </a:r>
            <a:r>
              <a:rPr dirty="0" err="1"/>
              <a:t>num_blocks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shared_by</a:t>
            </a:r>
            <a:r>
              <a:rPr dirty="0"/>
              <a:t>: [</a:t>
            </a:r>
            <a:r>
              <a:rPr dirty="0" err="1"/>
              <a:t>layer_name</a:t>
            </a:r>
            <a:r>
              <a:rPr dirty="0"/>
              <a:t>, ...] ← </a:t>
            </a:r>
            <a:r>
              <a:rPr dirty="0" err="1"/>
              <a:t>这些层共享此</a:t>
            </a:r>
            <a:r>
              <a:rPr dirty="0"/>
              <a:t> buffer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例如</a:t>
            </a:r>
            <a:r>
              <a:rPr dirty="0"/>
              <a:t> Qwen3.5 (4 groups × 8 层/group):</a:t>
            </a:r>
            <a:r>
              <a:rPr dirty="0" err="1"/>
              <a:t>KVCacheTensor</a:t>
            </a:r>
            <a:r>
              <a:rPr dirty="0"/>
              <a:t> #0 </a:t>
            </a:r>
            <a:r>
              <a:rPr dirty="0" err="1"/>
              <a:t>shared_by</a:t>
            </a:r>
            <a:r>
              <a:rPr dirty="0"/>
              <a:t> = [layer.3.attn, layer.0.lin,layer.8.lin, layer.16.lin]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← 1 个 attn + 3 个 mamba </a:t>
            </a:r>
            <a:r>
              <a:rPr dirty="0" err="1"/>
              <a:t>层共享同一个</a:t>
            </a:r>
            <a:r>
              <a:rPr dirty="0"/>
              <a:t> int8 buffer!</a:t>
            </a:r>
          </a:p>
        </p:txBody>
      </p:sp>
    </p:spTree>
    <p:extLst>
      <p:ext uri="{BB962C8B-B14F-4D97-AF65-F5344CB8AC3E}">
        <p14:creationId xmlns:p14="http://schemas.microsoft.com/office/powerpoint/2010/main" val="93485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BE3B97-0689-9AD7-28A5-78F37AABE036}"/>
              </a:ext>
            </a:extLst>
          </p:cNvPr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58B230"/>
                </a:solidFill>
                <a:latin typeface="Microsoft YaHei"/>
              </a:defRPr>
            </a:pPr>
            <a:r>
              <a:t>社区 KV Cache 管理（三）：内部数据组织与总 Shape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E83FD6-8814-29CA-4499-BC3856E11040}"/>
              </a:ext>
            </a:extLst>
          </p:cNvPr>
          <p:cNvSpPr txBox="1"/>
          <p:nvPr/>
        </p:nvSpPr>
        <p:spPr>
          <a:xfrm>
            <a:off x="548640" y="5943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上游所有模型类型都产生 1 个 tensor/层（或 1 个 buffer + as_strided views）。不同类型数据如何组织，全部由 Backend 内部封装。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F2A4CA-6CEE-2C08-4363-71DE19A93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496540"/>
              </p:ext>
            </p:extLst>
          </p:nvPr>
        </p:nvGraphicFramePr>
        <p:xfrm>
          <a:off x="309564" y="817741"/>
          <a:ext cx="11887200" cy="415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46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模型类型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Tensor数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总 Shape (逻辑)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每 Token</a:t>
                      </a:r>
                      <a:br/>
                      <a:r>
                        <a:t>物理字节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内部不同类型数据如何存储</a:t>
                      </a:r>
                    </a:p>
                  </a:txBody>
                  <a:tcPr>
                    <a:solidFill>
                      <a:srgbClr val="188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562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GQA</a:t>
                      </a:r>
                      <a:br/>
                      <a:r>
                        <a:t>(FlashAttn)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(2, N, B, H, D)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H×(D+Dv)</a:t>
                      </a:r>
                      <a:br/>
                      <a:r>
                        <a:t>×dtype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dim=0: [0]=K所有block, [1]=V所有block</a:t>
                      </a:r>
                      <a:br/>
                      <a:r>
                        <a:t>CUDA kernel 通过 base+offset 区分 K/V 区域</a:t>
                      </a:r>
                      <a:br/>
                      <a:r>
                        <a:t>→ host 侧完全不需要知道内部结构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562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GQA</a:t>
                      </a:r>
                      <a:br/>
                      <a:r>
                        <a:t>(FlashInfer NHD)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 2, B, H, D)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同上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dim=1: K/V 在每个 block 内交织</a:t>
                      </a:r>
                      <a:br/>
                      <a:r>
                        <a:t>stride_order 控制物理排布 (NHD vs HND)</a:t>
                      </a:r>
                      <a:br/>
                      <a:r>
                        <a:t>_reshape_kv_cache() 通过 permute 切换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562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MLA bf16</a:t>
                      </a:r>
                      <a:br/>
                      <a:r>
                        <a:t>(DS V3.x)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 B, head_size)</a:t>
                      </a:r>
                      <a:br/>
                      <a:r>
                        <a:t>head_size=576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head_size</a:t>
                      </a:r>
                      <a:br/>
                      <a:r>
                        <a:t>×2=1152B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同一行内: kv_lora[:512] + k_rope[512:]</a:t>
                      </a:r>
                      <a:br/>
                      <a:r>
                        <a:t>kernel 通过 offset 在最后维切分</a:t>
                      </a:r>
                      <a:br/>
                      <a:r>
                        <a:t>→ host 侧只看到 flat tensor, 不感知内部拆分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131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MLA fp8</a:t>
                      </a:r>
                      <a:br/>
                      <a:r>
                        <a:t>(DS V3.2)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 B, 656)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656 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字节级自定义布局:</a:t>
                      </a:r>
                      <a:br/>
                      <a:r>
                        <a:t>  kv_lora: 512B fp8 | k_rope: 128B fp8</a:t>
                      </a:r>
                      <a:br/>
                      <a:r>
                        <a:t>  metadata/align: 16B</a:t>
                      </a:r>
                      <a:br/>
                      <a:r>
                        <a:t>kernel 按 struct 解析字节 → host 侧透明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562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MLA fp8</a:t>
                      </a:r>
                      <a:br/>
                      <a:r>
                        <a:t>(DS V4)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 B/C, 584)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584B</a:t>
                      </a:r>
                      <a:br/>
                      <a:r>
                        <a:t>/C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压缩布局: NoPE 448B + RoPE 128B</a:t>
                      </a:r>
                      <a:br/>
                      <a:r>
                        <a:t>  + fp8 scale 8B = 584B/token</a:t>
                      </a:r>
                      <a:br/>
                      <a:r>
                        <a:t>storage_block_size = B // compress_ratio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819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Mamba</a:t>
                      </a:r>
                      <a:br/>
                      <a:r>
                        <a:t>(GDN/Jamba)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 buffer</a:t>
                      </a:r>
                      <a:br/>
                      <a:r>
                        <a:t>+N views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rPr dirty="0"/>
                        <a:t>N 个 </a:t>
                      </a:r>
                      <a:r>
                        <a:rPr dirty="0" err="1"/>
                        <a:t>as_strided</a:t>
                      </a:r>
                      <a:br>
                        <a:rPr dirty="0"/>
                      </a:br>
                      <a:r>
                        <a:rPr dirty="0"/>
                        <a:t>view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sum(shapes</a:t>
                      </a:r>
                      <a:br/>
                      <a:r>
                        <a:t>×dtype)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一个 int8 buffer 包含多个 state tensor</a:t>
                      </a:r>
                      <a:br/>
                      <a:r>
                        <a:t>每个 tensor 通过 as_strided 映射:</a:t>
                      </a:r>
                      <a:br/>
                      <a:r>
                        <a:t>  stride[0] = page_size // dtype_size (跨页)</a:t>
                      </a:r>
                      <a:br/>
                      <a:r>
                        <a:t>  storage_offset = 前序 tensor 的末尾字节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562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NVFP4</a:t>
                      </a:r>
                      <a:br/>
                      <a:r>
                        <a:t>GQA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 2, B, H, F)</a:t>
                      </a:r>
                      <a:br/>
                      <a:r>
                        <a:t>F=D/2+D/16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H×F</a:t>
                      </a:r>
                      <a:br/>
                      <a:r>
                        <a:t>(F&lt;D)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fp4 数据 + fp8 block scale 交织在 full_dim</a:t>
                      </a:r>
                      <a:br/>
                      <a:r>
                        <a:t>每 16 个 fp4 元素配 1 个 fp8 scale</a:t>
                      </a:r>
                      <a:br/>
                      <a:r>
                        <a:t>→ 存储量减半但精度可接受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562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FP8 PTH</a:t>
                      </a:r>
                      <a:br/>
                      <a:r>
                        <a:t>(Per-Token-Head)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 buffer</a:t>
                      </a:r>
                      <a:br/>
                      <a:r>
                        <a:t>+2 scale区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rPr dirty="0"/>
                        <a:t>(2, N, B, H, D)</a:t>
                      </a:r>
                      <a:br>
                        <a:rPr dirty="0"/>
                      </a:br>
                      <a:r>
                        <a:rPr dirty="0"/>
                        <a:t>+ 2×(N,B,H)×f32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同GQA</a:t>
                      </a:r>
                      <a:br/>
                      <a:r>
                        <a:t>+scales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rPr dirty="0"/>
                        <a:t>K/V </a:t>
                      </a:r>
                      <a:r>
                        <a:rPr dirty="0" err="1"/>
                        <a:t>数据区</a:t>
                      </a:r>
                      <a:r>
                        <a:rPr dirty="0"/>
                        <a:t> + </a:t>
                      </a:r>
                      <a:r>
                        <a:rPr dirty="0" err="1"/>
                        <a:t>独立</a:t>
                      </a:r>
                      <a:r>
                        <a:rPr dirty="0"/>
                        <a:t> K Scales 区 + V Scales 区</a:t>
                      </a:r>
                      <a:br>
                        <a:rPr dirty="0"/>
                      </a:br>
                      <a:r>
                        <a:rPr dirty="0"/>
                        <a:t>3 </a:t>
                      </a:r>
                      <a:r>
                        <a:rPr dirty="0" err="1"/>
                        <a:t>块连续区域在同一</a:t>
                      </a:r>
                      <a:r>
                        <a:rPr dirty="0"/>
                        <a:t> int8 buffer 内</a:t>
                      </a:r>
                      <a:br>
                        <a:rPr dirty="0"/>
                      </a:br>
                      <a:r>
                        <a:rPr dirty="0"/>
                        <a:t>Scales </a:t>
                      </a:r>
                      <a:r>
                        <a:rPr dirty="0" err="1"/>
                        <a:t>字节已在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page_size_bytes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中预留</a:t>
                      </a:r>
                      <a:endParaRPr dirty="0"/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3C17491-29E8-81B8-C92F-5FA530BED56F}"/>
              </a:ext>
            </a:extLst>
          </p:cNvPr>
          <p:cNvSpPr/>
          <p:nvPr/>
        </p:nvSpPr>
        <p:spPr>
          <a:xfrm>
            <a:off x="274320" y="4970641"/>
            <a:ext cx="3657600" cy="13970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MLA bf16 单 tensor: (N, B, 576)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┌──────────────────────────────┐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│  </a:t>
            </a:r>
            <a:r>
              <a:rPr dirty="0" err="1"/>
              <a:t>kv_lora</a:t>
            </a:r>
            <a:r>
              <a:rPr dirty="0"/>
              <a:t> (512) │ </a:t>
            </a:r>
            <a:r>
              <a:rPr dirty="0" err="1"/>
              <a:t>k_rope</a:t>
            </a:r>
            <a:r>
              <a:rPr dirty="0"/>
              <a:t> (64)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│  </a:t>
            </a:r>
            <a:r>
              <a:rPr dirty="0" err="1"/>
              <a:t>潜在向量</a:t>
            </a:r>
            <a:r>
              <a:rPr dirty="0"/>
              <a:t>       │ </a:t>
            </a:r>
            <a:r>
              <a:rPr dirty="0" err="1"/>
              <a:t>位置编码</a:t>
            </a:r>
            <a:r>
              <a:rPr dirty="0"/>
              <a:t>    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└──────────────────────────────┘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kernel: </a:t>
            </a:r>
            <a:r>
              <a:rPr dirty="0" err="1"/>
              <a:t>k_nope</a:t>
            </a:r>
            <a:r>
              <a:rPr dirty="0"/>
              <a:t>=tensor[...,:512]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k_rope</a:t>
            </a:r>
            <a:r>
              <a:rPr dirty="0"/>
              <a:t>=tensor[...,512:]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→ host 侧 view(bf16).view(N,B,576) = done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E928DF4-EB97-726D-45BB-6A7969CD6F47}"/>
              </a:ext>
            </a:extLst>
          </p:cNvPr>
          <p:cNvSpPr/>
          <p:nvPr/>
        </p:nvSpPr>
        <p:spPr>
          <a:xfrm>
            <a:off x="4114800" y="5110202"/>
            <a:ext cx="3840480" cy="12446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MLA fp8 (DS V3.2): (N, B, 656)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┌────────────────────────────────────┐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│ </a:t>
            </a:r>
            <a:r>
              <a:rPr dirty="0" err="1"/>
              <a:t>kv_lora</a:t>
            </a:r>
            <a:r>
              <a:rPr dirty="0"/>
              <a:t> 512B │ </a:t>
            </a:r>
            <a:r>
              <a:rPr dirty="0" err="1"/>
              <a:t>k_rope</a:t>
            </a:r>
            <a:r>
              <a:rPr dirty="0"/>
              <a:t> 128B │ align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│   (fp8)      │   (fp8×2)   │  16B 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└────────────────────────────────────┘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kernel: read as uint8 blob → parse struct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→ host 侧 view(uint8).view(N,B,656) = done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BB0A25-1917-D309-731C-15E7950A13FE}"/>
              </a:ext>
            </a:extLst>
          </p:cNvPr>
          <p:cNvSpPr/>
          <p:nvPr/>
        </p:nvSpPr>
        <p:spPr>
          <a:xfrm>
            <a:off x="8319708" y="4970641"/>
            <a:ext cx="3749039" cy="13970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Mamba: 1 buffer → N </a:t>
            </a:r>
            <a:r>
              <a:rPr dirty="0" err="1"/>
              <a:t>as_strided</a:t>
            </a:r>
            <a:r>
              <a:rPr dirty="0"/>
              <a:t> views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┌──────────────────────────────────┐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│</a:t>
            </a:r>
            <a:r>
              <a:rPr dirty="0" err="1"/>
              <a:t>conv_state</a:t>
            </a:r>
            <a:r>
              <a:rPr dirty="0"/>
              <a:t>(N,3,8192)│</a:t>
            </a:r>
            <a:r>
              <a:rPr dirty="0" err="1"/>
              <a:t>ssm</a:t>
            </a:r>
            <a:r>
              <a:rPr dirty="0"/>
              <a:t>(N,32,128,128)│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│     float32         │    float32     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└──────────────────────────────────┘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 err="1"/>
              <a:t>每个</a:t>
            </a:r>
            <a:r>
              <a:rPr dirty="0"/>
              <a:t> view: </a:t>
            </a:r>
            <a:r>
              <a:rPr dirty="0" err="1"/>
              <a:t>as_strided</a:t>
            </a:r>
            <a:r>
              <a:rPr dirty="0"/>
              <a:t>(</a:t>
            </a:r>
            <a:r>
              <a:rPr dirty="0" err="1"/>
              <a:t>raw.view</a:t>
            </a:r>
            <a:r>
              <a:rPr dirty="0"/>
              <a:t>(f32),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  size=target, stride=(</a:t>
            </a:r>
            <a:r>
              <a:rPr dirty="0" err="1"/>
              <a:t>page_elems</a:t>
            </a:r>
            <a:r>
              <a:rPr dirty="0"/>
              <a:t>, ...),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storage_offset</a:t>
            </a:r>
            <a:r>
              <a:rPr dirty="0"/>
              <a:t>=</a:t>
            </a:r>
            <a:r>
              <a:rPr dirty="0" err="1"/>
              <a:t>prev_end</a:t>
            </a:r>
            <a:r>
              <a:rPr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64095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F7ABA423-353A-6F39-CA96-7DAABEB46FB3}"/>
              </a:ext>
            </a:extLst>
          </p:cNvPr>
          <p:cNvSpPr txBox="1"/>
          <p:nvPr/>
        </p:nvSpPr>
        <p:spPr>
          <a:xfrm>
            <a:off x="426720" y="493776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6000B"/>
                </a:solidFill>
                <a:latin typeface="Microsoft YaHei"/>
              </a:defRPr>
            </a:pPr>
            <a:r>
              <a:t>社区 vLLM KV Cache 管线 — 三个核心设计原则</a:t>
            </a:r>
          </a:p>
        </p:txBody>
      </p:sp>
      <p:sp>
        <p:nvSpPr>
          <p:cNvPr id="30" name="Rounded Rectangle 10">
            <a:extLst>
              <a:ext uri="{FF2B5EF4-FFF2-40B4-BE49-F238E27FC236}">
                <a16:creationId xmlns:a16="http://schemas.microsoft.com/office/drawing/2014/main" id="{0FBB3AB0-E434-AC3A-B32A-3E46A9C8C96D}"/>
              </a:ext>
            </a:extLst>
          </p:cNvPr>
          <p:cNvSpPr/>
          <p:nvPr/>
        </p:nvSpPr>
        <p:spPr>
          <a:xfrm>
            <a:off x="4084320" y="1682496"/>
            <a:ext cx="3657600" cy="32004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11">
            <a:extLst>
              <a:ext uri="{FF2B5EF4-FFF2-40B4-BE49-F238E27FC236}">
                <a16:creationId xmlns:a16="http://schemas.microsoft.com/office/drawing/2014/main" id="{685805D1-AD76-BFDE-F1B0-BDFD1980DF27}"/>
              </a:ext>
            </a:extLst>
          </p:cNvPr>
          <p:cNvSpPr/>
          <p:nvPr/>
        </p:nvSpPr>
        <p:spPr>
          <a:xfrm>
            <a:off x="4084320" y="1682496"/>
            <a:ext cx="38100" cy="3200400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12">
            <a:extLst>
              <a:ext uri="{FF2B5EF4-FFF2-40B4-BE49-F238E27FC236}">
                <a16:creationId xmlns:a16="http://schemas.microsoft.com/office/drawing/2014/main" id="{0D4B2195-7044-3D69-7416-30EA30B22881}"/>
              </a:ext>
            </a:extLst>
          </p:cNvPr>
          <p:cNvSpPr txBox="1"/>
          <p:nvPr/>
        </p:nvSpPr>
        <p:spPr>
          <a:xfrm>
            <a:off x="4236720" y="1784096"/>
            <a:ext cx="335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D6C00"/>
                </a:solidFill>
                <a:latin typeface="Microsoft YaHei"/>
              </a:defRPr>
            </a:pPr>
            <a:r>
              <a:t>原则 2: 单 Tensor 原则</a:t>
            </a: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48999EEA-C568-1AEC-680A-F1D8AACB6DC5}"/>
              </a:ext>
            </a:extLst>
          </p:cNvPr>
          <p:cNvSpPr txBox="1"/>
          <p:nvPr/>
        </p:nvSpPr>
        <p:spPr>
          <a:xfrm>
            <a:off x="4236720" y="2114296"/>
            <a:ext cx="3352800" cy="266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950">
                <a:solidFill>
                  <a:srgbClr val="595757"/>
                </a:solidFill>
                <a:latin typeface="Microsoft YaHei"/>
              </a:defRPr>
            </a:pPr>
            <a:r>
              <a:t>所有模型类型都产生 1 个 tensor/层</a:t>
            </a:r>
          </a:p>
          <a:p>
            <a:pPr>
              <a:lnSpc>
                <a:spcPts val="1700"/>
              </a:lnSpc>
              <a:defRPr sz="950">
                <a:solidFill>
                  <a:srgbClr val="595757"/>
                </a:solidFill>
                <a:latin typeface="Microsoft YaHei"/>
              </a:defRPr>
            </a:pPr>
            <a:r>
              <a:t>（或 1 个 buffer + as_strided views）</a:t>
            </a:r>
          </a:p>
          <a:p>
            <a:pPr>
              <a:lnSpc>
                <a:spcPts val="1700"/>
              </a:lnSpc>
              <a:defRPr sz="950">
                <a:solidFill>
                  <a:srgbClr val="595757"/>
                </a:solidFill>
                <a:latin typeface="Microsoft YaHei"/>
              </a:defRPr>
            </a:pPr>
            <a:r>
              <a:t>MLA: kv_lora + k_rope 同一 tensor，kernel 内 offset</a:t>
            </a:r>
          </a:p>
          <a:p>
            <a:pPr>
              <a:lnSpc>
                <a:spcPts val="1700"/>
              </a:lnSpc>
              <a:defRPr sz="950">
                <a:solidFill>
                  <a:srgbClr val="595757"/>
                </a:solidFill>
                <a:latin typeface="Microsoft YaHei"/>
              </a:defRPr>
            </a:pPr>
            <a:r>
              <a:t>Mamba: 1 buffer → N 个 as_strided 零拷贝视图</a:t>
            </a:r>
          </a:p>
          <a:p>
            <a:pPr>
              <a:lnSpc>
                <a:spcPts val="1700"/>
              </a:lnSpc>
              <a:defRPr sz="950">
                <a:solidFill>
                  <a:srgbClr val="595757"/>
                </a:solidFill>
                <a:latin typeface="Microsoft YaHei"/>
              </a:defRPr>
            </a:pPr>
            <a:r>
              <a:t>→ Host 侧只管分配，不关心内部数据组织</a:t>
            </a:r>
          </a:p>
        </p:txBody>
      </p:sp>
      <p:sp>
        <p:nvSpPr>
          <p:cNvPr id="34" name="Rounded Rectangle 14">
            <a:extLst>
              <a:ext uri="{FF2B5EF4-FFF2-40B4-BE49-F238E27FC236}">
                <a16:creationId xmlns:a16="http://schemas.microsoft.com/office/drawing/2014/main" id="{71B87FD4-FB0D-8536-D97C-93101BF4D1C1}"/>
              </a:ext>
            </a:extLst>
          </p:cNvPr>
          <p:cNvSpPr/>
          <p:nvPr/>
        </p:nvSpPr>
        <p:spPr>
          <a:xfrm>
            <a:off x="8016240" y="1682496"/>
            <a:ext cx="3657600" cy="32004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15">
            <a:extLst>
              <a:ext uri="{FF2B5EF4-FFF2-40B4-BE49-F238E27FC236}">
                <a16:creationId xmlns:a16="http://schemas.microsoft.com/office/drawing/2014/main" id="{2081FE38-7E01-0405-73E6-D45DF6FE1D7F}"/>
              </a:ext>
            </a:extLst>
          </p:cNvPr>
          <p:cNvSpPr/>
          <p:nvPr/>
        </p:nvSpPr>
        <p:spPr>
          <a:xfrm>
            <a:off x="8016240" y="1682496"/>
            <a:ext cx="38100" cy="3200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16">
            <a:extLst>
              <a:ext uri="{FF2B5EF4-FFF2-40B4-BE49-F238E27FC236}">
                <a16:creationId xmlns:a16="http://schemas.microsoft.com/office/drawing/2014/main" id="{3FA75DB4-2840-B996-49D4-B02AA0DD4138}"/>
              </a:ext>
            </a:extLst>
          </p:cNvPr>
          <p:cNvSpPr txBox="1"/>
          <p:nvPr/>
        </p:nvSpPr>
        <p:spPr>
          <a:xfrm>
            <a:off x="8168640" y="1784096"/>
            <a:ext cx="335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t>原则 3: model_runner 零感知</a:t>
            </a:r>
          </a:p>
        </p:txBody>
      </p:sp>
      <p:sp>
        <p:nvSpPr>
          <p:cNvPr id="37" name="TextBox 17">
            <a:extLst>
              <a:ext uri="{FF2B5EF4-FFF2-40B4-BE49-F238E27FC236}">
                <a16:creationId xmlns:a16="http://schemas.microsoft.com/office/drawing/2014/main" id="{AA30F7B6-87C7-E6AB-FB4E-0B1F6BD81E5E}"/>
              </a:ext>
            </a:extLst>
          </p:cNvPr>
          <p:cNvSpPr txBox="1"/>
          <p:nvPr/>
        </p:nvSpPr>
        <p:spPr>
          <a:xfrm>
            <a:off x="8168640" y="2114296"/>
            <a:ext cx="3352800" cy="266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950">
                <a:solidFill>
                  <a:srgbClr val="595757"/>
                </a:solidFill>
                <a:latin typeface="Microsoft YaHei"/>
              </a:defRPr>
            </a:pPr>
            <a:r>
              <a:t>model_runner 不检查 layer_type</a:t>
            </a:r>
          </a:p>
          <a:p>
            <a:pPr>
              <a:lnSpc>
                <a:spcPts val="1700"/>
              </a:lnSpc>
              <a:defRPr sz="950">
                <a:solidFill>
                  <a:srgbClr val="595757"/>
                </a:solidFill>
                <a:latin typeface="Microsoft YaHei"/>
              </a:defRPr>
            </a:pPr>
            <a:r>
              <a:t>不判断 use_sparse / use_compress / C8 / A5 / A3</a:t>
            </a:r>
          </a:p>
          <a:p>
            <a:pPr>
              <a:lnSpc>
                <a:spcPts val="1700"/>
              </a:lnSpc>
              <a:defRPr sz="950">
                <a:solidFill>
                  <a:srgbClr val="595757"/>
                </a:solidFill>
                <a:latin typeface="Microsoft YaHei"/>
              </a:defRPr>
            </a:pPr>
            <a:r>
              <a:t>拿到 Spec → 拿到 shape → 分配 → reshape → 结束</a:t>
            </a:r>
          </a:p>
          <a:p>
            <a:pPr>
              <a:lnSpc>
                <a:spcPts val="1700"/>
              </a:lnSpc>
              <a:defRPr sz="950">
                <a:solidFill>
                  <a:srgbClr val="595757"/>
                </a:solidFill>
                <a:latin typeface="Microsoft YaHei"/>
              </a:defRPr>
            </a:pPr>
            <a:r>
              <a:t>→ 所有模型特有逻辑封装在 Spec 子类 + Backend 内</a:t>
            </a:r>
          </a:p>
          <a:p>
            <a:pPr>
              <a:lnSpc>
                <a:spcPts val="1700"/>
              </a:lnSpc>
              <a:defRPr sz="950">
                <a:solidFill>
                  <a:srgbClr val="595757"/>
                </a:solidFill>
                <a:latin typeface="Microsoft YaHei"/>
              </a:defRPr>
            </a:pPr>
            <a:r>
              <a:t>→ ~60 行代码，0 分支，新增模型不改 model_runner</a:t>
            </a:r>
          </a:p>
        </p:txBody>
      </p:sp>
      <p:sp>
        <p:nvSpPr>
          <p:cNvPr id="38" name="TextBox 18">
            <a:extLst>
              <a:ext uri="{FF2B5EF4-FFF2-40B4-BE49-F238E27FC236}">
                <a16:creationId xmlns:a16="http://schemas.microsoft.com/office/drawing/2014/main" id="{A0C5C6D6-22A5-74F7-3287-8F20C0EA2F07}"/>
              </a:ext>
            </a:extLst>
          </p:cNvPr>
          <p:cNvSpPr txBox="1"/>
          <p:nvPr/>
        </p:nvSpPr>
        <p:spPr>
          <a:xfrm>
            <a:off x="548640" y="529437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8102E"/>
                </a:solidFill>
                <a:latin typeface="Microsoft YaHei"/>
              </a:defRPr>
            </a:pPr>
            <a:r>
              <a:rPr dirty="0"/>
              <a:t>➜ </a:t>
            </a:r>
            <a:r>
              <a:rPr dirty="0" err="1"/>
              <a:t>接下来我们将逐层对比</a:t>
            </a:r>
            <a:r>
              <a:rPr dirty="0"/>
              <a:t> Ascend </a:t>
            </a:r>
            <a:r>
              <a:rPr dirty="0" err="1"/>
              <a:t>的实现，看看在每一层上，这三条原则是如何被打破的</a:t>
            </a:r>
            <a:endParaRPr dirty="0"/>
          </a:p>
        </p:txBody>
      </p:sp>
      <p:sp>
        <p:nvSpPr>
          <p:cNvPr id="39" name="Rounded Rectangle 6">
            <a:extLst>
              <a:ext uri="{FF2B5EF4-FFF2-40B4-BE49-F238E27FC236}">
                <a16:creationId xmlns:a16="http://schemas.microsoft.com/office/drawing/2014/main" id="{C41590A0-16FC-3329-C9C1-5170E1C74FB7}"/>
              </a:ext>
            </a:extLst>
          </p:cNvPr>
          <p:cNvSpPr/>
          <p:nvPr/>
        </p:nvSpPr>
        <p:spPr>
          <a:xfrm>
            <a:off x="137160" y="1682496"/>
            <a:ext cx="3657600" cy="32004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7">
            <a:extLst>
              <a:ext uri="{FF2B5EF4-FFF2-40B4-BE49-F238E27FC236}">
                <a16:creationId xmlns:a16="http://schemas.microsoft.com/office/drawing/2014/main" id="{CF71FF31-31BE-2175-0332-5334D2817D28}"/>
              </a:ext>
            </a:extLst>
          </p:cNvPr>
          <p:cNvSpPr/>
          <p:nvPr/>
        </p:nvSpPr>
        <p:spPr>
          <a:xfrm>
            <a:off x="137160" y="1682496"/>
            <a:ext cx="38100" cy="320040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8">
            <a:extLst>
              <a:ext uri="{FF2B5EF4-FFF2-40B4-BE49-F238E27FC236}">
                <a16:creationId xmlns:a16="http://schemas.microsoft.com/office/drawing/2014/main" id="{C765F31F-0050-F195-55AF-5C9DCBA0E909}"/>
              </a:ext>
            </a:extLst>
          </p:cNvPr>
          <p:cNvSpPr txBox="1"/>
          <p:nvPr/>
        </p:nvSpPr>
        <p:spPr>
          <a:xfrm>
            <a:off x="289560" y="1784096"/>
            <a:ext cx="335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B230"/>
                </a:solidFill>
                <a:latin typeface="Microsoft YaHei"/>
              </a:defRPr>
            </a:pPr>
            <a:r>
              <a:t>原则 1: Backend 说了算</a:t>
            </a:r>
          </a:p>
        </p:txBody>
      </p:sp>
      <p:sp>
        <p:nvSpPr>
          <p:cNvPr id="42" name="TextBox 9">
            <a:extLst>
              <a:ext uri="{FF2B5EF4-FFF2-40B4-BE49-F238E27FC236}">
                <a16:creationId xmlns:a16="http://schemas.microsoft.com/office/drawing/2014/main" id="{14C21BF9-A304-15B5-9106-FFF4B688690D}"/>
              </a:ext>
            </a:extLst>
          </p:cNvPr>
          <p:cNvSpPr txBox="1"/>
          <p:nvPr/>
        </p:nvSpPr>
        <p:spPr>
          <a:xfrm>
            <a:off x="289560" y="2114296"/>
            <a:ext cx="3352800" cy="266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950">
                <a:solidFill>
                  <a:srgbClr val="595757"/>
                </a:solidFill>
                <a:latin typeface="Microsoft YaHei"/>
              </a:defRPr>
            </a:pPr>
            <a:r>
              <a:t>KV Cache shape 的唯一决定者是 Backend</a:t>
            </a:r>
          </a:p>
          <a:p>
            <a:pPr>
              <a:lnSpc>
                <a:spcPts val="1700"/>
              </a:lnSpc>
              <a:defRPr sz="950">
                <a:solidFill>
                  <a:srgbClr val="595757"/>
                </a:solidFill>
                <a:latin typeface="Microsoft YaHei"/>
              </a:defRPr>
            </a:pPr>
            <a:r>
              <a:t>get_kv_cache_shape() 返回完整可用 shape</a:t>
            </a:r>
          </a:p>
          <a:p>
            <a:pPr>
              <a:lnSpc>
                <a:spcPts val="1700"/>
              </a:lnSpc>
              <a:defRPr sz="950">
                <a:solidFill>
                  <a:srgbClr val="595757"/>
                </a:solidFill>
                <a:latin typeface="Microsoft YaHei"/>
              </a:defRPr>
            </a:pPr>
            <a:r>
              <a:t>每一维的含义、tensor 的数量、K/V 的存储方式</a:t>
            </a:r>
          </a:p>
          <a:p>
            <a:pPr>
              <a:lnSpc>
                <a:spcPts val="1700"/>
              </a:lnSpc>
              <a:defRPr sz="950">
                <a:solidFill>
                  <a:srgbClr val="595757"/>
                </a:solidFill>
                <a:latin typeface="Microsoft YaHei"/>
              </a:defRPr>
            </a:pPr>
            <a:r>
              <a:t>——都由 Backend 封装</a:t>
            </a:r>
          </a:p>
          <a:p>
            <a:pPr>
              <a:lnSpc>
                <a:spcPts val="1700"/>
              </a:lnSpc>
              <a:defRPr sz="950">
                <a:solidFill>
                  <a:srgbClr val="595757"/>
                </a:solidFill>
                <a:latin typeface="Microsoft YaHei"/>
              </a:defRPr>
            </a:pPr>
            <a:r>
              <a:t>→ model_runner 不关心内部怎么拆分</a:t>
            </a:r>
          </a:p>
        </p:txBody>
      </p:sp>
    </p:spTree>
    <p:extLst>
      <p:ext uri="{BB962C8B-B14F-4D97-AF65-F5344CB8AC3E}">
        <p14:creationId xmlns:p14="http://schemas.microsoft.com/office/powerpoint/2010/main" val="3389997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A29226DB-57F8-BD07-97B7-F5D5774CA640}"/>
              </a:ext>
            </a:extLst>
          </p:cNvPr>
          <p:cNvSpPr txBox="1"/>
          <p:nvPr/>
        </p:nvSpPr>
        <p:spPr>
          <a:xfrm>
            <a:off x="459581" y="233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C6000B"/>
                </a:solidFill>
                <a:latin typeface="Microsoft YaHei"/>
              </a:defRPr>
            </a:pPr>
            <a:r>
              <a:t>Spec 层：上游「类型即语义」vs Ascend「万能类」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1B9B8BA3-B427-43C3-4BF0-30DF092D487E}"/>
              </a:ext>
            </a:extLst>
          </p:cNvPr>
          <p:cNvSpPr/>
          <p:nvPr/>
        </p:nvSpPr>
        <p:spPr>
          <a:xfrm>
            <a:off x="185261" y="485648"/>
            <a:ext cx="5486400" cy="2004568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C432E88-A77E-B870-6129-39E9D93BCA7A}"/>
              </a:ext>
            </a:extLst>
          </p:cNvPr>
          <p:cNvSpPr/>
          <p:nvPr/>
        </p:nvSpPr>
        <p:spPr>
          <a:xfrm>
            <a:off x="149860" y="556768"/>
            <a:ext cx="45719" cy="1846072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9B5DB7CE-D0A8-CD65-E68F-A04ED6D12C51}"/>
              </a:ext>
            </a:extLst>
          </p:cNvPr>
          <p:cNvSpPr txBox="1"/>
          <p:nvPr/>
        </p:nvSpPr>
        <p:spPr>
          <a:xfrm>
            <a:off x="325120" y="556768"/>
            <a:ext cx="5181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rPr dirty="0" err="1"/>
              <a:t>上游</a:t>
            </a:r>
            <a:r>
              <a:rPr dirty="0"/>
              <a:t>: </a:t>
            </a:r>
            <a:r>
              <a:rPr dirty="0" err="1"/>
              <a:t>KVCacheSpec</a:t>
            </a:r>
            <a:r>
              <a:rPr dirty="0"/>
              <a:t> </a:t>
            </a:r>
            <a:r>
              <a:rPr dirty="0" err="1"/>
              <a:t>层次体系</a:t>
            </a:r>
            <a:r>
              <a:rPr dirty="0"/>
              <a:t> (</a:t>
            </a:r>
            <a:r>
              <a:rPr dirty="0" err="1"/>
              <a:t>类型即语义</a:t>
            </a:r>
            <a:r>
              <a:rPr dirty="0"/>
              <a:t>)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D81F8BC4-CEF1-BD9E-22DE-6EE98EDC6B64}"/>
              </a:ext>
            </a:extLst>
          </p:cNvPr>
          <p:cNvSpPr txBox="1"/>
          <p:nvPr/>
        </p:nvSpPr>
        <p:spPr>
          <a:xfrm>
            <a:off x="350520" y="803656"/>
            <a:ext cx="5181600" cy="207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KVCacheSpec</a:t>
            </a:r>
            <a:r>
              <a:rPr dirty="0"/>
              <a:t> → </a:t>
            </a:r>
            <a:r>
              <a:rPr dirty="0" err="1"/>
              <a:t>AttentionSpec</a:t>
            </a:r>
            <a:r>
              <a:rPr dirty="0"/>
              <a:t> → </a:t>
            </a:r>
            <a:r>
              <a:rPr dirty="0" err="1"/>
              <a:t>FullAttentionSpec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→ </a:t>
            </a:r>
            <a:r>
              <a:rPr dirty="0" err="1"/>
              <a:t>MLAAttentionSpec</a:t>
            </a:r>
            <a:r>
              <a:rPr dirty="0"/>
              <a:t> (</a:t>
            </a:r>
            <a:r>
              <a:rPr dirty="0" err="1"/>
              <a:t>cache_dtype_str</a:t>
            </a:r>
            <a:r>
              <a:rPr dirty="0"/>
              <a:t>, </a:t>
            </a:r>
            <a:r>
              <a:rPr dirty="0" err="1"/>
              <a:t>compress_ratio</a:t>
            </a:r>
            <a:r>
              <a:rPr dirty="0"/>
              <a:t>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→ </a:t>
            </a:r>
            <a:r>
              <a:rPr dirty="0" err="1"/>
              <a:t>SlidingWindowSpec</a:t>
            </a:r>
            <a:r>
              <a:rPr dirty="0"/>
              <a:t>, </a:t>
            </a:r>
            <a:r>
              <a:rPr dirty="0" err="1"/>
              <a:t>ChunkedLocalAttentionSpec</a:t>
            </a:r>
            <a:r>
              <a:rPr dirty="0"/>
              <a:t>...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每种</a:t>
            </a:r>
            <a:r>
              <a:rPr dirty="0"/>
              <a:t> attention </a:t>
            </a:r>
            <a:r>
              <a:rPr dirty="0" err="1"/>
              <a:t>类型</a:t>
            </a:r>
            <a:r>
              <a:rPr dirty="0"/>
              <a:t> → </a:t>
            </a:r>
            <a:r>
              <a:rPr dirty="0" err="1"/>
              <a:t>一种</a:t>
            </a:r>
            <a:r>
              <a:rPr dirty="0"/>
              <a:t> Spec </a:t>
            </a:r>
            <a:r>
              <a:rPr dirty="0" err="1"/>
              <a:t>子类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Frozen </a:t>
            </a:r>
            <a:r>
              <a:rPr dirty="0" err="1"/>
              <a:t>dataclass</a:t>
            </a:r>
            <a:r>
              <a:rPr dirty="0"/>
              <a:t>: </a:t>
            </a:r>
            <a:r>
              <a:rPr dirty="0" err="1"/>
              <a:t>不可变，声明式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page_size_bytes</a:t>
            </a:r>
            <a:r>
              <a:rPr dirty="0"/>
              <a:t>: </a:t>
            </a:r>
            <a:r>
              <a:rPr dirty="0" err="1"/>
              <a:t>每个子类独立实现，无分支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merge(): </a:t>
            </a:r>
            <a:r>
              <a:rPr dirty="0" err="1"/>
              <a:t>同类型层共享</a:t>
            </a:r>
            <a:r>
              <a:rPr dirty="0"/>
              <a:t> block table </a:t>
            </a:r>
            <a:r>
              <a:rPr dirty="0" err="1"/>
              <a:t>的安全校验</a:t>
            </a:r>
            <a:endParaRPr dirty="0"/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7DC3A05D-BF7E-2156-9EAB-1560B57A9D85}"/>
              </a:ext>
            </a:extLst>
          </p:cNvPr>
          <p:cNvSpPr/>
          <p:nvPr/>
        </p:nvSpPr>
        <p:spPr>
          <a:xfrm>
            <a:off x="6060440" y="431800"/>
            <a:ext cx="5577840" cy="207772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D3E662A6-0E3E-AC33-358F-EBB1C6CF3182}"/>
              </a:ext>
            </a:extLst>
          </p:cNvPr>
          <p:cNvSpPr/>
          <p:nvPr/>
        </p:nvSpPr>
        <p:spPr>
          <a:xfrm>
            <a:off x="6041389" y="456184"/>
            <a:ext cx="45719" cy="20340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5984ECF3-EE57-A333-7DA6-4357C69A929D}"/>
              </a:ext>
            </a:extLst>
          </p:cNvPr>
          <p:cNvSpPr txBox="1"/>
          <p:nvPr/>
        </p:nvSpPr>
        <p:spPr>
          <a:xfrm>
            <a:off x="6123224" y="463296"/>
            <a:ext cx="52730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dirty="0"/>
              <a:t>Ascend: </a:t>
            </a:r>
            <a:r>
              <a:rPr dirty="0" err="1"/>
              <a:t>AscendMLAAttentionSpec「万能类</a:t>
            </a:r>
            <a:r>
              <a:rPr dirty="0"/>
              <a:t>」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034F3F08-CCB3-D27D-17D1-202504B714BF}"/>
              </a:ext>
            </a:extLst>
          </p:cNvPr>
          <p:cNvSpPr txBox="1"/>
          <p:nvPr/>
        </p:nvSpPr>
        <p:spPr>
          <a:xfrm>
            <a:off x="6187440" y="771652"/>
            <a:ext cx="5273040" cy="207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所有</a:t>
            </a:r>
            <a:r>
              <a:rPr dirty="0"/>
              <a:t> MLA </a:t>
            </a:r>
            <a:r>
              <a:rPr dirty="0" err="1"/>
              <a:t>变体挤进同一个</a:t>
            </a:r>
            <a:r>
              <a:rPr dirty="0"/>
              <a:t> </a:t>
            </a:r>
            <a:r>
              <a:rPr dirty="0" err="1"/>
              <a:t>AscendMLAAttentionSpec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新增</a:t>
            </a:r>
            <a:r>
              <a:rPr dirty="0"/>
              <a:t> 6 个 NPU </a:t>
            </a:r>
            <a:r>
              <a:rPr dirty="0" err="1"/>
              <a:t>特有字段</a:t>
            </a:r>
            <a:r>
              <a:rPr dirty="0"/>
              <a:t>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scale_dim</a:t>
            </a:r>
            <a:r>
              <a:rPr dirty="0"/>
              <a:t>, </a:t>
            </a:r>
            <a:r>
              <a:rPr dirty="0" err="1"/>
              <a:t>scale_dtype</a:t>
            </a:r>
            <a:r>
              <a:rPr dirty="0"/>
              <a:t> — DS V4 indexer scale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sparse_head_dim</a:t>
            </a:r>
            <a:r>
              <a:rPr dirty="0"/>
              <a:t> — DS V3.2/GLM5.1 </a:t>
            </a:r>
            <a:r>
              <a:rPr dirty="0" err="1"/>
              <a:t>三元素</a:t>
            </a:r>
            <a:r>
              <a:rPr dirty="0"/>
              <a:t> tuple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cache_sparse_c8 — A3 int8 / A5 fp8 </a:t>
            </a:r>
            <a:r>
              <a:rPr dirty="0" err="1"/>
              <a:t>开关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c8_k_cache_dtype, c8_k_scale_cache_dtype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→ </a:t>
            </a:r>
            <a:r>
              <a:rPr dirty="0" err="1"/>
              <a:t>page_size_bytes</a:t>
            </a:r>
            <a:r>
              <a:rPr dirty="0"/>
              <a:t> </a:t>
            </a:r>
            <a:r>
              <a:rPr dirty="0" err="1"/>
              <a:t>内部</a:t>
            </a:r>
            <a:r>
              <a:rPr dirty="0"/>
              <a:t> if-else </a:t>
            </a:r>
            <a:r>
              <a:rPr dirty="0" err="1"/>
              <a:t>分支</a:t>
            </a:r>
            <a:endParaRPr dirty="0"/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BCE593EB-E6A7-3A52-1060-2A993BFF4392}"/>
              </a:ext>
            </a:extLst>
          </p:cNvPr>
          <p:cNvSpPr/>
          <p:nvPr/>
        </p:nvSpPr>
        <p:spPr>
          <a:xfrm>
            <a:off x="172720" y="2551684"/>
            <a:ext cx="5486400" cy="1676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上游</a:t>
            </a:r>
            <a:r>
              <a:rPr dirty="0"/>
              <a:t>: DS V3.2 (flash_mla_sparse.py)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class </a:t>
            </a:r>
            <a:r>
              <a:rPr dirty="0" err="1"/>
              <a:t>FlashMLASparseBackend</a:t>
            </a:r>
            <a:r>
              <a:rPr dirty="0"/>
              <a:t>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@staticmethod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def </a:t>
            </a:r>
            <a:r>
              <a:rPr dirty="0" err="1"/>
              <a:t>get_kv_cache_spec</a:t>
            </a:r>
            <a:r>
              <a:rPr dirty="0"/>
              <a:t>(...):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return </a:t>
            </a:r>
            <a:r>
              <a:rPr dirty="0" err="1"/>
              <a:t>MLAAttentionSpec</a:t>
            </a:r>
            <a:r>
              <a:rPr dirty="0"/>
              <a:t>(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block_size</a:t>
            </a:r>
            <a:r>
              <a:rPr dirty="0"/>
              <a:t>=</a:t>
            </a:r>
            <a:r>
              <a:rPr dirty="0" err="1"/>
              <a:t>block_size</a:t>
            </a:r>
            <a:r>
              <a:rPr dirty="0"/>
              <a:t>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num_kv_heads</a:t>
            </a:r>
            <a:r>
              <a:rPr dirty="0"/>
              <a:t>=1,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head_size</a:t>
            </a:r>
            <a:r>
              <a:rPr dirty="0"/>
              <a:t>=576,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dtype</a:t>
            </a:r>
            <a:r>
              <a:rPr dirty="0"/>
              <a:t>=bf16,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cache_dtype_str</a:t>
            </a:r>
            <a:r>
              <a:rPr dirty="0"/>
              <a:t>='auto',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只有</a:t>
            </a:r>
            <a:r>
              <a:rPr dirty="0"/>
              <a:t> 1 个 Spec </a:t>
            </a:r>
            <a:r>
              <a:rPr dirty="0" err="1"/>
              <a:t>类型</a:t>
            </a:r>
            <a:r>
              <a:rPr dirty="0"/>
              <a:t>, 7 </a:t>
            </a:r>
            <a:r>
              <a:rPr dirty="0" err="1"/>
              <a:t>个字段</a:t>
            </a:r>
            <a:r>
              <a:rPr dirty="0"/>
              <a:t>, 无 NPU </a:t>
            </a:r>
            <a:r>
              <a:rPr dirty="0" err="1"/>
              <a:t>概念</a:t>
            </a:r>
            <a:endParaRPr dirty="0"/>
          </a:p>
        </p:txBody>
      </p:sp>
      <p:sp>
        <p:nvSpPr>
          <p:cNvPr id="17" name="Rounded Rectangle 12">
            <a:extLst>
              <a:ext uri="{FF2B5EF4-FFF2-40B4-BE49-F238E27FC236}">
                <a16:creationId xmlns:a16="http://schemas.microsoft.com/office/drawing/2014/main" id="{54414C8F-33D8-53BE-44E1-B2F74DE72A29}"/>
              </a:ext>
            </a:extLst>
          </p:cNvPr>
          <p:cNvSpPr/>
          <p:nvPr/>
        </p:nvSpPr>
        <p:spPr>
          <a:xfrm>
            <a:off x="6098381" y="2551684"/>
            <a:ext cx="5577840" cy="2415032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# Ascend: DS V3.2 (model_runner_v1.py:4855)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class </a:t>
            </a:r>
            <a:r>
              <a:rPr dirty="0" err="1"/>
              <a:t>NPUModelRunner</a:t>
            </a:r>
            <a:r>
              <a:rPr dirty="0"/>
              <a:t>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def </a:t>
            </a:r>
            <a:r>
              <a:rPr dirty="0" err="1"/>
              <a:t>get_kv_cache_spec</a:t>
            </a:r>
            <a:r>
              <a:rPr dirty="0"/>
              <a:t>(self, </a:t>
            </a:r>
            <a:r>
              <a:rPr dirty="0" err="1"/>
              <a:t>layer_name</a:t>
            </a:r>
            <a:r>
              <a:rPr dirty="0"/>
              <a:t>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...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if </a:t>
            </a:r>
            <a:r>
              <a:rPr dirty="0" err="1"/>
              <a:t>self.use_sparse</a:t>
            </a:r>
            <a:r>
              <a:rPr dirty="0"/>
              <a:t>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return </a:t>
            </a:r>
            <a:r>
              <a:rPr dirty="0" err="1"/>
              <a:t>AscendMLAAttentionSpec</a:t>
            </a:r>
            <a:r>
              <a:rPr dirty="0"/>
              <a:t>(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  </a:t>
            </a:r>
            <a:r>
              <a:rPr dirty="0" err="1"/>
              <a:t>block_size</a:t>
            </a:r>
            <a:r>
              <a:rPr dirty="0"/>
              <a:t>=</a:t>
            </a:r>
            <a:r>
              <a:rPr dirty="0" err="1"/>
              <a:t>self.block_size</a:t>
            </a:r>
            <a:r>
              <a:rPr dirty="0"/>
              <a:t>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  </a:t>
            </a:r>
            <a:r>
              <a:rPr dirty="0" err="1"/>
              <a:t>num_kv_heads</a:t>
            </a:r>
            <a:r>
              <a:rPr dirty="0"/>
              <a:t>=1,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  </a:t>
            </a:r>
            <a:r>
              <a:rPr dirty="0" err="1"/>
              <a:t>head_size</a:t>
            </a:r>
            <a:r>
              <a:rPr dirty="0"/>
              <a:t>=sum(</a:t>
            </a:r>
            <a:r>
              <a:rPr dirty="0" err="1"/>
              <a:t>self.sparse_head_dim</a:t>
            </a:r>
            <a:r>
              <a:rPr dirty="0"/>
              <a:t>),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  </a:t>
            </a:r>
            <a:r>
              <a:rPr dirty="0" err="1"/>
              <a:t>sparse_head_dim</a:t>
            </a:r>
            <a:r>
              <a:rPr dirty="0"/>
              <a:t>=(512, 64, 128),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  </a:t>
            </a:r>
            <a:r>
              <a:rPr dirty="0" err="1"/>
              <a:t>dtype</a:t>
            </a:r>
            <a:r>
              <a:rPr dirty="0"/>
              <a:t>=bf16,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  </a:t>
            </a:r>
            <a:r>
              <a:rPr dirty="0" err="1"/>
              <a:t>cache_dtype_str</a:t>
            </a:r>
            <a:r>
              <a:rPr dirty="0"/>
              <a:t>=...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  cache_sparse_c8=is_c8_layer(layer),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  c8_k_cache_dtype=int8|float8_e4m3fn,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  c8_k_scale_cache_dtype=fp16|fp32,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# 12+ </a:t>
            </a:r>
            <a:r>
              <a:rPr dirty="0" err="1"/>
              <a:t>字段</a:t>
            </a:r>
            <a:r>
              <a:rPr dirty="0"/>
              <a:t>, cache_sparse_c8 </a:t>
            </a:r>
            <a:r>
              <a:rPr dirty="0" err="1"/>
              <a:t>决定后续所有分支</a:t>
            </a:r>
            <a:endParaRPr dirty="0"/>
          </a:p>
        </p:txBody>
      </p:sp>
      <p:sp>
        <p:nvSpPr>
          <p:cNvPr id="18" name="Rounded Rectangle 13">
            <a:extLst>
              <a:ext uri="{FF2B5EF4-FFF2-40B4-BE49-F238E27FC236}">
                <a16:creationId xmlns:a16="http://schemas.microsoft.com/office/drawing/2014/main" id="{26C289F5-C941-E1A3-5163-EDC18B9E8016}"/>
              </a:ext>
            </a:extLst>
          </p:cNvPr>
          <p:cNvSpPr/>
          <p:nvPr/>
        </p:nvSpPr>
        <p:spPr>
          <a:xfrm>
            <a:off x="391160" y="5105908"/>
            <a:ext cx="11338560" cy="1184656"/>
          </a:xfrm>
          <a:prstGeom prst="roundRect">
            <a:avLst>
              <a:gd name="adj" fmla="val 4000"/>
            </a:avLst>
          </a:prstGeom>
          <a:solidFill>
            <a:srgbClr val="FDF3EA"/>
          </a:solidFill>
          <a:ln w="12700">
            <a:solidFill>
              <a:srgbClr val="FFA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3EF5AFEE-2F50-DAFA-7EC8-10A7255D42B4}"/>
              </a:ext>
            </a:extLst>
          </p:cNvPr>
          <p:cNvSpPr txBox="1"/>
          <p:nvPr/>
        </p:nvSpPr>
        <p:spPr>
          <a:xfrm>
            <a:off x="477520" y="5192776"/>
            <a:ext cx="109829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ED6C00"/>
                </a:solidFill>
                <a:latin typeface="Microsoft YaHei"/>
              </a:defRPr>
            </a:pPr>
            <a:r>
              <a:t>&gt; Spec 层核心差距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C3A6DA28-CAF7-1A9C-7262-DA8DE8AC8D68}"/>
              </a:ext>
            </a:extLst>
          </p:cNvPr>
          <p:cNvSpPr txBox="1"/>
          <p:nvPr/>
        </p:nvSpPr>
        <p:spPr>
          <a:xfrm>
            <a:off x="477520" y="5368036"/>
            <a:ext cx="10982960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019"/>
              </a:lnSpc>
              <a:buFont typeface="Wingdings" panose="05000000000000000000" pitchFamily="2" charset="2"/>
              <a:buChar char="Ø"/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上游</a:t>
            </a:r>
            <a:r>
              <a:rPr dirty="0"/>
              <a:t>: </a:t>
            </a:r>
            <a:r>
              <a:rPr dirty="0" err="1"/>
              <a:t>类型名编码了所有语义</a:t>
            </a:r>
            <a:r>
              <a:rPr dirty="0"/>
              <a:t> — </a:t>
            </a:r>
            <a:r>
              <a:rPr dirty="0" err="1"/>
              <a:t>MLAAttentionSpec</a:t>
            </a:r>
            <a:r>
              <a:rPr dirty="0"/>
              <a:t> vs </a:t>
            </a:r>
            <a:r>
              <a:rPr dirty="0" err="1"/>
              <a:t>SlidingWindowMLASpec</a:t>
            </a:r>
            <a:r>
              <a:rPr dirty="0"/>
              <a:t> </a:t>
            </a:r>
            <a:r>
              <a:rPr dirty="0" err="1"/>
              <a:t>一眼就看出差异</a:t>
            </a:r>
            <a:r>
              <a:rPr dirty="0"/>
              <a:t>。</a:t>
            </a:r>
            <a:endParaRPr lang="en-US" dirty="0"/>
          </a:p>
          <a:p>
            <a:pPr marL="171450" indent="-171450" algn="l">
              <a:lnSpc>
                <a:spcPts val="1019"/>
              </a:lnSpc>
              <a:buFont typeface="Wingdings" panose="05000000000000000000" pitchFamily="2" charset="2"/>
              <a:buChar char="Ø"/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Ascend: </a:t>
            </a:r>
            <a:r>
              <a:rPr dirty="0" err="1"/>
              <a:t>所有</a:t>
            </a:r>
            <a:r>
              <a:rPr dirty="0"/>
              <a:t> MLA </a:t>
            </a:r>
            <a:r>
              <a:rPr dirty="0" err="1"/>
              <a:t>变体都是</a:t>
            </a:r>
            <a:r>
              <a:rPr dirty="0"/>
              <a:t> </a:t>
            </a:r>
            <a:r>
              <a:rPr dirty="0" err="1"/>
              <a:t>AscendMLAAttentionSpec，只能通过字段值</a:t>
            </a:r>
            <a:r>
              <a:rPr dirty="0"/>
              <a:t> (cache_sparse_c8? </a:t>
            </a:r>
            <a:r>
              <a:rPr dirty="0" err="1"/>
              <a:t>use_compress</a:t>
            </a:r>
            <a:r>
              <a:rPr dirty="0"/>
              <a:t>?) </a:t>
            </a:r>
            <a:r>
              <a:rPr dirty="0" err="1"/>
              <a:t>间接推断行为</a:t>
            </a:r>
            <a:r>
              <a:rPr dirty="0"/>
              <a:t>——Spec </a:t>
            </a:r>
            <a:r>
              <a:rPr dirty="0" err="1"/>
              <a:t>层本身没有解释自己的能力，model_runner</a:t>
            </a:r>
            <a:r>
              <a:rPr dirty="0"/>
              <a:t> </a:t>
            </a:r>
            <a:r>
              <a:rPr dirty="0" err="1"/>
              <a:t>被迫替代</a:t>
            </a:r>
            <a:r>
              <a:rPr dirty="0"/>
              <a:t> Spec </a:t>
            </a:r>
            <a:r>
              <a:rPr dirty="0" err="1"/>
              <a:t>做解释</a:t>
            </a:r>
            <a:r>
              <a:rPr dirty="0"/>
              <a:t>。</a:t>
            </a:r>
            <a:endParaRPr lang="en-US" dirty="0"/>
          </a:p>
          <a:p>
            <a:pPr marL="171450" indent="-171450" algn="l">
              <a:lnSpc>
                <a:spcPts val="1019"/>
              </a:lnSpc>
              <a:buFont typeface="Wingdings" panose="05000000000000000000" pitchFamily="2" charset="2"/>
              <a:buChar char="Ø"/>
              <a:defRPr sz="850" b="0">
                <a:solidFill>
                  <a:srgbClr val="595757"/>
                </a:solidFill>
                <a:latin typeface="Microsoft YaHei"/>
              </a:defRPr>
            </a:pPr>
            <a:endParaRPr lang="en-US" dirty="0"/>
          </a:p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4410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856D54-EFDE-4D64-9854-F9FF8EB05CA1}"/>
              </a:ext>
            </a:extLst>
          </p:cNvPr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C6000B"/>
                </a:solidFill>
                <a:latin typeface="Microsoft YaHei"/>
              </a:defRPr>
            </a:pPr>
            <a:r>
              <a:rPr dirty="0"/>
              <a:t>Backend </a:t>
            </a:r>
            <a:r>
              <a:rPr dirty="0" err="1"/>
              <a:t>层：get_kv_cache_shape</a:t>
            </a:r>
            <a:r>
              <a:rPr dirty="0"/>
              <a:t>() — </a:t>
            </a:r>
            <a:r>
              <a:rPr dirty="0" err="1"/>
              <a:t>返回值的信息量差距</a:t>
            </a: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B95DFF-A03F-9D0E-3B08-F73948817147}"/>
              </a:ext>
            </a:extLst>
          </p:cNvPr>
          <p:cNvSpPr/>
          <p:nvPr/>
        </p:nvSpPr>
        <p:spPr>
          <a:xfrm>
            <a:off x="274320" y="822960"/>
            <a:ext cx="5486400" cy="1803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上游: FlashMLASparseBackend (flashmla_sparse.py)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@staticmethod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def get_kv_cache_shape(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num_blocks, block_size, num_kv_heads,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head_size, cache_dtype_str='auto'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) -&gt; tuple[int, ...]: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if cache_dtype_str == 'fp8_ds_mla':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return (num_blocks, block_size, 656)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else: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return (num_blocks, block_size, head_size)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endParaRPr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返回 (N, B, 576) — 完整 shape, ready-to-use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model_runner: tensor.view(bf16).view(N,B,576) = OK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CC5858A-A2B2-095F-B425-731CFDE2C3A6}"/>
              </a:ext>
            </a:extLst>
          </p:cNvPr>
          <p:cNvSpPr/>
          <p:nvPr/>
        </p:nvSpPr>
        <p:spPr>
          <a:xfrm>
            <a:off x="6073140" y="779272"/>
            <a:ext cx="5577840" cy="1930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# Ascend: </a:t>
            </a:r>
            <a:r>
              <a:rPr dirty="0" err="1"/>
              <a:t>AscendSFABackend</a:t>
            </a:r>
            <a:r>
              <a:rPr dirty="0"/>
              <a:t> (sfa_v1.py:120)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@staticmethod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get_kv_cache_shape</a:t>
            </a:r>
            <a:r>
              <a:rPr dirty="0"/>
              <a:t>(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num_blocks</a:t>
            </a:r>
            <a:r>
              <a:rPr dirty="0"/>
              <a:t>, </a:t>
            </a:r>
            <a:r>
              <a:rPr dirty="0" err="1"/>
              <a:t>block_size</a:t>
            </a:r>
            <a:r>
              <a:rPr dirty="0"/>
              <a:t>, </a:t>
            </a:r>
            <a:r>
              <a:rPr dirty="0" err="1"/>
              <a:t>num_kv_heads</a:t>
            </a:r>
            <a:r>
              <a:rPr dirty="0"/>
              <a:t>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head_size</a:t>
            </a:r>
            <a:r>
              <a:rPr dirty="0"/>
              <a:t>, </a:t>
            </a:r>
            <a:r>
              <a:rPr dirty="0" err="1"/>
              <a:t>cache_dtype_str</a:t>
            </a:r>
            <a:r>
              <a:rPr dirty="0"/>
              <a:t>=''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) -&gt; tuple[int, ...]: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return (</a:t>
            </a:r>
            <a:r>
              <a:rPr dirty="0" err="1"/>
              <a:t>num_blocks</a:t>
            </a:r>
            <a:r>
              <a:rPr dirty="0"/>
              <a:t>, </a:t>
            </a:r>
            <a:r>
              <a:rPr dirty="0" err="1"/>
              <a:t>block_size</a:t>
            </a:r>
            <a:r>
              <a:rPr dirty="0"/>
              <a:t>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num_kv_heads</a:t>
            </a:r>
            <a:r>
              <a:rPr dirty="0"/>
              <a:t>, </a:t>
            </a:r>
            <a:r>
              <a:rPr dirty="0" err="1"/>
              <a:t>head_size</a:t>
            </a:r>
            <a:r>
              <a:rPr dirty="0"/>
              <a:t>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返回</a:t>
            </a:r>
            <a:r>
              <a:rPr dirty="0"/>
              <a:t> (N, B, 1, 576) — 「</a:t>
            </a:r>
            <a:r>
              <a:rPr dirty="0" err="1"/>
              <a:t>参考</a:t>
            </a:r>
            <a:r>
              <a:rPr dirty="0"/>
              <a:t> shape」!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实际需要</a:t>
            </a:r>
            <a:r>
              <a:rPr dirty="0"/>
              <a:t> 3~4 tensor: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#   </a:t>
            </a:r>
            <a:r>
              <a:rPr dirty="0" err="1"/>
              <a:t>k_nope</a:t>
            </a:r>
            <a:r>
              <a:rPr dirty="0"/>
              <a:t>(N,B,1,512), </a:t>
            </a:r>
            <a:r>
              <a:rPr dirty="0" err="1"/>
              <a:t>k_rope</a:t>
            </a:r>
            <a:r>
              <a:rPr dirty="0"/>
              <a:t>(N,B,1,64),</a:t>
            </a:r>
            <a:r>
              <a:rPr lang="en-US" dirty="0"/>
              <a:t> </a:t>
            </a:r>
            <a:r>
              <a:rPr dirty="0"/>
              <a:t> </a:t>
            </a:r>
            <a:r>
              <a:rPr dirty="0" err="1"/>
              <a:t>dsa_k</a:t>
            </a:r>
            <a:r>
              <a:rPr dirty="0"/>
              <a:t>(N,B,1,128), [</a:t>
            </a:r>
            <a:r>
              <a:rPr dirty="0" err="1"/>
              <a:t>dsa_k_scale</a:t>
            </a:r>
            <a:r>
              <a:rPr dirty="0"/>
              <a:t>(N,B,1,1)]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# → </a:t>
            </a:r>
            <a:r>
              <a:rPr dirty="0" err="1"/>
              <a:t>后端只回答了</a:t>
            </a:r>
            <a:r>
              <a:rPr dirty="0"/>
              <a:t> 1/N! </a:t>
            </a:r>
            <a:r>
              <a:rPr dirty="0" err="1"/>
              <a:t>剩下靠在</a:t>
            </a:r>
            <a:r>
              <a:rPr dirty="0"/>
              <a:t> </a:t>
            </a:r>
            <a:r>
              <a:rPr dirty="0" err="1"/>
              <a:t>model_runner</a:t>
            </a:r>
            <a:r>
              <a:rPr dirty="0"/>
              <a:t> </a:t>
            </a:r>
            <a:r>
              <a:rPr dirty="0" err="1"/>
              <a:t>里查</a:t>
            </a:r>
            <a:r>
              <a:rPr dirty="0"/>
              <a:t> layer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7A1CFF3-010D-4A82-D8E7-0F763657BD78}"/>
              </a:ext>
            </a:extLst>
          </p:cNvPr>
          <p:cNvSpPr/>
          <p:nvPr/>
        </p:nvSpPr>
        <p:spPr>
          <a:xfrm>
            <a:off x="274320" y="2870201"/>
            <a:ext cx="5486400" cy="2468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97284C-0A85-A537-2669-00B833998A34}"/>
              </a:ext>
            </a:extLst>
          </p:cNvPr>
          <p:cNvSpPr/>
          <p:nvPr/>
        </p:nvSpPr>
        <p:spPr>
          <a:xfrm>
            <a:off x="274320" y="2870201"/>
            <a:ext cx="38100" cy="246888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BAE588-0889-6689-92EC-9D4AE607E60B}"/>
              </a:ext>
            </a:extLst>
          </p:cNvPr>
          <p:cNvSpPr txBox="1"/>
          <p:nvPr/>
        </p:nvSpPr>
        <p:spPr>
          <a:xfrm>
            <a:off x="426720" y="2971801"/>
            <a:ext cx="5181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上游 Backend: 返回即就绪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97C131-6362-8015-0FD5-972587CF2DF3}"/>
              </a:ext>
            </a:extLst>
          </p:cNvPr>
          <p:cNvSpPr txBox="1"/>
          <p:nvPr/>
        </p:nvSpPr>
        <p:spPr>
          <a:xfrm>
            <a:off x="426720" y="3251201"/>
            <a:ext cx="5181600" cy="198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FlashAttentionBackend → (2, N, B, H, D)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FlashMLABackend → (N, B, 576)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FlashMLASparseBackend → (N, B, 576|656)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Mamba backend → 通过 MambaSpec 的多 shapes/dtypes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一个 shape = 一个 tensor 的全部信息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model_runner: 拿到 shape → view → done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model_runner ~60 行, 0 分支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0BA2CF5-CD5F-8E23-711D-E5554577BD06}"/>
              </a:ext>
            </a:extLst>
          </p:cNvPr>
          <p:cNvSpPr/>
          <p:nvPr/>
        </p:nvSpPr>
        <p:spPr>
          <a:xfrm>
            <a:off x="6035040" y="2870201"/>
            <a:ext cx="5577840" cy="2468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839F5B-17EE-348E-5A5E-C9CA28308D0A}"/>
              </a:ext>
            </a:extLst>
          </p:cNvPr>
          <p:cNvSpPr/>
          <p:nvPr/>
        </p:nvSpPr>
        <p:spPr>
          <a:xfrm>
            <a:off x="6035040" y="2870201"/>
            <a:ext cx="38100" cy="24688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A31D84-E18B-9D10-9449-EE8DF1111780}"/>
              </a:ext>
            </a:extLst>
          </p:cNvPr>
          <p:cNvSpPr txBox="1"/>
          <p:nvPr/>
        </p:nvSpPr>
        <p:spPr>
          <a:xfrm>
            <a:off x="6187440" y="2971801"/>
            <a:ext cx="52730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dirty="0"/>
              <a:t>Ascend Backend: </a:t>
            </a:r>
            <a:r>
              <a:rPr dirty="0" err="1"/>
              <a:t>每个都只返回「参考</a:t>
            </a:r>
            <a:r>
              <a:rPr dirty="0"/>
              <a:t> shape」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90201A-BB70-753E-BB45-3F8A96901E32}"/>
              </a:ext>
            </a:extLst>
          </p:cNvPr>
          <p:cNvSpPr txBox="1"/>
          <p:nvPr/>
        </p:nvSpPr>
        <p:spPr>
          <a:xfrm>
            <a:off x="6187440" y="3251201"/>
            <a:ext cx="5273040" cy="198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AscendAttentionBackend</a:t>
            </a:r>
            <a:r>
              <a:rPr dirty="0"/>
              <a:t> → (2, N, B, H, D) ← </a:t>
            </a:r>
            <a:r>
              <a:rPr dirty="0" err="1"/>
              <a:t>这个还好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AscendMLABackend</a:t>
            </a:r>
            <a:r>
              <a:rPr dirty="0"/>
              <a:t> → (N, B, 1, 576) ← 缺 512+64 </a:t>
            </a:r>
            <a:r>
              <a:rPr dirty="0" err="1"/>
              <a:t>拆分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AscendSFABackend</a:t>
            </a:r>
            <a:r>
              <a:rPr dirty="0"/>
              <a:t> → (N, B, 1, 576) ← 缺 3~4 tensor </a:t>
            </a:r>
            <a:r>
              <a:rPr dirty="0" err="1"/>
              <a:t>信息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AscendDSABackend</a:t>
            </a:r>
            <a:r>
              <a:rPr dirty="0"/>
              <a:t> → (N, B, 1, </a:t>
            </a:r>
            <a:r>
              <a:rPr dirty="0" err="1"/>
              <a:t>head_size</a:t>
            </a:r>
            <a:r>
              <a:rPr dirty="0"/>
              <a:t>) ← 缺 scale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model_runner</a:t>
            </a:r>
            <a:r>
              <a:rPr dirty="0"/>
              <a:t> </a:t>
            </a:r>
            <a:r>
              <a:rPr dirty="0" err="1"/>
              <a:t>被迫</a:t>
            </a:r>
            <a:r>
              <a:rPr dirty="0"/>
              <a:t>: 查 layer </a:t>
            </a:r>
            <a:r>
              <a:rPr dirty="0" err="1"/>
              <a:t>属性</a:t>
            </a:r>
            <a:r>
              <a:rPr dirty="0"/>
              <a:t> → 算 split ratio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→ 拆 tensor → </a:t>
            </a:r>
            <a:r>
              <a:rPr dirty="0" err="1"/>
              <a:t>算各自</a:t>
            </a:r>
            <a:r>
              <a:rPr dirty="0"/>
              <a:t> shape → view → </a:t>
            </a:r>
            <a:r>
              <a:rPr dirty="0" err="1"/>
              <a:t>组装</a:t>
            </a:r>
            <a:r>
              <a:rPr dirty="0"/>
              <a:t> tuple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→ </a:t>
            </a:r>
            <a:r>
              <a:rPr dirty="0" err="1"/>
              <a:t>model_runner</a:t>
            </a:r>
            <a:r>
              <a:rPr dirty="0"/>
              <a:t> ~600 行, 15+ </a:t>
            </a:r>
            <a:r>
              <a:rPr dirty="0" err="1"/>
              <a:t>分支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9266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FBA51B-2B99-F661-5626-F3006A427A7A}"/>
              </a:ext>
            </a:extLst>
          </p:cNvPr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ED6C00"/>
                </a:solidFill>
                <a:latin typeface="Microsoft YaHei"/>
              </a:defRPr>
            </a:pPr>
            <a:r>
              <a:t>Allocate 管线：上游 30 行 vs Ascend 185 行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1CAC1DF-A3EC-E7E8-3885-8092E2AD859C}"/>
              </a:ext>
            </a:extLst>
          </p:cNvPr>
          <p:cNvSpPr/>
          <p:nvPr/>
        </p:nvSpPr>
        <p:spPr>
          <a:xfrm>
            <a:off x="251653" y="685800"/>
            <a:ext cx="5486400" cy="1676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上游</a:t>
            </a:r>
            <a:r>
              <a:rPr dirty="0"/>
              <a:t> </a:t>
            </a:r>
            <a:r>
              <a:rPr dirty="0" err="1"/>
              <a:t>vLLM</a:t>
            </a:r>
            <a:r>
              <a:rPr dirty="0"/>
              <a:t> (attn_utils.py:129-143)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def _</a:t>
            </a:r>
            <a:r>
              <a:rPr dirty="0" err="1"/>
              <a:t>allocate_kv_cache</a:t>
            </a:r>
            <a:r>
              <a:rPr dirty="0"/>
              <a:t>(</a:t>
            </a:r>
            <a:r>
              <a:rPr dirty="0" err="1"/>
              <a:t>kv_cache_config</a:t>
            </a:r>
            <a:r>
              <a:rPr dirty="0"/>
              <a:t>, device):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kv_cache_raw_tensors</a:t>
            </a:r>
            <a:r>
              <a:rPr dirty="0"/>
              <a:t> = {}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for tensor in </a:t>
            </a:r>
            <a:r>
              <a:rPr dirty="0" err="1"/>
              <a:t>kv_cache_config.kv_cache_tensors</a:t>
            </a:r>
            <a:r>
              <a:rPr dirty="0"/>
              <a:t>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t = </a:t>
            </a:r>
            <a:r>
              <a:rPr dirty="0" err="1"/>
              <a:t>torch.zeros</a:t>
            </a:r>
            <a:r>
              <a:rPr dirty="0"/>
              <a:t>(</a:t>
            </a:r>
            <a:r>
              <a:rPr dirty="0" err="1"/>
              <a:t>tensor.size</a:t>
            </a:r>
            <a:r>
              <a:rPr dirty="0"/>
              <a:t>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         </a:t>
            </a:r>
            <a:r>
              <a:rPr dirty="0" err="1"/>
              <a:t>dtype</a:t>
            </a:r>
            <a:r>
              <a:rPr dirty="0"/>
              <a:t>=torch.int8,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         device=device)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for </a:t>
            </a:r>
            <a:r>
              <a:rPr dirty="0" err="1"/>
              <a:t>layer_name</a:t>
            </a:r>
            <a:r>
              <a:rPr dirty="0"/>
              <a:t> in </a:t>
            </a:r>
            <a:r>
              <a:rPr dirty="0" err="1"/>
              <a:t>tensor.shared_by</a:t>
            </a:r>
            <a:r>
              <a:rPr dirty="0"/>
              <a:t>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kv_cache_raw_tensors</a:t>
            </a:r>
            <a:r>
              <a:rPr dirty="0"/>
              <a:t>[</a:t>
            </a:r>
            <a:r>
              <a:rPr dirty="0" err="1"/>
              <a:t>layer_name</a:t>
            </a:r>
            <a:r>
              <a:rPr dirty="0"/>
              <a:t>] = t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return </a:t>
            </a:r>
            <a:r>
              <a:rPr dirty="0" err="1"/>
              <a:t>kv_cache_raw_tensors</a:t>
            </a: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# 结束。30 行。0 </a:t>
            </a:r>
            <a:r>
              <a:rPr dirty="0" err="1"/>
              <a:t>分支。所有模型通用</a:t>
            </a:r>
            <a:r>
              <a:rPr dirty="0"/>
              <a:t>。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DFE7D09-B7D8-0F30-A218-ED28C580836C}"/>
              </a:ext>
            </a:extLst>
          </p:cNvPr>
          <p:cNvSpPr/>
          <p:nvPr/>
        </p:nvSpPr>
        <p:spPr>
          <a:xfrm>
            <a:off x="6103813" y="685800"/>
            <a:ext cx="5577840" cy="2438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# Ascend (model_runner_v1.py:4055-4236)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def _</a:t>
            </a:r>
            <a:r>
              <a:rPr dirty="0" err="1"/>
              <a:t>allocate_kv_cache_tensors</a:t>
            </a:r>
            <a:r>
              <a:rPr dirty="0"/>
              <a:t>(self, ...):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for </a:t>
            </a:r>
            <a:r>
              <a:rPr dirty="0" err="1"/>
              <a:t>kv_cache_tensor</a:t>
            </a:r>
            <a:r>
              <a:rPr dirty="0"/>
              <a:t> in </a:t>
            </a:r>
            <a:r>
              <a:rPr dirty="0" err="1"/>
              <a:t>kv_cache_config</a:t>
            </a:r>
            <a:r>
              <a:rPr dirty="0"/>
              <a:t>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if </a:t>
            </a:r>
            <a:r>
              <a:rPr dirty="0" err="1"/>
              <a:t>is_hybrid_or_mamba</a:t>
            </a:r>
            <a:r>
              <a:rPr dirty="0"/>
              <a:t>:        # 分支1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...  # 单 tensor, stride </a:t>
            </a:r>
            <a:r>
              <a:rPr dirty="0" err="1"/>
              <a:t>适配</a:t>
            </a: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elif</a:t>
            </a:r>
            <a:r>
              <a:rPr dirty="0"/>
              <a:t> </a:t>
            </a:r>
            <a:r>
              <a:rPr dirty="0" err="1"/>
              <a:t>use_compress</a:t>
            </a:r>
            <a:r>
              <a:rPr dirty="0"/>
              <a:t>:            # 分支2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...  # DS V4: 单 int8 buffer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else:                         # 分支3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if </a:t>
            </a:r>
            <a:r>
              <a:rPr dirty="0" err="1"/>
              <a:t>use_sparse</a:t>
            </a:r>
            <a:r>
              <a:rPr dirty="0"/>
              <a:t>:            # 分支3a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  if C8 and is_A5:      # 分支3a-i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      # 3 tensor: </a:t>
            </a:r>
            <a:r>
              <a:rPr dirty="0" err="1"/>
              <a:t>ckv+dsa_k+scale</a:t>
            </a: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  </a:t>
            </a:r>
            <a:r>
              <a:rPr dirty="0" err="1"/>
              <a:t>elif</a:t>
            </a:r>
            <a:r>
              <a:rPr dirty="0"/>
              <a:t> C8:             # 分支3a-ii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      # 4 tensor: </a:t>
            </a:r>
            <a:r>
              <a:rPr dirty="0" err="1"/>
              <a:t>k+v+dsa_k+scale</a:t>
            </a: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  else:                # 分支3a-iii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      # 3 tensor: </a:t>
            </a:r>
            <a:r>
              <a:rPr dirty="0" err="1"/>
              <a:t>k+v+dsa_k</a:t>
            </a: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else:                     # 分支3b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  # 2 tensor: </a:t>
            </a:r>
            <a:r>
              <a:rPr dirty="0" err="1"/>
              <a:t>k+v</a:t>
            </a:r>
            <a:r>
              <a:rPr dirty="0"/>
              <a:t> (split by ratio)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# 185 </a:t>
            </a:r>
            <a:r>
              <a:rPr dirty="0" err="1"/>
              <a:t>行。决策树深度</a:t>
            </a:r>
            <a:r>
              <a:rPr dirty="0"/>
              <a:t> 3。新增模型: 改 3~5 处。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53C7C8A-3541-47D3-2FA7-66B041261493}"/>
              </a:ext>
            </a:extLst>
          </p:cNvPr>
          <p:cNvSpPr/>
          <p:nvPr/>
        </p:nvSpPr>
        <p:spPr>
          <a:xfrm>
            <a:off x="365760" y="3297499"/>
            <a:ext cx="11338560" cy="256032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5CE12-FD0B-9DD9-DF14-A52CEF6A9358}"/>
              </a:ext>
            </a:extLst>
          </p:cNvPr>
          <p:cNvSpPr/>
          <p:nvPr/>
        </p:nvSpPr>
        <p:spPr>
          <a:xfrm>
            <a:off x="295593" y="3297499"/>
            <a:ext cx="45719" cy="25603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FC407E-4FF7-F321-C360-8235CB1E1361}"/>
              </a:ext>
            </a:extLst>
          </p:cNvPr>
          <p:cNvSpPr txBox="1"/>
          <p:nvPr/>
        </p:nvSpPr>
        <p:spPr>
          <a:xfrm>
            <a:off x="365760" y="3319025"/>
            <a:ext cx="1103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dirty="0"/>
              <a:t>Ascend Allocate </a:t>
            </a:r>
            <a:r>
              <a:rPr dirty="0" err="1"/>
              <a:t>决策树：每次新增模型类型都要在此添加分支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837785-4C43-BACD-D48A-2EDF47B3B513}"/>
              </a:ext>
            </a:extLst>
          </p:cNvPr>
          <p:cNvSpPr txBox="1"/>
          <p:nvPr/>
        </p:nvSpPr>
        <p:spPr>
          <a:xfrm>
            <a:off x="390207" y="3538799"/>
            <a:ext cx="11440795" cy="237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layer_type</a:t>
            </a:r>
            <a:r>
              <a:rPr dirty="0"/>
              <a:t>?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├─ hybrid/mamba → 单 tensor + stride </a:t>
            </a:r>
            <a:r>
              <a:rPr dirty="0" err="1"/>
              <a:t>适配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├─ compress (DS V4) → 单 int8 buffer (reshape 时 </a:t>
            </a:r>
            <a:r>
              <a:rPr dirty="0" err="1"/>
              <a:t>as_strided</a:t>
            </a:r>
            <a:r>
              <a:rPr dirty="0"/>
              <a:t>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└─ standard attention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     ├─ </a:t>
            </a:r>
            <a:r>
              <a:rPr dirty="0" err="1"/>
              <a:t>use_sparse</a:t>
            </a:r>
            <a:r>
              <a:rPr dirty="0"/>
              <a:t>? (DS V3.2 / GLM5.1)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     │    ├─ C8 + A5?  → 3 tensor: </a:t>
            </a:r>
            <a:r>
              <a:rPr dirty="0" err="1"/>
              <a:t>ckv</a:t>
            </a:r>
            <a:r>
              <a:rPr dirty="0"/>
              <a:t>(fp8) + </a:t>
            </a:r>
            <a:r>
              <a:rPr dirty="0" err="1"/>
              <a:t>dsa_k</a:t>
            </a:r>
            <a:r>
              <a:rPr dirty="0"/>
              <a:t>(fp8) + scale(fp32)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     │    ├─ C8 + A3?  → 4 tensor: k(bf16) + v(bf16) + </a:t>
            </a:r>
            <a:r>
              <a:rPr dirty="0" err="1"/>
              <a:t>dsa_k</a:t>
            </a:r>
            <a:r>
              <a:rPr dirty="0"/>
              <a:t>(int8) + scale(fp16)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     │    └─ no C8     → 3 tensor: k(bf16) + v(bf16) + </a:t>
            </a:r>
            <a:r>
              <a:rPr dirty="0" err="1"/>
              <a:t>dsa_k</a:t>
            </a:r>
            <a:r>
              <a:rPr dirty="0"/>
              <a:t>(bf16)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     └─ standard / MLA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          ├─ </a:t>
            </a:r>
            <a:r>
              <a:rPr dirty="0" err="1"/>
              <a:t>is_mla</a:t>
            </a:r>
            <a:r>
              <a:rPr dirty="0"/>
              <a:t>? → 查 layer </a:t>
            </a:r>
            <a:r>
              <a:rPr dirty="0" err="1"/>
              <a:t>获取</a:t>
            </a:r>
            <a:r>
              <a:rPr dirty="0"/>
              <a:t> </a:t>
            </a:r>
            <a:r>
              <a:rPr dirty="0" err="1"/>
              <a:t>kv_lora_rank</a:t>
            </a:r>
            <a:r>
              <a:rPr dirty="0"/>
              <a:t> + </a:t>
            </a:r>
            <a:r>
              <a:rPr dirty="0" err="1"/>
              <a:t>qk_rope_head_dim</a:t>
            </a:r>
            <a:r>
              <a:rPr dirty="0"/>
              <a:t> → </a:t>
            </a:r>
            <a:r>
              <a:rPr dirty="0" err="1"/>
              <a:t>按比例</a:t>
            </a:r>
            <a:r>
              <a:rPr dirty="0"/>
              <a:t> split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          └─ GQA     → 按 </a:t>
            </a:r>
            <a:r>
              <a:rPr dirty="0" err="1"/>
              <a:t>kv_head_dim</a:t>
            </a:r>
            <a:r>
              <a:rPr dirty="0"/>
              <a:t> </a:t>
            </a:r>
            <a:r>
              <a:rPr dirty="0" err="1"/>
              <a:t>比例</a:t>
            </a:r>
            <a:r>
              <a:rPr dirty="0"/>
              <a:t> split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核心问题</a:t>
            </a:r>
            <a:r>
              <a:rPr dirty="0"/>
              <a:t>: </a:t>
            </a:r>
            <a:r>
              <a:rPr dirty="0" err="1"/>
              <a:t>决策逻辑本应由</a:t>
            </a:r>
            <a:r>
              <a:rPr dirty="0"/>
              <a:t> Backend/Spec </a:t>
            </a:r>
            <a:r>
              <a:rPr dirty="0" err="1"/>
              <a:t>封装，却散落在</a:t>
            </a:r>
            <a:r>
              <a:rPr dirty="0"/>
              <a:t> </a:t>
            </a:r>
            <a:r>
              <a:rPr dirty="0" err="1"/>
              <a:t>model_runner</a:t>
            </a:r>
            <a:r>
              <a:rPr dirty="0"/>
              <a:t> 的 if-else 中。</a:t>
            </a:r>
          </a:p>
        </p:txBody>
      </p:sp>
    </p:spTree>
    <p:extLst>
      <p:ext uri="{BB962C8B-B14F-4D97-AF65-F5344CB8AC3E}">
        <p14:creationId xmlns:p14="http://schemas.microsoft.com/office/powerpoint/2010/main" val="15473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>
            <a:extLst>
              <a:ext uri="{FF2B5EF4-FFF2-40B4-BE49-F238E27FC236}">
                <a16:creationId xmlns:a16="http://schemas.microsoft.com/office/drawing/2014/main" id="{80862760-4439-DAF8-F9CC-5F529BDF5CF4}"/>
              </a:ext>
            </a:extLst>
          </p:cNvPr>
          <p:cNvSpPr txBox="1"/>
          <p:nvPr/>
        </p:nvSpPr>
        <p:spPr>
          <a:xfrm>
            <a:off x="54864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C8102E"/>
                </a:solidFill>
                <a:latin typeface="Microsoft YaHei"/>
              </a:defRPr>
            </a:pPr>
            <a:r>
              <a:t>实战拆解：DS V3.2 Sparse MLA — 从 Spec 到 Reshape 的完整链路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04FC4DA4-A712-FAAA-09DB-D982DD7B9FBB}"/>
              </a:ext>
            </a:extLst>
          </p:cNvPr>
          <p:cNvSpPr txBox="1"/>
          <p:nvPr/>
        </p:nvSpPr>
        <p:spPr>
          <a:xfrm>
            <a:off x="548640" y="43891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追踪一个模型经过</a:t>
            </a:r>
            <a:r>
              <a:rPr dirty="0"/>
              <a:t> 4 </a:t>
            </a:r>
            <a:r>
              <a:rPr dirty="0" err="1"/>
              <a:t>层设计</a:t>
            </a:r>
            <a:r>
              <a:rPr dirty="0"/>
              <a:t> → </a:t>
            </a:r>
            <a:r>
              <a:rPr dirty="0" err="1"/>
              <a:t>每一步都在丢失信息</a:t>
            </a:r>
            <a:r>
              <a:rPr dirty="0"/>
              <a:t> → </a:t>
            </a:r>
            <a:r>
              <a:rPr dirty="0" err="1"/>
              <a:t>最终</a:t>
            </a:r>
            <a:r>
              <a:rPr dirty="0"/>
              <a:t> </a:t>
            </a:r>
            <a:r>
              <a:rPr dirty="0" err="1"/>
              <a:t>model_runner</a:t>
            </a:r>
            <a:r>
              <a:rPr dirty="0"/>
              <a:t> </a:t>
            </a:r>
            <a:r>
              <a:rPr dirty="0" err="1"/>
              <a:t>被迫承载全部复杂性</a:t>
            </a:r>
            <a:endParaRPr dirty="0"/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92434E62-4C0A-7597-20D9-7F1E2537FE30}"/>
              </a:ext>
            </a:extLst>
          </p:cNvPr>
          <p:cNvSpPr/>
          <p:nvPr/>
        </p:nvSpPr>
        <p:spPr>
          <a:xfrm>
            <a:off x="274320" y="749808"/>
            <a:ext cx="6583680" cy="787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① Spec 层: </a:t>
            </a:r>
            <a:r>
              <a:rPr dirty="0" err="1"/>
              <a:t>AscendMLAAttentionSpec</a:t>
            </a:r>
            <a:r>
              <a:rPr dirty="0"/>
              <a:t> (</a:t>
            </a:r>
            <a:r>
              <a:rPr dirty="0" err="1"/>
              <a:t>万能类</a:t>
            </a:r>
            <a:r>
              <a:rPr dirty="0"/>
              <a:t>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sparse_head_dim</a:t>
            </a:r>
            <a:r>
              <a:rPr dirty="0"/>
              <a:t>=(512,64,128)  cache_sparse_c8=True/False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scale_dim</a:t>
            </a:r>
            <a:r>
              <a:rPr dirty="0"/>
              <a:t> / </a:t>
            </a:r>
            <a:r>
              <a:rPr dirty="0" err="1"/>
              <a:t>scale_dtype</a:t>
            </a:r>
            <a:r>
              <a:rPr dirty="0"/>
              <a:t> / c8_k_cache_dtype / c8_k_scale_cache_dtype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⚠ </a:t>
            </a:r>
            <a:r>
              <a:rPr dirty="0" err="1"/>
              <a:t>信息丢失</a:t>
            </a:r>
            <a:r>
              <a:rPr dirty="0"/>
              <a:t>: </a:t>
            </a:r>
            <a:r>
              <a:rPr dirty="0" err="1"/>
              <a:t>类型擦除</a:t>
            </a:r>
            <a:r>
              <a:rPr dirty="0"/>
              <a:t> — </a:t>
            </a:r>
            <a:r>
              <a:rPr dirty="0" err="1"/>
              <a:t>isinstance</a:t>
            </a:r>
            <a:r>
              <a:rPr dirty="0"/>
              <a:t>(spec) </a:t>
            </a:r>
            <a:r>
              <a:rPr dirty="0" err="1"/>
              <a:t>不区分</a:t>
            </a:r>
            <a:r>
              <a:rPr dirty="0"/>
              <a:t> 5 种 MLA </a:t>
            </a:r>
            <a:r>
              <a:rPr dirty="0" err="1"/>
              <a:t>变体</a:t>
            </a: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5 </a:t>
            </a:r>
            <a:r>
              <a:rPr dirty="0" err="1"/>
              <a:t>种模型共用同一个类，下游靠</a:t>
            </a:r>
            <a:r>
              <a:rPr dirty="0"/>
              <a:t> if cache_sparse_c8 </a:t>
            </a:r>
            <a:r>
              <a:rPr dirty="0" err="1"/>
              <a:t>恢复类型信息</a:t>
            </a:r>
            <a:endParaRPr dirty="0"/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1D0D20F6-4DB5-0F52-14B7-0577F381AF3F}"/>
              </a:ext>
            </a:extLst>
          </p:cNvPr>
          <p:cNvSpPr txBox="1"/>
          <p:nvPr/>
        </p:nvSpPr>
        <p:spPr>
          <a:xfrm>
            <a:off x="3291840" y="150876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C8102E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3" name="Rounded Rectangle 6">
            <a:extLst>
              <a:ext uri="{FF2B5EF4-FFF2-40B4-BE49-F238E27FC236}">
                <a16:creationId xmlns:a16="http://schemas.microsoft.com/office/drawing/2014/main" id="{45F00BA9-5D4F-866B-0EFE-323F80A26C88}"/>
              </a:ext>
            </a:extLst>
          </p:cNvPr>
          <p:cNvSpPr/>
          <p:nvPr/>
        </p:nvSpPr>
        <p:spPr>
          <a:xfrm>
            <a:off x="274320" y="1719072"/>
            <a:ext cx="6583680" cy="787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② Backend 层: AscendSFABackend.get_kv_cache_shape()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return (N, B, 1, 576)  ← 只能返回 1/N 信息: 一个"参考 shape"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实际: k_nope(N,B,1,512) + k_rope(N,B,1,64) + dsa_k(N,B,1,128) + dsa_scale(N,B,1,?)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⚠ 信息丢失: multi-tensor shape — 接口假设"1 attention = 1 tensor"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NPU 上拆成 3~4 tensor 分别存储，但接口只返回其中 1 个的等价 shape</a:t>
            </a:r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618283BA-2973-F333-EDA5-43EBCE6B47C8}"/>
              </a:ext>
            </a:extLst>
          </p:cNvPr>
          <p:cNvSpPr txBox="1"/>
          <p:nvPr/>
        </p:nvSpPr>
        <p:spPr>
          <a:xfrm>
            <a:off x="3291840" y="247802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C8102E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DF469E11-9CCB-DD8A-E07B-D1C672F59097}"/>
              </a:ext>
            </a:extLst>
          </p:cNvPr>
          <p:cNvSpPr/>
          <p:nvPr/>
        </p:nvSpPr>
        <p:spPr>
          <a:xfrm>
            <a:off x="274320" y="2688336"/>
            <a:ext cx="6583680" cy="787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③ Allocate 层: model_runner 被迫绕过 Backend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kv_lora_rank = attn_layer.kv_lora_rank         ← 直连 Attention layer 掏参数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qk_rope_head_dim = attn_layer.qk_rope_head_dim  ← Backend 的 shape 不够用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⚠ 信息丢失: 分层抽象 — Backend 形同虚设，model_runner 越过接口直取内部状态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C8+A5 → 3 tensor (ckv+dsa_k+scale) | C8+A3 → 4 tensor | no C8 → 3 tensor</a:t>
            </a: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9DB14AB1-93A4-D29F-A0DC-D88A4FF94A0D}"/>
              </a:ext>
            </a:extLst>
          </p:cNvPr>
          <p:cNvSpPr txBox="1"/>
          <p:nvPr/>
        </p:nvSpPr>
        <p:spPr>
          <a:xfrm>
            <a:off x="3291840" y="344728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C8102E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7" name="Rounded Rectangle 10">
            <a:extLst>
              <a:ext uri="{FF2B5EF4-FFF2-40B4-BE49-F238E27FC236}">
                <a16:creationId xmlns:a16="http://schemas.microsoft.com/office/drawing/2014/main" id="{3FAB04A4-ACFB-CDFA-6C4B-0F84B9FD697F}"/>
              </a:ext>
            </a:extLst>
          </p:cNvPr>
          <p:cNvSpPr/>
          <p:nvPr/>
        </p:nvSpPr>
        <p:spPr>
          <a:xfrm>
            <a:off x="274320" y="3657600"/>
            <a:ext cx="6583680" cy="787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④ Reshape 层: _reshape_kv_cache_tensors() — 分支爆炸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A5 C8: k_shape=(N,B,1, kv_lora+rope*2+4*4)  ckv merged, v_cache=None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A3 C8: k_shape=(N,B,1,512) v_shape=(N,B,1,64)  k/v 分离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no C8: k_shape=(N,B,1,512) v_shape=(N,B,1,64)  bf16 全精度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⚠ 信息丢失: 代码可维护性 — C8 × A5/A3 × device 三维分支，~350 行，15+ if-else</a:t>
            </a:r>
          </a:p>
        </p:txBody>
      </p:sp>
      <p:sp>
        <p:nvSpPr>
          <p:cNvPr id="28" name="Rounded Rectangle 11">
            <a:extLst>
              <a:ext uri="{FF2B5EF4-FFF2-40B4-BE49-F238E27FC236}">
                <a16:creationId xmlns:a16="http://schemas.microsoft.com/office/drawing/2014/main" id="{EB643FA4-D215-DD02-8A43-29AC06FC4880}"/>
              </a:ext>
            </a:extLst>
          </p:cNvPr>
          <p:cNvSpPr/>
          <p:nvPr/>
        </p:nvSpPr>
        <p:spPr>
          <a:xfrm>
            <a:off x="6979920" y="731520"/>
            <a:ext cx="4754880" cy="1803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 err="1"/>
              <a:t>上游</a:t>
            </a:r>
            <a:r>
              <a:rPr dirty="0"/>
              <a:t> DS V3.2 Sparse: </a:t>
            </a:r>
            <a:r>
              <a:rPr dirty="0" err="1"/>
              <a:t>同一条链路，正确形态</a:t>
            </a: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 err="1"/>
              <a:t>FlashMLASparseBackend.get_kv_cache_spec</a:t>
            </a:r>
            <a:r>
              <a:rPr dirty="0"/>
              <a:t>():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return </a:t>
            </a:r>
            <a:r>
              <a:rPr dirty="0" err="1"/>
              <a:t>MLAAttentionSpec</a:t>
            </a:r>
            <a:r>
              <a:rPr dirty="0"/>
              <a:t>(         ← 1 </a:t>
            </a:r>
            <a:r>
              <a:rPr dirty="0" err="1"/>
              <a:t>类型</a:t>
            </a:r>
            <a:r>
              <a:rPr dirty="0"/>
              <a:t> 7 </a:t>
            </a:r>
            <a:r>
              <a:rPr dirty="0" err="1"/>
              <a:t>字段</a:t>
            </a: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block_size</a:t>
            </a:r>
            <a:r>
              <a:rPr dirty="0"/>
              <a:t>=..., </a:t>
            </a:r>
            <a:r>
              <a:rPr dirty="0" err="1"/>
              <a:t>num_kv_heads</a:t>
            </a:r>
            <a:r>
              <a:rPr dirty="0"/>
              <a:t>=1,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head_size</a:t>
            </a:r>
            <a:r>
              <a:rPr dirty="0"/>
              <a:t>=576, </a:t>
            </a:r>
            <a:r>
              <a:rPr dirty="0" err="1"/>
              <a:t>dtype</a:t>
            </a:r>
            <a:r>
              <a:rPr dirty="0"/>
              <a:t>=bf16,     ← 零 NPU </a:t>
            </a:r>
            <a:r>
              <a:rPr dirty="0" err="1"/>
              <a:t>概念</a:t>
            </a: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cache_dtype_str</a:t>
            </a:r>
            <a:r>
              <a:rPr dirty="0"/>
              <a:t>="auto")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 err="1"/>
              <a:t>FlashMLASparseBackend.get_kv_cache_shape</a:t>
            </a:r>
            <a:r>
              <a:rPr dirty="0"/>
              <a:t>():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return (N, B, 576)               ← </a:t>
            </a:r>
            <a:r>
              <a:rPr dirty="0" err="1"/>
              <a:t>完整</a:t>
            </a:r>
            <a:r>
              <a:rPr dirty="0"/>
              <a:t> shape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 err="1"/>
              <a:t>model_runner</a:t>
            </a:r>
            <a:r>
              <a:rPr dirty="0"/>
              <a:t> reshape: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tensor.view</a:t>
            </a:r>
            <a:r>
              <a:rPr dirty="0"/>
              <a:t>(bf16).view(N,B,576)  ← ~30 </a:t>
            </a:r>
            <a:r>
              <a:rPr dirty="0" err="1"/>
              <a:t>行，无分支</a:t>
            </a:r>
            <a:endParaRPr dirty="0"/>
          </a:p>
        </p:txBody>
      </p:sp>
      <p:sp>
        <p:nvSpPr>
          <p:cNvPr id="29" name="Rounded Rectangle 12">
            <a:extLst>
              <a:ext uri="{FF2B5EF4-FFF2-40B4-BE49-F238E27FC236}">
                <a16:creationId xmlns:a16="http://schemas.microsoft.com/office/drawing/2014/main" id="{6F193565-6427-E027-E53C-3B97D1EE702B}"/>
              </a:ext>
            </a:extLst>
          </p:cNvPr>
          <p:cNvSpPr/>
          <p:nvPr/>
        </p:nvSpPr>
        <p:spPr>
          <a:xfrm>
            <a:off x="7132320" y="2926080"/>
            <a:ext cx="4754880" cy="17830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3">
            <a:extLst>
              <a:ext uri="{FF2B5EF4-FFF2-40B4-BE49-F238E27FC236}">
                <a16:creationId xmlns:a16="http://schemas.microsoft.com/office/drawing/2014/main" id="{78FB53C5-0836-181C-A65A-667D5D14C4E8}"/>
              </a:ext>
            </a:extLst>
          </p:cNvPr>
          <p:cNvSpPr/>
          <p:nvPr/>
        </p:nvSpPr>
        <p:spPr>
          <a:xfrm>
            <a:off x="7132320" y="2926080"/>
            <a:ext cx="38100" cy="17830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8FC2BB0A-F17F-C8AD-E4D3-9016124B087F}"/>
              </a:ext>
            </a:extLst>
          </p:cNvPr>
          <p:cNvSpPr txBox="1"/>
          <p:nvPr/>
        </p:nvSpPr>
        <p:spPr>
          <a:xfrm>
            <a:off x="7284720" y="3027680"/>
            <a:ext cx="44500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累积后果: model_runner 承载了三层的全部职责</a:t>
            </a: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D1958353-CAF3-DC7A-66BB-71BD5DE9C560}"/>
              </a:ext>
            </a:extLst>
          </p:cNvPr>
          <p:cNvSpPr txBox="1"/>
          <p:nvPr/>
        </p:nvSpPr>
        <p:spPr>
          <a:xfrm>
            <a:off x="7284720" y="3307080"/>
            <a:ext cx="4450080" cy="130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Spec 层的类型区分  →  model_runner 里 if-else 判断 C8/非C8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Layout 层的存储计算 →  model_runner 里 page_size_bytes 三分支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Backend 层的 shape →  model_runner 绕过 Backend 直连 attn_layer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endParaRPr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get_kv_cache_spec()        ~200 行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_reshape_kv_cache_tensors() ~350 行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= ~550 行 model_runner 代码, 15+ if-else 分支</a:t>
            </a:r>
          </a:p>
        </p:txBody>
      </p:sp>
      <p:sp>
        <p:nvSpPr>
          <p:cNvPr id="33" name="Rounded Rectangle 16">
            <a:extLst>
              <a:ext uri="{FF2B5EF4-FFF2-40B4-BE49-F238E27FC236}">
                <a16:creationId xmlns:a16="http://schemas.microsoft.com/office/drawing/2014/main" id="{36A80CD8-F81D-E212-C7AD-15BB361DF744}"/>
              </a:ext>
            </a:extLst>
          </p:cNvPr>
          <p:cNvSpPr/>
          <p:nvPr/>
        </p:nvSpPr>
        <p:spPr>
          <a:xfrm>
            <a:off x="7170420" y="4851908"/>
            <a:ext cx="4754880" cy="1489456"/>
          </a:xfrm>
          <a:prstGeom prst="roundRect">
            <a:avLst>
              <a:gd name="adj" fmla="val 4000"/>
            </a:avLst>
          </a:prstGeom>
          <a:solidFill>
            <a:srgbClr val="FAEBEE"/>
          </a:solidFill>
          <a:ln w="1270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17">
            <a:extLst>
              <a:ext uri="{FF2B5EF4-FFF2-40B4-BE49-F238E27FC236}">
                <a16:creationId xmlns:a16="http://schemas.microsoft.com/office/drawing/2014/main" id="{3D58CC47-C947-51B2-F3DA-2146F67681E1}"/>
              </a:ext>
            </a:extLst>
          </p:cNvPr>
          <p:cNvSpPr/>
          <p:nvPr/>
        </p:nvSpPr>
        <p:spPr>
          <a:xfrm>
            <a:off x="7119620" y="4877308"/>
            <a:ext cx="45719" cy="14640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18">
            <a:extLst>
              <a:ext uri="{FF2B5EF4-FFF2-40B4-BE49-F238E27FC236}">
                <a16:creationId xmlns:a16="http://schemas.microsoft.com/office/drawing/2014/main" id="{92C18308-BB6B-6384-E83B-14A1956C799A}"/>
              </a:ext>
            </a:extLst>
          </p:cNvPr>
          <p:cNvSpPr txBox="1"/>
          <p:nvPr/>
        </p:nvSpPr>
        <p:spPr>
          <a:xfrm>
            <a:off x="7310120" y="4922520"/>
            <a:ext cx="43992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8102E"/>
                </a:solidFill>
                <a:latin typeface="Microsoft YaHei"/>
              </a:defRPr>
            </a:pPr>
            <a:r>
              <a:t>&gt; 根因链</a:t>
            </a:r>
          </a:p>
        </p:txBody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A93E10F0-BA41-1B1F-4C60-8309DC01404B}"/>
              </a:ext>
            </a:extLst>
          </p:cNvPr>
          <p:cNvSpPr txBox="1"/>
          <p:nvPr/>
        </p:nvSpPr>
        <p:spPr>
          <a:xfrm>
            <a:off x="7310120" y="5100320"/>
            <a:ext cx="43992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Spec </a:t>
            </a:r>
            <a:r>
              <a:rPr dirty="0" err="1"/>
              <a:t>万能类</a:t>
            </a:r>
            <a:r>
              <a:rPr dirty="0"/>
              <a:t> (</a:t>
            </a:r>
            <a:r>
              <a:rPr dirty="0" err="1"/>
              <a:t>类型擦除</a:t>
            </a:r>
            <a:r>
              <a:rPr dirty="0"/>
              <a:t>) → Backend </a:t>
            </a:r>
            <a:r>
              <a:rPr dirty="0" err="1"/>
              <a:t>接口不足</a:t>
            </a:r>
            <a:r>
              <a:rPr dirty="0"/>
              <a:t> (</a:t>
            </a:r>
            <a:r>
              <a:rPr dirty="0" err="1"/>
              <a:t>信息量</a:t>
            </a:r>
            <a:r>
              <a:rPr dirty="0"/>
              <a:t> 1/N)</a:t>
            </a:r>
            <a:br>
              <a:rPr dirty="0"/>
            </a:br>
            <a:r>
              <a:rPr dirty="0"/>
              <a:t>→ Layout </a:t>
            </a:r>
            <a:r>
              <a:rPr dirty="0" err="1"/>
              <a:t>缺失</a:t>
            </a:r>
            <a:r>
              <a:rPr dirty="0"/>
              <a:t> (</a:t>
            </a:r>
            <a:r>
              <a:rPr dirty="0" err="1"/>
              <a:t>存储计算无承载层</a:t>
            </a:r>
            <a:r>
              <a:rPr dirty="0"/>
              <a:t>) → </a:t>
            </a:r>
            <a:r>
              <a:rPr dirty="0" err="1"/>
              <a:t>三者叠加</a:t>
            </a:r>
            <a:br>
              <a:rPr dirty="0"/>
            </a:br>
            <a:r>
              <a:rPr dirty="0"/>
              <a:t>→ </a:t>
            </a:r>
            <a:r>
              <a:rPr dirty="0" err="1"/>
              <a:t>model_runner</a:t>
            </a:r>
            <a:r>
              <a:rPr dirty="0"/>
              <a:t> </a:t>
            </a:r>
            <a:r>
              <a:rPr dirty="0" err="1"/>
              <a:t>作为最终执行者被迫接管所有上游放弃的职责</a:t>
            </a:r>
            <a:br>
              <a:rPr dirty="0"/>
            </a:br>
            <a:r>
              <a:rPr dirty="0"/>
              <a:t>→ </a:t>
            </a:r>
            <a:r>
              <a:rPr dirty="0" err="1"/>
              <a:t>这不是"方法写太长"的风格问题，是三层设计缺陷的必然结果</a:t>
            </a:r>
            <a:endParaRPr dirty="0"/>
          </a:p>
        </p:txBody>
      </p:sp>
      <p:sp>
        <p:nvSpPr>
          <p:cNvPr id="37" name="Rounded Rectangle 20">
            <a:extLst>
              <a:ext uri="{FF2B5EF4-FFF2-40B4-BE49-F238E27FC236}">
                <a16:creationId xmlns:a16="http://schemas.microsoft.com/office/drawing/2014/main" id="{76502029-0A98-4D75-8C94-5F4EE603FA42}"/>
              </a:ext>
            </a:extLst>
          </p:cNvPr>
          <p:cNvSpPr/>
          <p:nvPr/>
        </p:nvSpPr>
        <p:spPr>
          <a:xfrm>
            <a:off x="223520" y="4454144"/>
            <a:ext cx="2103120" cy="19202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21">
            <a:extLst>
              <a:ext uri="{FF2B5EF4-FFF2-40B4-BE49-F238E27FC236}">
                <a16:creationId xmlns:a16="http://schemas.microsoft.com/office/drawing/2014/main" id="{7108A479-640C-03C5-928E-4A3C6E5C5D3D}"/>
              </a:ext>
            </a:extLst>
          </p:cNvPr>
          <p:cNvSpPr/>
          <p:nvPr/>
        </p:nvSpPr>
        <p:spPr>
          <a:xfrm>
            <a:off x="223520" y="4454144"/>
            <a:ext cx="38100" cy="192024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D03ABF62-83E1-241F-C1B3-275F706482DD}"/>
              </a:ext>
            </a:extLst>
          </p:cNvPr>
          <p:cNvSpPr txBox="1"/>
          <p:nvPr/>
        </p:nvSpPr>
        <p:spPr>
          <a:xfrm>
            <a:off x="375920" y="4555744"/>
            <a:ext cx="17983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0B"/>
                </a:solidFill>
                <a:latin typeface="Microsoft YaHei"/>
              </a:defRPr>
            </a:pPr>
            <a:r>
              <a:t>bf16 (no C8): 3 tensor</a:t>
            </a:r>
          </a:p>
        </p:txBody>
      </p:sp>
      <p:sp>
        <p:nvSpPr>
          <p:cNvPr id="40" name="TextBox 23">
            <a:extLst>
              <a:ext uri="{FF2B5EF4-FFF2-40B4-BE49-F238E27FC236}">
                <a16:creationId xmlns:a16="http://schemas.microsoft.com/office/drawing/2014/main" id="{181D5026-3CC9-17D7-4A1F-FA6E4AA79137}"/>
              </a:ext>
            </a:extLst>
          </p:cNvPr>
          <p:cNvSpPr txBox="1"/>
          <p:nvPr/>
        </p:nvSpPr>
        <p:spPr>
          <a:xfrm>
            <a:off x="375920" y="4835144"/>
            <a:ext cx="1798320" cy="143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k_nope  (N,B,1,512) bf16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rope    (N,B,1,64)  bf16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dsa_k   (N,B,1,128) bf16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──────────────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Per token: 1408 B</a:t>
            </a:r>
          </a:p>
        </p:txBody>
      </p:sp>
      <p:sp>
        <p:nvSpPr>
          <p:cNvPr id="41" name="Rounded Rectangle 24">
            <a:extLst>
              <a:ext uri="{FF2B5EF4-FFF2-40B4-BE49-F238E27FC236}">
                <a16:creationId xmlns:a16="http://schemas.microsoft.com/office/drawing/2014/main" id="{9DF6474F-63A1-99C0-A942-31F86E79C97F}"/>
              </a:ext>
            </a:extLst>
          </p:cNvPr>
          <p:cNvSpPr/>
          <p:nvPr/>
        </p:nvSpPr>
        <p:spPr>
          <a:xfrm>
            <a:off x="2509520" y="4454144"/>
            <a:ext cx="2103120" cy="19202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F4684AC7-0438-8EA1-B752-D6B639ABB7D7}"/>
              </a:ext>
            </a:extLst>
          </p:cNvPr>
          <p:cNvSpPr/>
          <p:nvPr/>
        </p:nvSpPr>
        <p:spPr>
          <a:xfrm>
            <a:off x="2509520" y="4454144"/>
            <a:ext cx="38100" cy="1920240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26">
            <a:extLst>
              <a:ext uri="{FF2B5EF4-FFF2-40B4-BE49-F238E27FC236}">
                <a16:creationId xmlns:a16="http://schemas.microsoft.com/office/drawing/2014/main" id="{E1AA3343-9251-F0CE-BA14-56845B6427BD}"/>
              </a:ext>
            </a:extLst>
          </p:cNvPr>
          <p:cNvSpPr txBox="1"/>
          <p:nvPr/>
        </p:nvSpPr>
        <p:spPr>
          <a:xfrm>
            <a:off x="2661920" y="4555744"/>
            <a:ext cx="17983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ED6C00"/>
                </a:solidFill>
                <a:latin typeface="Microsoft YaHei"/>
              </a:defRPr>
            </a:pPr>
            <a:r>
              <a:t>int8 C8 (A3): 4 tensor</a:t>
            </a:r>
          </a:p>
        </p:txBody>
      </p:sp>
      <p:sp>
        <p:nvSpPr>
          <p:cNvPr id="44" name="TextBox 27">
            <a:extLst>
              <a:ext uri="{FF2B5EF4-FFF2-40B4-BE49-F238E27FC236}">
                <a16:creationId xmlns:a16="http://schemas.microsoft.com/office/drawing/2014/main" id="{1B314802-074F-259E-896D-D397088D9CF4}"/>
              </a:ext>
            </a:extLst>
          </p:cNvPr>
          <p:cNvSpPr txBox="1"/>
          <p:nvPr/>
        </p:nvSpPr>
        <p:spPr>
          <a:xfrm>
            <a:off x="2661920" y="4835144"/>
            <a:ext cx="1798320" cy="143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k_nope  (N,B,1,512) bf16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rope    (N,B,1,64)  bf16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dsa_k   (N,B,1,128) int8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scale   (N,B,1,1)   fp16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──────────────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Per token: 1282 B</a:t>
            </a:r>
          </a:p>
        </p:txBody>
      </p:sp>
      <p:sp>
        <p:nvSpPr>
          <p:cNvPr id="45" name="Rounded Rectangle 28">
            <a:extLst>
              <a:ext uri="{FF2B5EF4-FFF2-40B4-BE49-F238E27FC236}">
                <a16:creationId xmlns:a16="http://schemas.microsoft.com/office/drawing/2014/main" id="{D749AA7B-10BC-81F0-CB53-8633B158C9C5}"/>
              </a:ext>
            </a:extLst>
          </p:cNvPr>
          <p:cNvSpPr/>
          <p:nvPr/>
        </p:nvSpPr>
        <p:spPr>
          <a:xfrm>
            <a:off x="4795520" y="4454144"/>
            <a:ext cx="2103120" cy="19202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29">
            <a:extLst>
              <a:ext uri="{FF2B5EF4-FFF2-40B4-BE49-F238E27FC236}">
                <a16:creationId xmlns:a16="http://schemas.microsoft.com/office/drawing/2014/main" id="{EDE19773-F8EB-76DE-232B-8416795025ED}"/>
              </a:ext>
            </a:extLst>
          </p:cNvPr>
          <p:cNvSpPr/>
          <p:nvPr/>
        </p:nvSpPr>
        <p:spPr>
          <a:xfrm>
            <a:off x="4795520" y="4454144"/>
            <a:ext cx="38100" cy="19202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30">
            <a:extLst>
              <a:ext uri="{FF2B5EF4-FFF2-40B4-BE49-F238E27FC236}">
                <a16:creationId xmlns:a16="http://schemas.microsoft.com/office/drawing/2014/main" id="{FFDB3018-ED23-25C2-E417-3B0EAA34D13D}"/>
              </a:ext>
            </a:extLst>
          </p:cNvPr>
          <p:cNvSpPr txBox="1"/>
          <p:nvPr/>
        </p:nvSpPr>
        <p:spPr>
          <a:xfrm>
            <a:off x="4947920" y="4555744"/>
            <a:ext cx="17983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fp8 C8 (A5): 3 tensor</a:t>
            </a:r>
          </a:p>
        </p:txBody>
      </p:sp>
      <p:sp>
        <p:nvSpPr>
          <p:cNvPr id="48" name="TextBox 31">
            <a:extLst>
              <a:ext uri="{FF2B5EF4-FFF2-40B4-BE49-F238E27FC236}">
                <a16:creationId xmlns:a16="http://schemas.microsoft.com/office/drawing/2014/main" id="{17D996A9-F9B7-0AD4-1412-AD54D3D3A654}"/>
              </a:ext>
            </a:extLst>
          </p:cNvPr>
          <p:cNvSpPr txBox="1"/>
          <p:nvPr/>
        </p:nvSpPr>
        <p:spPr>
          <a:xfrm>
            <a:off x="4947920" y="4835144"/>
            <a:ext cx="1798320" cy="143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ckv     (N,B,1,704) fp8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← kv_lora + rope 合并!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dsa_k   (N,B,1,128) fp8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scale   (N,B,1,1)   fp32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──────────────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Per token: 644 B</a:t>
            </a:r>
          </a:p>
        </p:txBody>
      </p:sp>
    </p:spTree>
    <p:extLst>
      <p:ext uri="{BB962C8B-B14F-4D97-AF65-F5344CB8AC3E}">
        <p14:creationId xmlns:p14="http://schemas.microsoft.com/office/powerpoint/2010/main" val="1415343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">
            <a:extLst>
              <a:ext uri="{FF2B5EF4-FFF2-40B4-BE49-F238E27FC236}">
                <a16:creationId xmlns:a16="http://schemas.microsoft.com/office/drawing/2014/main" id="{F8E76B7D-D622-6A0F-D19F-3FD9C301DCC2}"/>
              </a:ext>
            </a:extLst>
          </p:cNvPr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16 / 30</a:t>
            </a: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4B935D01-902D-417F-C934-49956D41AAE2}"/>
              </a:ext>
            </a:extLst>
          </p:cNvPr>
          <p:cNvSpPr txBox="1"/>
          <p:nvPr/>
        </p:nvSpPr>
        <p:spPr>
          <a:xfrm>
            <a:off x="155448" y="-142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ED6C00"/>
                </a:solidFill>
                <a:latin typeface="Microsoft YaHei"/>
              </a:defRPr>
            </a:pPr>
            <a:r>
              <a:rPr dirty="0"/>
              <a:t>Reshape </a:t>
            </a:r>
            <a:r>
              <a:rPr dirty="0" err="1"/>
              <a:t>管线：上游</a:t>
            </a:r>
            <a:r>
              <a:rPr dirty="0"/>
              <a:t> ~30 行 vs Ascend ~350 行 — </a:t>
            </a:r>
            <a:r>
              <a:rPr dirty="0" err="1"/>
              <a:t>as_strided</a:t>
            </a:r>
            <a:r>
              <a:rPr dirty="0"/>
              <a:t> </a:t>
            </a:r>
            <a:r>
              <a:rPr dirty="0" err="1"/>
              <a:t>到底在服务什么</a:t>
            </a:r>
            <a:r>
              <a:rPr dirty="0"/>
              <a:t>？</a:t>
            </a: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B3F622C3-B629-7C82-B804-3107CA112D6F}"/>
              </a:ext>
            </a:extLst>
          </p:cNvPr>
          <p:cNvSpPr txBox="1"/>
          <p:nvPr/>
        </p:nvSpPr>
        <p:spPr>
          <a:xfrm>
            <a:off x="216408" y="37490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同一个工具</a:t>
            </a:r>
            <a:r>
              <a:rPr dirty="0"/>
              <a:t> (</a:t>
            </a:r>
            <a:r>
              <a:rPr dirty="0" err="1"/>
              <a:t>as_strided</a:t>
            </a:r>
            <a:r>
              <a:rPr dirty="0"/>
              <a:t>): </a:t>
            </a:r>
            <a:r>
              <a:rPr dirty="0" err="1"/>
              <a:t>上游服务通用运行时</a:t>
            </a:r>
            <a:r>
              <a:rPr dirty="0"/>
              <a:t> (page padding) → Ascend </a:t>
            </a:r>
            <a:r>
              <a:rPr dirty="0" err="1"/>
              <a:t>被迫承载模型语义</a:t>
            </a:r>
            <a:r>
              <a:rPr dirty="0"/>
              <a:t> (compress/overlay/epilog) → </a:t>
            </a:r>
            <a:r>
              <a:rPr dirty="0" err="1"/>
              <a:t>职责错配</a:t>
            </a:r>
            <a:endParaRPr dirty="0"/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593AEFBC-F3A8-1363-C833-D17866F46267}"/>
              </a:ext>
            </a:extLst>
          </p:cNvPr>
          <p:cNvSpPr/>
          <p:nvPr/>
        </p:nvSpPr>
        <p:spPr>
          <a:xfrm>
            <a:off x="274320" y="596900"/>
            <a:ext cx="6583680" cy="1295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① </a:t>
            </a:r>
            <a:r>
              <a:rPr dirty="0" err="1"/>
              <a:t>上游</a:t>
            </a:r>
            <a:r>
              <a:rPr dirty="0"/>
              <a:t> Reshape: </a:t>
            </a:r>
            <a:r>
              <a:rPr dirty="0" err="1"/>
              <a:t>as_strided</a:t>
            </a:r>
            <a:r>
              <a:rPr dirty="0"/>
              <a:t> </a:t>
            </a:r>
            <a:r>
              <a:rPr dirty="0" err="1"/>
              <a:t>仅服务</a:t>
            </a:r>
            <a:r>
              <a:rPr dirty="0"/>
              <a:t> page padding (</a:t>
            </a:r>
            <a:r>
              <a:rPr dirty="0" err="1"/>
              <a:t>通用需求，与模型无关</a:t>
            </a:r>
            <a:r>
              <a:rPr dirty="0"/>
              <a:t>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def _</a:t>
            </a:r>
            <a:r>
              <a:rPr dirty="0" err="1"/>
              <a:t>reshape_kv_cache</a:t>
            </a:r>
            <a:r>
              <a:rPr dirty="0"/>
              <a:t>(config, raw, backends):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for group in </a:t>
            </a:r>
            <a:r>
              <a:rPr dirty="0" err="1"/>
              <a:t>config.kv_cache_groups</a:t>
            </a:r>
            <a:r>
              <a:rPr dirty="0"/>
              <a:t>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</a:t>
            </a:r>
            <a:r>
              <a:rPr dirty="0" err="1"/>
              <a:t>kv_tensor</a:t>
            </a:r>
            <a:r>
              <a:rPr dirty="0"/>
              <a:t> = raw[layer].view(</a:t>
            </a:r>
            <a:r>
              <a:rPr dirty="0" err="1"/>
              <a:t>dtype</a:t>
            </a:r>
            <a:r>
              <a:rPr dirty="0"/>
              <a:t>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if </a:t>
            </a:r>
            <a:r>
              <a:rPr dirty="0" err="1"/>
              <a:t>spec.page_size_padded</a:t>
            </a:r>
            <a:r>
              <a:rPr dirty="0"/>
              <a:t>:      ← </a:t>
            </a:r>
            <a:r>
              <a:rPr dirty="0" err="1"/>
              <a:t>唯一分支条件</a:t>
            </a:r>
            <a:r>
              <a:rPr dirty="0"/>
              <a:t>: </a:t>
            </a:r>
            <a:r>
              <a:rPr dirty="0" err="1"/>
              <a:t>运行时</a:t>
            </a:r>
            <a:r>
              <a:rPr dirty="0"/>
              <a:t> page padding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</a:t>
            </a:r>
            <a:r>
              <a:rPr dirty="0" err="1"/>
              <a:t>kv_cache</a:t>
            </a:r>
            <a:r>
              <a:rPr dirty="0"/>
              <a:t> = </a:t>
            </a:r>
            <a:r>
              <a:rPr dirty="0" err="1"/>
              <a:t>as_strided</a:t>
            </a:r>
            <a:r>
              <a:rPr dirty="0"/>
              <a:t>(</a:t>
            </a:r>
            <a:r>
              <a:rPr dirty="0" err="1"/>
              <a:t>kv_tensor</a:t>
            </a:r>
            <a:r>
              <a:rPr dirty="0"/>
              <a:t>, shape, stride)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else: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        </a:t>
            </a:r>
            <a:r>
              <a:rPr dirty="0" err="1"/>
              <a:t>kv_cache</a:t>
            </a:r>
            <a:r>
              <a:rPr dirty="0"/>
              <a:t> = </a:t>
            </a:r>
            <a:r>
              <a:rPr dirty="0" err="1"/>
              <a:t>kv_tensor.view</a:t>
            </a:r>
            <a:r>
              <a:rPr dirty="0"/>
              <a:t>(shape)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# ~30 </a:t>
            </a:r>
            <a:r>
              <a:rPr dirty="0" err="1"/>
              <a:t>行。所有模型类型走同一条路径。as_strided</a:t>
            </a:r>
            <a:r>
              <a:rPr dirty="0"/>
              <a:t> 的 stride 由 config </a:t>
            </a:r>
            <a:r>
              <a:rPr dirty="0" err="1"/>
              <a:t>决定，不是模型</a:t>
            </a:r>
            <a:r>
              <a:rPr dirty="0"/>
              <a:t>。</a:t>
            </a:r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E3ED744E-918D-2D83-8B6B-AE2C05B12CA0}"/>
              </a:ext>
            </a:extLst>
          </p:cNvPr>
          <p:cNvSpPr/>
          <p:nvPr/>
        </p:nvSpPr>
        <p:spPr>
          <a:xfrm>
            <a:off x="274320" y="2050288"/>
            <a:ext cx="6583680" cy="1530096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② Ascend Reshape: _</a:t>
            </a:r>
            <a:r>
              <a:rPr dirty="0" err="1"/>
              <a:t>reshape_kv_cache_tensors</a:t>
            </a:r>
            <a:r>
              <a:rPr dirty="0"/>
              <a:t>() — </a:t>
            </a:r>
            <a:r>
              <a:rPr dirty="0" err="1"/>
              <a:t>每个模型类型一个分支</a:t>
            </a: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if </a:t>
            </a:r>
            <a:r>
              <a:rPr dirty="0" err="1"/>
              <a:t>use_compress</a:t>
            </a:r>
            <a:r>
              <a:rPr dirty="0"/>
              <a:t>:              # DS V4 Compress MLA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A5: 3 </a:t>
            </a:r>
            <a:r>
              <a:rPr dirty="0" err="1"/>
              <a:t>as_strided</a:t>
            </a:r>
            <a:r>
              <a:rPr dirty="0"/>
              <a:t> views (K + scale + </a:t>
            </a:r>
            <a:r>
              <a:rPr dirty="0" err="1"/>
              <a:t>K+scale</a:t>
            </a:r>
            <a:r>
              <a:rPr dirty="0"/>
              <a:t> overlay) ← epilog kernel </a:t>
            </a:r>
            <a:r>
              <a:rPr dirty="0" err="1"/>
              <a:t>需要叠加</a:t>
            </a: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A3: 2 </a:t>
            </a:r>
            <a:r>
              <a:rPr dirty="0" err="1"/>
              <a:t>as_strided</a:t>
            </a:r>
            <a:r>
              <a:rPr dirty="0"/>
              <a:t> views (K + scale)                    ← </a:t>
            </a:r>
            <a:r>
              <a:rPr dirty="0" err="1"/>
              <a:t>不同硬件不同视图数</a:t>
            </a: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elif</a:t>
            </a:r>
            <a:r>
              <a:rPr dirty="0"/>
              <a:t> </a:t>
            </a:r>
            <a:r>
              <a:rPr dirty="0" err="1"/>
              <a:t>use_sparse</a:t>
            </a:r>
            <a:r>
              <a:rPr dirty="0"/>
              <a:t>:             # DS V3.2 / GLM5.1 Sparse MLA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  C8+A5: CKV merged (</a:t>
            </a:r>
            <a:r>
              <a:rPr dirty="0" err="1"/>
              <a:t>v_cache</a:t>
            </a:r>
            <a:r>
              <a:rPr dirty="0"/>
              <a:t>=None) | C8+A3: k/v </a:t>
            </a:r>
            <a:r>
              <a:rPr dirty="0" err="1"/>
              <a:t>分离</a:t>
            </a:r>
            <a:r>
              <a:rPr dirty="0"/>
              <a:t> | no C8: bf16 </a:t>
            </a:r>
            <a:r>
              <a:rPr dirty="0" err="1"/>
              <a:t>全精度</a:t>
            </a: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elif</a:t>
            </a:r>
            <a:r>
              <a:rPr dirty="0"/>
              <a:t> hybrid:                 # Qwen3.5: attention + mamba </a:t>
            </a:r>
            <a:r>
              <a:rPr dirty="0" err="1"/>
              <a:t>共存，切片适配</a:t>
            </a: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elif</a:t>
            </a:r>
            <a:r>
              <a:rPr dirty="0"/>
              <a:t> </a:t>
            </a:r>
            <a:r>
              <a:rPr dirty="0" err="1"/>
              <a:t>cache_only</a:t>
            </a:r>
            <a:r>
              <a:rPr dirty="0"/>
              <a:t>: ...         # 纯 cache </a:t>
            </a:r>
            <a:r>
              <a:rPr dirty="0" err="1"/>
              <a:t>场景</a:t>
            </a: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else: ...                    # GQA / </a:t>
            </a:r>
            <a:r>
              <a:rPr dirty="0" err="1"/>
              <a:t>标准</a:t>
            </a:r>
            <a:r>
              <a:rPr dirty="0"/>
              <a:t> MLA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# ~350 </a:t>
            </a:r>
            <a:r>
              <a:rPr dirty="0" err="1"/>
              <a:t>行。as_strided</a:t>
            </a:r>
            <a:r>
              <a:rPr dirty="0"/>
              <a:t> 的 stride 由 </a:t>
            </a:r>
            <a:r>
              <a:rPr dirty="0" err="1"/>
              <a:t>模型架构</a:t>
            </a:r>
            <a:r>
              <a:rPr dirty="0"/>
              <a:t>(</a:t>
            </a:r>
            <a:r>
              <a:rPr dirty="0" err="1"/>
              <a:t>NPU算子需求</a:t>
            </a:r>
            <a:r>
              <a:rPr dirty="0"/>
              <a:t>) </a:t>
            </a:r>
            <a:r>
              <a:rPr dirty="0" err="1"/>
              <a:t>决定，不是通用参数</a:t>
            </a:r>
            <a:r>
              <a:rPr dirty="0"/>
              <a:t>。</a:t>
            </a:r>
          </a:p>
        </p:txBody>
      </p:sp>
      <p:sp>
        <p:nvSpPr>
          <p:cNvPr id="21" name="Rounded Rectangle 8">
            <a:extLst>
              <a:ext uri="{FF2B5EF4-FFF2-40B4-BE49-F238E27FC236}">
                <a16:creationId xmlns:a16="http://schemas.microsoft.com/office/drawing/2014/main" id="{BE7E7E10-320E-7CD0-599B-9424F1DF968B}"/>
              </a:ext>
            </a:extLst>
          </p:cNvPr>
          <p:cNvSpPr/>
          <p:nvPr/>
        </p:nvSpPr>
        <p:spPr>
          <a:xfrm>
            <a:off x="255270" y="3630168"/>
            <a:ext cx="6583680" cy="1708912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6B21D187-9443-85B2-CAEA-ABCABBCC99E8}"/>
              </a:ext>
            </a:extLst>
          </p:cNvPr>
          <p:cNvSpPr/>
          <p:nvPr/>
        </p:nvSpPr>
        <p:spPr>
          <a:xfrm>
            <a:off x="255270" y="3630168"/>
            <a:ext cx="38100" cy="1708912"/>
          </a:xfrm>
          <a:prstGeom prst="rect">
            <a:avLst/>
          </a:prstGeom>
          <a:solidFill>
            <a:srgbClr val="C60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B3E65F92-AD5A-CB84-38BA-EABA67207970}"/>
              </a:ext>
            </a:extLst>
          </p:cNvPr>
          <p:cNvSpPr txBox="1"/>
          <p:nvPr/>
        </p:nvSpPr>
        <p:spPr>
          <a:xfrm>
            <a:off x="306070" y="3668776"/>
            <a:ext cx="62788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54"/>
                </a:solidFill>
                <a:latin typeface="Microsoft YaHei"/>
              </a:defRPr>
            </a:pPr>
            <a:r>
              <a:t>③ 极端案例: DS V4 Compress MLA — 最简单的 Allocate，最复杂的 Reshape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4CBFF0F8-8975-E079-9C67-ACF3F7ED7E14}"/>
              </a:ext>
            </a:extLst>
          </p:cNvPr>
          <p:cNvSpPr txBox="1"/>
          <p:nvPr/>
        </p:nvSpPr>
        <p:spPr>
          <a:xfrm>
            <a:off x="407670" y="3972560"/>
            <a:ext cx="6431280" cy="1224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Allocate: 1 个 int8 </a:t>
            </a:r>
            <a:r>
              <a:rPr dirty="0" err="1"/>
              <a:t>buffer，不拆分</a:t>
            </a:r>
            <a:r>
              <a:rPr dirty="0"/>
              <a:t> ← </a:t>
            </a:r>
            <a:r>
              <a:rPr dirty="0" err="1"/>
              <a:t>物理上最简单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Reshape: 3 个 </a:t>
            </a:r>
            <a:r>
              <a:rPr dirty="0" err="1"/>
              <a:t>as_strided</a:t>
            </a:r>
            <a:r>
              <a:rPr dirty="0"/>
              <a:t> overlay views ← </a:t>
            </a:r>
            <a:r>
              <a:rPr dirty="0" err="1"/>
              <a:t>逻辑上最复杂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View 1: K (</a:t>
            </a:r>
            <a:r>
              <a:rPr dirty="0" err="1"/>
              <a:t>独立</a:t>
            </a:r>
            <a:r>
              <a:rPr dirty="0"/>
              <a:t> tensor)     View 2: scale (</a:t>
            </a:r>
            <a:r>
              <a:rPr dirty="0" err="1"/>
              <a:t>独立</a:t>
            </a:r>
            <a:r>
              <a:rPr dirty="0"/>
              <a:t> tensor)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View 3: K + scale </a:t>
            </a:r>
            <a:r>
              <a:rPr dirty="0" err="1"/>
              <a:t>叠加视图</a:t>
            </a:r>
            <a:r>
              <a:rPr dirty="0"/>
              <a:t> (offset=0 in raw buffer, </a:t>
            </a:r>
            <a:r>
              <a:rPr dirty="0" err="1"/>
              <a:t>不同</a:t>
            </a:r>
            <a:r>
              <a:rPr dirty="0"/>
              <a:t> stride)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← epilog kernel </a:t>
            </a:r>
            <a:r>
              <a:rPr dirty="0" err="1"/>
              <a:t>需要同一个</a:t>
            </a:r>
            <a:r>
              <a:rPr dirty="0"/>
              <a:t> buffer </a:t>
            </a:r>
            <a:r>
              <a:rPr dirty="0" err="1"/>
              <a:t>上的叠加访问，这是</a:t>
            </a:r>
            <a:r>
              <a:rPr dirty="0"/>
              <a:t> NPU </a:t>
            </a:r>
            <a:r>
              <a:rPr dirty="0" err="1"/>
              <a:t>算子的语义需求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compress_ratio</a:t>
            </a:r>
            <a:r>
              <a:rPr dirty="0"/>
              <a:t> C4/C128 → </a:t>
            </a:r>
            <a:r>
              <a:rPr dirty="0" err="1"/>
              <a:t>storage_block_size</a:t>
            </a:r>
            <a:r>
              <a:rPr dirty="0"/>
              <a:t> = </a:t>
            </a:r>
            <a:r>
              <a:rPr dirty="0" err="1"/>
              <a:t>block_size</a:t>
            </a:r>
            <a:r>
              <a:rPr dirty="0"/>
              <a:t> // </a:t>
            </a:r>
            <a:r>
              <a:rPr dirty="0" err="1"/>
              <a:t>compress_ratio</a:t>
            </a:r>
            <a:r>
              <a:rPr dirty="0"/>
              <a:t> → </a:t>
            </a:r>
            <a:r>
              <a:rPr dirty="0" err="1"/>
              <a:t>时间维度压缩</a:t>
            </a:r>
            <a:endParaRPr dirty="0"/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2671C606-4687-A61B-29C8-0F2ED4166EF3}"/>
              </a:ext>
            </a:extLst>
          </p:cNvPr>
          <p:cNvSpPr/>
          <p:nvPr/>
        </p:nvSpPr>
        <p:spPr>
          <a:xfrm>
            <a:off x="199262" y="5437662"/>
            <a:ext cx="6743699" cy="952978"/>
          </a:xfrm>
          <a:prstGeom prst="roundRect">
            <a:avLst>
              <a:gd name="adj" fmla="val 4000"/>
            </a:avLst>
          </a:prstGeom>
          <a:solidFill>
            <a:srgbClr val="FAEAF1"/>
          </a:solidFill>
          <a:ln w="12700">
            <a:solidFill>
              <a:srgbClr val="FF3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6B118241-2530-F1EF-F4DB-5236EFD00466}"/>
              </a:ext>
            </a:extLst>
          </p:cNvPr>
          <p:cNvSpPr txBox="1"/>
          <p:nvPr/>
        </p:nvSpPr>
        <p:spPr>
          <a:xfrm>
            <a:off x="433070" y="5463031"/>
            <a:ext cx="6228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60054"/>
                </a:solidFill>
                <a:latin typeface="Microsoft YaHei"/>
              </a:defRPr>
            </a:pPr>
            <a:r>
              <a:t>&gt; 复杂度倒挂的根因</a:t>
            </a: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D55D5470-320F-0D73-7D75-A43895E38D7A}"/>
              </a:ext>
            </a:extLst>
          </p:cNvPr>
          <p:cNvSpPr txBox="1"/>
          <p:nvPr/>
        </p:nvSpPr>
        <p:spPr>
          <a:xfrm>
            <a:off x="313561" y="5647960"/>
            <a:ext cx="6743700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Allocate </a:t>
            </a:r>
            <a:r>
              <a:rPr dirty="0" err="1"/>
              <a:t>简单</a:t>
            </a:r>
            <a:r>
              <a:rPr dirty="0"/>
              <a:t> = </a:t>
            </a:r>
            <a:r>
              <a:rPr dirty="0" err="1"/>
              <a:t>模型本身简单</a:t>
            </a:r>
            <a:r>
              <a:rPr dirty="0"/>
              <a:t> (1 种 </a:t>
            </a:r>
            <a:r>
              <a:rPr dirty="0" err="1"/>
              <a:t>tensor，不拆分</a:t>
            </a:r>
            <a:r>
              <a:rPr dirty="0"/>
              <a:t>)</a:t>
            </a:r>
            <a:br>
              <a:rPr dirty="0"/>
            </a:br>
            <a:r>
              <a:rPr dirty="0"/>
              <a:t>Reshape </a:t>
            </a:r>
            <a:r>
              <a:rPr dirty="0" err="1"/>
              <a:t>复杂</a:t>
            </a:r>
            <a:r>
              <a:rPr dirty="0"/>
              <a:t> = NPU </a:t>
            </a:r>
            <a:r>
              <a:rPr dirty="0" err="1"/>
              <a:t>算子要求复杂的视图叠加</a:t>
            </a:r>
            <a:r>
              <a:rPr dirty="0"/>
              <a:t> (epilog kernel </a:t>
            </a:r>
            <a:r>
              <a:rPr dirty="0" err="1"/>
              <a:t>的语义下沉到了</a:t>
            </a:r>
            <a:r>
              <a:rPr dirty="0"/>
              <a:t> reshape)</a:t>
            </a:r>
            <a:br>
              <a:rPr dirty="0"/>
            </a:br>
            <a:r>
              <a:rPr dirty="0"/>
              <a:t>→ </a:t>
            </a:r>
            <a:r>
              <a:rPr dirty="0" err="1"/>
              <a:t>上游</a:t>
            </a:r>
            <a:r>
              <a:rPr dirty="0"/>
              <a:t> Spec/Layout </a:t>
            </a:r>
            <a:r>
              <a:rPr dirty="0" err="1"/>
              <a:t>没有告诉</a:t>
            </a:r>
            <a:r>
              <a:rPr dirty="0"/>
              <a:t> reshape "</a:t>
            </a:r>
            <a:r>
              <a:rPr dirty="0" err="1"/>
              <a:t>这块</a:t>
            </a:r>
            <a:r>
              <a:rPr dirty="0"/>
              <a:t> buffer </a:t>
            </a:r>
            <a:r>
              <a:rPr dirty="0" err="1"/>
              <a:t>怎么解读</a:t>
            </a:r>
            <a:r>
              <a:rPr dirty="0"/>
              <a:t>"</a:t>
            </a:r>
            <a:br>
              <a:rPr dirty="0"/>
            </a:br>
            <a:r>
              <a:rPr dirty="0"/>
              <a:t>→ reshape </a:t>
            </a:r>
            <a:r>
              <a:rPr dirty="0" err="1"/>
              <a:t>只能靠自己推导</a:t>
            </a:r>
            <a:r>
              <a:rPr dirty="0"/>
              <a:t> compress ratio / overlay stride / scale </a:t>
            </a:r>
            <a:r>
              <a:rPr dirty="0" err="1"/>
              <a:t>dtype</a:t>
            </a:r>
            <a:br>
              <a:rPr dirty="0"/>
            </a:br>
            <a:r>
              <a:rPr dirty="0"/>
              <a:t>→ DS V4 不是"</a:t>
            </a:r>
            <a:r>
              <a:rPr dirty="0" err="1"/>
              <a:t>特例</a:t>
            </a:r>
            <a:r>
              <a:rPr dirty="0"/>
              <a:t>"，是 reshape </a:t>
            </a:r>
            <a:r>
              <a:rPr dirty="0" err="1"/>
              <a:t>承载模型语义的必然结果</a:t>
            </a:r>
            <a:endParaRPr dirty="0"/>
          </a:p>
        </p:txBody>
      </p:sp>
      <p:sp>
        <p:nvSpPr>
          <p:cNvPr id="29" name="Rounded Rectangle 16">
            <a:extLst>
              <a:ext uri="{FF2B5EF4-FFF2-40B4-BE49-F238E27FC236}">
                <a16:creationId xmlns:a16="http://schemas.microsoft.com/office/drawing/2014/main" id="{9A24DF01-5E91-458B-F41F-136F2007A4A2}"/>
              </a:ext>
            </a:extLst>
          </p:cNvPr>
          <p:cNvSpPr/>
          <p:nvPr/>
        </p:nvSpPr>
        <p:spPr>
          <a:xfrm>
            <a:off x="7114032" y="648208"/>
            <a:ext cx="4754880" cy="24231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17">
            <a:extLst>
              <a:ext uri="{FF2B5EF4-FFF2-40B4-BE49-F238E27FC236}">
                <a16:creationId xmlns:a16="http://schemas.microsoft.com/office/drawing/2014/main" id="{F0ECB672-839C-11B9-492A-DA0B50E80002}"/>
              </a:ext>
            </a:extLst>
          </p:cNvPr>
          <p:cNvSpPr/>
          <p:nvPr/>
        </p:nvSpPr>
        <p:spPr>
          <a:xfrm>
            <a:off x="7114032" y="648208"/>
            <a:ext cx="38100" cy="2423160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8">
            <a:extLst>
              <a:ext uri="{FF2B5EF4-FFF2-40B4-BE49-F238E27FC236}">
                <a16:creationId xmlns:a16="http://schemas.microsoft.com/office/drawing/2014/main" id="{2C75C6F0-CCB5-A974-468B-356B50055A5C}"/>
              </a:ext>
            </a:extLst>
          </p:cNvPr>
          <p:cNvSpPr txBox="1"/>
          <p:nvPr/>
        </p:nvSpPr>
        <p:spPr>
          <a:xfrm>
            <a:off x="7266432" y="749808"/>
            <a:ext cx="44500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ED6C00"/>
                </a:solidFill>
                <a:latin typeface="Microsoft YaHei"/>
              </a:defRPr>
            </a:pPr>
            <a:r>
              <a:t>as_strided 用途对比: 同一个工具，截然不同的语义层级</a:t>
            </a:r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1EF5257B-45E2-3E3C-CFE6-94ECF1103B26}"/>
              </a:ext>
            </a:extLst>
          </p:cNvPr>
          <p:cNvSpPr txBox="1"/>
          <p:nvPr/>
        </p:nvSpPr>
        <p:spPr>
          <a:xfrm>
            <a:off x="7266432" y="1029208"/>
            <a:ext cx="4858512" cy="199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上游</a:t>
            </a:r>
            <a:r>
              <a:rPr dirty="0"/>
              <a:t> </a:t>
            </a:r>
            <a:r>
              <a:rPr dirty="0" err="1"/>
              <a:t>as_strided</a:t>
            </a:r>
            <a:r>
              <a:rPr dirty="0"/>
              <a:t>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触发条件</a:t>
            </a:r>
            <a:r>
              <a:rPr dirty="0"/>
              <a:t>: </a:t>
            </a:r>
            <a:r>
              <a:rPr dirty="0" err="1"/>
              <a:t>spec.page_size_padded</a:t>
            </a:r>
            <a:r>
              <a:rPr dirty="0"/>
              <a:t> (</a:t>
            </a:r>
            <a:r>
              <a:rPr dirty="0" err="1"/>
              <a:t>运行时通用参数</a:t>
            </a:r>
            <a:r>
              <a:rPr dirty="0"/>
              <a:t>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决定者</a:t>
            </a:r>
            <a:r>
              <a:rPr dirty="0"/>
              <a:t>:   KV cache config (page size </a:t>
            </a:r>
            <a:r>
              <a:rPr dirty="0" err="1"/>
              <a:t>配置</a:t>
            </a:r>
            <a:r>
              <a:rPr dirty="0"/>
              <a:t>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语义层级</a:t>
            </a:r>
            <a:r>
              <a:rPr dirty="0"/>
              <a:t>: </a:t>
            </a:r>
            <a:r>
              <a:rPr dirty="0" err="1"/>
              <a:t>通用运行时</a:t>
            </a:r>
            <a:r>
              <a:rPr dirty="0"/>
              <a:t> (</a:t>
            </a:r>
            <a:r>
              <a:rPr dirty="0" err="1"/>
              <a:t>与模型架构、硬件平台无关</a:t>
            </a:r>
            <a:r>
              <a:rPr dirty="0"/>
              <a:t>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适用范围</a:t>
            </a:r>
            <a:r>
              <a:rPr dirty="0"/>
              <a:t>: </a:t>
            </a:r>
            <a:r>
              <a:rPr dirty="0" err="1"/>
              <a:t>所有模型类型共用同一逻辑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Ascend </a:t>
            </a:r>
            <a:r>
              <a:rPr dirty="0" err="1"/>
              <a:t>as_strided</a:t>
            </a:r>
            <a:r>
              <a:rPr dirty="0"/>
              <a:t>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触发条件</a:t>
            </a:r>
            <a:r>
              <a:rPr dirty="0"/>
              <a:t>: </a:t>
            </a:r>
            <a:r>
              <a:rPr dirty="0" err="1"/>
              <a:t>use_compress</a:t>
            </a:r>
            <a:r>
              <a:rPr dirty="0"/>
              <a:t> / </a:t>
            </a:r>
            <a:r>
              <a:rPr dirty="0" err="1"/>
              <a:t>use_sparse</a:t>
            </a:r>
            <a:r>
              <a:rPr dirty="0"/>
              <a:t> / hybrid / ... (</a:t>
            </a:r>
            <a:r>
              <a:rPr dirty="0" err="1"/>
              <a:t>模型类型</a:t>
            </a:r>
            <a:r>
              <a:rPr dirty="0"/>
              <a:t>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决定者</a:t>
            </a:r>
            <a:r>
              <a:rPr dirty="0"/>
              <a:t>:   </a:t>
            </a:r>
            <a:r>
              <a:rPr dirty="0" err="1"/>
              <a:t>模型架构</a:t>
            </a:r>
            <a:r>
              <a:rPr dirty="0"/>
              <a:t> (</a:t>
            </a:r>
            <a:r>
              <a:rPr dirty="0" err="1"/>
              <a:t>compress_ratio</a:t>
            </a:r>
            <a:r>
              <a:rPr dirty="0"/>
              <a:t>) + NPU </a:t>
            </a:r>
            <a:r>
              <a:rPr dirty="0" err="1"/>
              <a:t>算子需求</a:t>
            </a:r>
            <a:r>
              <a:rPr dirty="0"/>
              <a:t> (epilog kernel)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语义层级</a:t>
            </a:r>
            <a:r>
              <a:rPr dirty="0"/>
              <a:t>: </a:t>
            </a:r>
            <a:r>
              <a:rPr dirty="0" err="1"/>
              <a:t>模型</a:t>
            </a:r>
            <a:r>
              <a:rPr dirty="0"/>
              <a:t> + </a:t>
            </a:r>
            <a:r>
              <a:rPr dirty="0" err="1"/>
              <a:t>硬件</a:t>
            </a:r>
            <a:r>
              <a:rPr dirty="0"/>
              <a:t> </a:t>
            </a:r>
            <a:r>
              <a:rPr dirty="0" err="1"/>
              <a:t>特定</a:t>
            </a:r>
            <a:r>
              <a:rPr dirty="0"/>
              <a:t> (</a:t>
            </a:r>
            <a:r>
              <a:rPr dirty="0" err="1"/>
              <a:t>换一个模型或</a:t>
            </a:r>
            <a:r>
              <a:rPr dirty="0"/>
              <a:t> NPU </a:t>
            </a:r>
            <a:r>
              <a:rPr dirty="0" err="1"/>
              <a:t>架构就要改</a:t>
            </a:r>
            <a:r>
              <a:rPr dirty="0"/>
              <a:t>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适用范围</a:t>
            </a:r>
            <a:r>
              <a:rPr dirty="0"/>
              <a:t>: </a:t>
            </a:r>
            <a:r>
              <a:rPr dirty="0" err="1"/>
              <a:t>每个模型类型一个独立分支，无法复用</a:t>
            </a:r>
            <a:endParaRPr dirty="0"/>
          </a:p>
        </p:txBody>
      </p:sp>
      <p:sp>
        <p:nvSpPr>
          <p:cNvPr id="33" name="Rounded Rectangle 20">
            <a:extLst>
              <a:ext uri="{FF2B5EF4-FFF2-40B4-BE49-F238E27FC236}">
                <a16:creationId xmlns:a16="http://schemas.microsoft.com/office/drawing/2014/main" id="{54022EB5-70B8-5667-A16E-64BE9F0C8820}"/>
              </a:ext>
            </a:extLst>
          </p:cNvPr>
          <p:cNvSpPr/>
          <p:nvPr/>
        </p:nvSpPr>
        <p:spPr>
          <a:xfrm>
            <a:off x="7138669" y="3186176"/>
            <a:ext cx="4754880" cy="141732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21">
            <a:extLst>
              <a:ext uri="{FF2B5EF4-FFF2-40B4-BE49-F238E27FC236}">
                <a16:creationId xmlns:a16="http://schemas.microsoft.com/office/drawing/2014/main" id="{AADA7110-1ACA-3293-A24A-161D079DC5EE}"/>
              </a:ext>
            </a:extLst>
          </p:cNvPr>
          <p:cNvSpPr/>
          <p:nvPr/>
        </p:nvSpPr>
        <p:spPr>
          <a:xfrm>
            <a:off x="7112635" y="3135345"/>
            <a:ext cx="38100" cy="1605341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46D3CD74-EBFD-FA30-2791-3B80AA4FB4E9}"/>
              </a:ext>
            </a:extLst>
          </p:cNvPr>
          <p:cNvSpPr txBox="1"/>
          <p:nvPr/>
        </p:nvSpPr>
        <p:spPr>
          <a:xfrm>
            <a:off x="7225158" y="3213862"/>
            <a:ext cx="44500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Reshape 复杂度从哪里来？</a:t>
            </a:r>
          </a:p>
        </p:txBody>
      </p:sp>
      <p:sp>
        <p:nvSpPr>
          <p:cNvPr id="36" name="TextBox 23">
            <a:extLst>
              <a:ext uri="{FF2B5EF4-FFF2-40B4-BE49-F238E27FC236}">
                <a16:creationId xmlns:a16="http://schemas.microsoft.com/office/drawing/2014/main" id="{F1C62BBC-B04E-0C82-F0EF-BDA86C7F4B6E}"/>
              </a:ext>
            </a:extLst>
          </p:cNvPr>
          <p:cNvSpPr txBox="1"/>
          <p:nvPr/>
        </p:nvSpPr>
        <p:spPr>
          <a:xfrm>
            <a:off x="7218488" y="3360373"/>
            <a:ext cx="4650424" cy="1224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上游</a:t>
            </a:r>
            <a:r>
              <a:rPr dirty="0"/>
              <a:t> reshape 的 </a:t>
            </a:r>
            <a:r>
              <a:rPr dirty="0" err="1"/>
              <a:t>as_strided</a:t>
            </a:r>
            <a:r>
              <a:rPr dirty="0"/>
              <a:t> </a:t>
            </a:r>
            <a:r>
              <a:rPr dirty="0" err="1"/>
              <a:t>条件</a:t>
            </a:r>
            <a:r>
              <a:rPr dirty="0"/>
              <a:t>: 1 个 (</a:t>
            </a:r>
            <a:r>
              <a:rPr dirty="0" err="1"/>
              <a:t>page_size_padded</a:t>
            </a:r>
            <a:r>
              <a:rPr dirty="0"/>
              <a:t>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Ascend reshape 的 </a:t>
            </a:r>
            <a:r>
              <a:rPr dirty="0" err="1"/>
              <a:t>as_strided</a:t>
            </a:r>
            <a:r>
              <a:rPr dirty="0"/>
              <a:t> </a:t>
            </a:r>
            <a:r>
              <a:rPr dirty="0" err="1"/>
              <a:t>条件</a:t>
            </a:r>
            <a:r>
              <a:rPr dirty="0"/>
              <a:t>: 5+ (compress/sparse/hybrid/...)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× </a:t>
            </a:r>
            <a:r>
              <a:rPr dirty="0" err="1"/>
              <a:t>每个条件内部还有二次分支</a:t>
            </a:r>
            <a:r>
              <a:rPr dirty="0"/>
              <a:t>: A5/A3, C8/非C8, GQA/MLA hybrid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= 15+ </a:t>
            </a:r>
            <a:r>
              <a:rPr dirty="0" err="1"/>
              <a:t>个独立</a:t>
            </a:r>
            <a:r>
              <a:rPr dirty="0"/>
              <a:t> reshape </a:t>
            </a:r>
            <a:r>
              <a:rPr dirty="0" err="1"/>
              <a:t>路径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这不是</a:t>
            </a:r>
            <a:r>
              <a:rPr dirty="0"/>
              <a:t> "</a:t>
            </a:r>
            <a:r>
              <a:rPr dirty="0" err="1"/>
              <a:t>代码没写好</a:t>
            </a:r>
            <a:r>
              <a:rPr dirty="0"/>
              <a:t>"。</a:t>
            </a:r>
            <a:r>
              <a:rPr dirty="0" err="1"/>
              <a:t>是上游三层</a:t>
            </a:r>
            <a:r>
              <a:rPr dirty="0"/>
              <a:t> (Spec/Backend/Layout) </a:t>
            </a:r>
            <a:r>
              <a:rPr dirty="0" err="1"/>
              <a:t>没有提供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"</a:t>
            </a:r>
            <a:r>
              <a:rPr dirty="0" err="1"/>
              <a:t>这个</a:t>
            </a:r>
            <a:r>
              <a:rPr dirty="0"/>
              <a:t> buffer </a:t>
            </a:r>
            <a:r>
              <a:rPr dirty="0" err="1"/>
              <a:t>怎么解读</a:t>
            </a:r>
            <a:r>
              <a:rPr dirty="0"/>
              <a:t>" </a:t>
            </a:r>
            <a:r>
              <a:rPr dirty="0" err="1"/>
              <a:t>的信息，reshape</a:t>
            </a:r>
            <a:r>
              <a:rPr dirty="0"/>
              <a:t> </a:t>
            </a:r>
            <a:r>
              <a:rPr dirty="0" err="1"/>
              <a:t>只能自己推导</a:t>
            </a:r>
            <a:r>
              <a:rPr dirty="0"/>
              <a:t>。</a:t>
            </a:r>
          </a:p>
        </p:txBody>
      </p:sp>
      <p:sp>
        <p:nvSpPr>
          <p:cNvPr id="37" name="Rounded Rectangle 24">
            <a:extLst>
              <a:ext uri="{FF2B5EF4-FFF2-40B4-BE49-F238E27FC236}">
                <a16:creationId xmlns:a16="http://schemas.microsoft.com/office/drawing/2014/main" id="{DD2310E3-3DB1-8E81-EE9C-2127D4DA637B}"/>
              </a:ext>
            </a:extLst>
          </p:cNvPr>
          <p:cNvSpPr/>
          <p:nvPr/>
        </p:nvSpPr>
        <p:spPr>
          <a:xfrm>
            <a:off x="7146925" y="4773104"/>
            <a:ext cx="4754880" cy="15087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25">
            <a:extLst>
              <a:ext uri="{FF2B5EF4-FFF2-40B4-BE49-F238E27FC236}">
                <a16:creationId xmlns:a16="http://schemas.microsoft.com/office/drawing/2014/main" id="{F8B6E8CF-12B7-F869-264C-C631FDC969CA}"/>
              </a:ext>
            </a:extLst>
          </p:cNvPr>
          <p:cNvSpPr/>
          <p:nvPr/>
        </p:nvSpPr>
        <p:spPr>
          <a:xfrm>
            <a:off x="7138669" y="4804664"/>
            <a:ext cx="38100" cy="1508760"/>
          </a:xfrm>
          <a:prstGeom prst="rect">
            <a:avLst/>
          </a:prstGeom>
          <a:solidFill>
            <a:srgbClr val="2B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26">
            <a:extLst>
              <a:ext uri="{FF2B5EF4-FFF2-40B4-BE49-F238E27FC236}">
                <a16:creationId xmlns:a16="http://schemas.microsoft.com/office/drawing/2014/main" id="{49DEDBDB-37E9-CF4B-3551-306566DFE55D}"/>
              </a:ext>
            </a:extLst>
          </p:cNvPr>
          <p:cNvSpPr txBox="1"/>
          <p:nvPr/>
        </p:nvSpPr>
        <p:spPr>
          <a:xfrm>
            <a:off x="7291069" y="4906264"/>
            <a:ext cx="44500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2BB5C5"/>
                </a:solidFill>
                <a:latin typeface="Microsoft YaHei"/>
              </a:defRPr>
            </a:pPr>
            <a:r>
              <a:rPr dirty="0" err="1"/>
              <a:t>另一个维度</a:t>
            </a:r>
            <a:r>
              <a:rPr dirty="0"/>
              <a:t>: Hybrid (Qwen3.5) — </a:t>
            </a:r>
            <a:r>
              <a:rPr dirty="0" err="1"/>
              <a:t>两种</a:t>
            </a:r>
            <a:r>
              <a:rPr dirty="0"/>
              <a:t> attention </a:t>
            </a:r>
            <a:r>
              <a:rPr dirty="0" err="1"/>
              <a:t>共存</a:t>
            </a:r>
            <a:endParaRPr dirty="0"/>
          </a:p>
        </p:txBody>
      </p:sp>
      <p:sp>
        <p:nvSpPr>
          <p:cNvPr id="40" name="TextBox 27">
            <a:extLst>
              <a:ext uri="{FF2B5EF4-FFF2-40B4-BE49-F238E27FC236}">
                <a16:creationId xmlns:a16="http://schemas.microsoft.com/office/drawing/2014/main" id="{7AFBE28F-CF50-B200-0855-DDF2F1A87D94}"/>
              </a:ext>
            </a:extLst>
          </p:cNvPr>
          <p:cNvSpPr txBox="1"/>
          <p:nvPr/>
        </p:nvSpPr>
        <p:spPr>
          <a:xfrm>
            <a:off x="7291069" y="5185664"/>
            <a:ext cx="4450080" cy="102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FullAttention</a:t>
            </a:r>
            <a:r>
              <a:rPr dirty="0"/>
              <a:t> + Mamba </a:t>
            </a:r>
            <a:r>
              <a:rPr dirty="0" err="1"/>
              <a:t>混合</a:t>
            </a:r>
            <a:r>
              <a:rPr dirty="0"/>
              <a:t> → 单 tensor </a:t>
            </a:r>
            <a:r>
              <a:rPr dirty="0" err="1"/>
              <a:t>分配</a:t>
            </a:r>
            <a:r>
              <a:rPr dirty="0"/>
              <a:t> → reshape </a:t>
            </a:r>
            <a:r>
              <a:rPr dirty="0" err="1"/>
              <a:t>切片适配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GQA hybrid: padding strip → K region [:</a:t>
            </a:r>
            <a:r>
              <a:rPr dirty="0" err="1"/>
              <a:t>attn_page_size</a:t>
            </a:r>
            <a:r>
              <a:rPr dirty="0"/>
              <a:t>] + V region [</a:t>
            </a:r>
            <a:r>
              <a:rPr dirty="0" err="1"/>
              <a:t>attn_page_size</a:t>
            </a:r>
            <a:r>
              <a:rPr dirty="0"/>
              <a:t>:]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MLA hybrid: </a:t>
            </a:r>
            <a:r>
              <a:rPr dirty="0" err="1"/>
              <a:t>nope_page</a:t>
            </a:r>
            <a:r>
              <a:rPr dirty="0"/>
              <a:t> + </a:t>
            </a:r>
            <a:r>
              <a:rPr dirty="0" err="1"/>
              <a:t>rope_page</a:t>
            </a:r>
            <a:r>
              <a:rPr dirty="0"/>
              <a:t> + padding → slice back to views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→ </a:t>
            </a:r>
            <a:r>
              <a:rPr dirty="0" err="1"/>
              <a:t>这不是</a:t>
            </a:r>
            <a:r>
              <a:rPr dirty="0"/>
              <a:t> reshape </a:t>
            </a:r>
            <a:r>
              <a:rPr dirty="0" err="1"/>
              <a:t>的职责，但上游没有提供</a:t>
            </a:r>
            <a:r>
              <a:rPr dirty="0"/>
              <a:t> region </a:t>
            </a:r>
            <a:r>
              <a:rPr dirty="0" err="1"/>
              <a:t>映射信息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795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3B0ACF-3C69-AFB7-53F3-DAAD7FEC0A75}"/>
              </a:ext>
            </a:extLst>
          </p:cNvPr>
          <p:cNvSpPr txBox="1"/>
          <p:nvPr/>
        </p:nvSpPr>
        <p:spPr>
          <a:xfrm>
            <a:off x="295656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C6000B"/>
                </a:solidFill>
                <a:latin typeface="Microsoft YaHei"/>
              </a:defRPr>
            </a:pPr>
            <a:r>
              <a:rPr dirty="0" err="1"/>
              <a:t>五种模型类型：Spec</a:t>
            </a:r>
            <a:r>
              <a:rPr dirty="0"/>
              <a:t> → Backend → Allocate → Reshape </a:t>
            </a:r>
            <a:r>
              <a:rPr dirty="0" err="1"/>
              <a:t>完整对比</a:t>
            </a:r>
            <a:endParaRPr dirty="0"/>
          </a:p>
        </p:txBody>
      </p:sp>
      <p:sp>
        <p:nvSpPr>
          <p:cNvPr id="18" name="Rounded Rectangle 5">
            <a:extLst>
              <a:ext uri="{FF2B5EF4-FFF2-40B4-BE49-F238E27FC236}">
                <a16:creationId xmlns:a16="http://schemas.microsoft.com/office/drawing/2014/main" id="{D0C53C3D-B2FA-1511-4ED9-E40565E1DCE3}"/>
              </a:ext>
            </a:extLst>
          </p:cNvPr>
          <p:cNvSpPr/>
          <p:nvPr/>
        </p:nvSpPr>
        <p:spPr>
          <a:xfrm>
            <a:off x="274320" y="3977639"/>
            <a:ext cx="5669280" cy="1325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9F322590-D614-9D25-A5C5-D3C3589ED9D4}"/>
              </a:ext>
            </a:extLst>
          </p:cNvPr>
          <p:cNvSpPr/>
          <p:nvPr/>
        </p:nvSpPr>
        <p:spPr>
          <a:xfrm>
            <a:off x="274320" y="3977639"/>
            <a:ext cx="38100" cy="132588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044984DF-FE8A-788A-0979-B0FFA3371A9B}"/>
              </a:ext>
            </a:extLst>
          </p:cNvPr>
          <p:cNvSpPr txBox="1"/>
          <p:nvPr/>
        </p:nvSpPr>
        <p:spPr>
          <a:xfrm>
            <a:off x="325120" y="4014216"/>
            <a:ext cx="5364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rPr dirty="0" err="1"/>
              <a:t>上游基线</a:t>
            </a:r>
            <a:r>
              <a:rPr dirty="0"/>
              <a:t>: 5 </a:t>
            </a:r>
            <a:r>
              <a:rPr dirty="0" err="1"/>
              <a:t>种模型走同一条简洁路径</a:t>
            </a:r>
            <a:endParaRPr dirty="0"/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22C323B4-97FF-1C2E-9813-F2C0A9ED1B78}"/>
              </a:ext>
            </a:extLst>
          </p:cNvPr>
          <p:cNvSpPr txBox="1"/>
          <p:nvPr/>
        </p:nvSpPr>
        <p:spPr>
          <a:xfrm>
            <a:off x="325120" y="4256023"/>
            <a:ext cx="5364480" cy="84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Spec:   </a:t>
            </a:r>
            <a:r>
              <a:rPr dirty="0" err="1"/>
              <a:t>每种模型</a:t>
            </a:r>
            <a:r>
              <a:rPr dirty="0"/>
              <a:t> 1 </a:t>
            </a:r>
            <a:r>
              <a:rPr dirty="0" err="1"/>
              <a:t>个专用</a:t>
            </a:r>
            <a:r>
              <a:rPr dirty="0"/>
              <a:t> Spec </a:t>
            </a:r>
            <a:r>
              <a:rPr dirty="0" err="1"/>
              <a:t>子类</a:t>
            </a:r>
            <a:r>
              <a:rPr dirty="0"/>
              <a:t>, </a:t>
            </a:r>
            <a:r>
              <a:rPr dirty="0" err="1"/>
              <a:t>isinstance</a:t>
            </a:r>
            <a:r>
              <a:rPr dirty="0"/>
              <a:t>() </a:t>
            </a:r>
            <a:r>
              <a:rPr dirty="0" err="1"/>
              <a:t>编码全部语义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Backend: 1 </a:t>
            </a:r>
            <a:r>
              <a:rPr dirty="0" err="1"/>
              <a:t>个静态方法</a:t>
            </a:r>
            <a:r>
              <a:rPr dirty="0"/>
              <a:t>, </a:t>
            </a:r>
            <a:r>
              <a:rPr dirty="0" err="1"/>
              <a:t>get_kv_cache_shape</a:t>
            </a:r>
            <a:r>
              <a:rPr dirty="0"/>
              <a:t>() </a:t>
            </a:r>
            <a:r>
              <a:rPr dirty="0" err="1"/>
              <a:t>返回完整可用</a:t>
            </a:r>
            <a:r>
              <a:rPr dirty="0"/>
              <a:t> shape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Allocate: </a:t>
            </a:r>
            <a:r>
              <a:rPr dirty="0" err="1"/>
              <a:t>连续单</a:t>
            </a:r>
            <a:r>
              <a:rPr dirty="0"/>
              <a:t> tensor </a:t>
            </a:r>
            <a:r>
              <a:rPr dirty="0" err="1"/>
              <a:t>分配</a:t>
            </a:r>
            <a:r>
              <a:rPr dirty="0"/>
              <a:t>, </a:t>
            </a:r>
            <a:r>
              <a:rPr dirty="0" err="1"/>
              <a:t>无拆分逻辑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Reshape: view(N,B,H) </a:t>
            </a:r>
            <a:r>
              <a:rPr dirty="0" err="1"/>
              <a:t>一行完成</a:t>
            </a:r>
            <a:r>
              <a:rPr dirty="0"/>
              <a:t>, </a:t>
            </a:r>
            <a:r>
              <a:rPr dirty="0" err="1"/>
              <a:t>as_strided</a:t>
            </a:r>
            <a:r>
              <a:rPr dirty="0"/>
              <a:t> </a:t>
            </a:r>
            <a:r>
              <a:rPr dirty="0" err="1"/>
              <a:t>仅用于</a:t>
            </a:r>
            <a:r>
              <a:rPr dirty="0"/>
              <a:t> page padding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→ </a:t>
            </a:r>
            <a:r>
              <a:rPr dirty="0" err="1"/>
              <a:t>整个</a:t>
            </a:r>
            <a:r>
              <a:rPr dirty="0"/>
              <a:t> pipeline ~100 行, </a:t>
            </a:r>
            <a:r>
              <a:rPr dirty="0" err="1"/>
              <a:t>model_runner</a:t>
            </a:r>
            <a:r>
              <a:rPr dirty="0"/>
              <a:t> </a:t>
            </a:r>
            <a:r>
              <a:rPr dirty="0" err="1"/>
              <a:t>不感知模型差异</a:t>
            </a:r>
            <a:endParaRPr dirty="0"/>
          </a:p>
        </p:txBody>
      </p:sp>
      <p:sp>
        <p:nvSpPr>
          <p:cNvPr id="22" name="Rounded Rectangle 9">
            <a:extLst>
              <a:ext uri="{FF2B5EF4-FFF2-40B4-BE49-F238E27FC236}">
                <a16:creationId xmlns:a16="http://schemas.microsoft.com/office/drawing/2014/main" id="{56869CB7-F40B-31B0-BE65-58F5CA2EF1B8}"/>
              </a:ext>
            </a:extLst>
          </p:cNvPr>
          <p:cNvSpPr/>
          <p:nvPr/>
        </p:nvSpPr>
        <p:spPr>
          <a:xfrm>
            <a:off x="6217920" y="3977639"/>
            <a:ext cx="5669280" cy="1325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2B292688-82B2-DD34-30D7-485176FA332A}"/>
              </a:ext>
            </a:extLst>
          </p:cNvPr>
          <p:cNvSpPr/>
          <p:nvPr/>
        </p:nvSpPr>
        <p:spPr>
          <a:xfrm>
            <a:off x="6217920" y="3977639"/>
            <a:ext cx="38100" cy="13258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D7BDEFD5-E8A3-DFFD-ACF7-BAE4CE283424}"/>
              </a:ext>
            </a:extLst>
          </p:cNvPr>
          <p:cNvSpPr txBox="1"/>
          <p:nvPr/>
        </p:nvSpPr>
        <p:spPr>
          <a:xfrm>
            <a:off x="6370320" y="4014216"/>
            <a:ext cx="5364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dirty="0"/>
              <a:t>Ascend </a:t>
            </a:r>
            <a:r>
              <a:rPr dirty="0" err="1"/>
              <a:t>现状</a:t>
            </a:r>
            <a:r>
              <a:rPr dirty="0"/>
              <a:t>: </a:t>
            </a:r>
            <a:r>
              <a:rPr dirty="0" err="1"/>
              <a:t>每种模型一个独立分支</a:t>
            </a:r>
            <a:r>
              <a:rPr dirty="0"/>
              <a:t>, </a:t>
            </a:r>
            <a:r>
              <a:rPr dirty="0" err="1"/>
              <a:t>复杂度递增</a:t>
            </a:r>
            <a:endParaRPr dirty="0"/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622F320C-BE7D-B25B-76CB-F2B67B39A1FA}"/>
              </a:ext>
            </a:extLst>
          </p:cNvPr>
          <p:cNvSpPr txBox="1"/>
          <p:nvPr/>
        </p:nvSpPr>
        <p:spPr>
          <a:xfrm>
            <a:off x="6370320" y="4249418"/>
            <a:ext cx="5364480" cy="84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Spec:   5 </a:t>
            </a:r>
            <a:r>
              <a:rPr dirty="0" err="1"/>
              <a:t>种变体共用万能类</a:t>
            </a:r>
            <a:r>
              <a:rPr dirty="0"/>
              <a:t>, </a:t>
            </a:r>
            <a:r>
              <a:rPr dirty="0" err="1"/>
              <a:t>isinstance</a:t>
            </a:r>
            <a:r>
              <a:rPr dirty="0"/>
              <a:t>() </a:t>
            </a:r>
            <a:r>
              <a:rPr dirty="0" err="1"/>
              <a:t>无区分力</a:t>
            </a:r>
            <a:r>
              <a:rPr dirty="0"/>
              <a:t> → if-else </a:t>
            </a:r>
            <a:r>
              <a:rPr dirty="0" err="1"/>
              <a:t>恢复类型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Backend: </a:t>
            </a:r>
            <a:r>
              <a:rPr dirty="0" err="1"/>
              <a:t>get_kv_cache_shape</a:t>
            </a:r>
            <a:r>
              <a:rPr dirty="0"/>
              <a:t>() </a:t>
            </a:r>
            <a:r>
              <a:rPr dirty="0" err="1"/>
              <a:t>返回</a:t>
            </a:r>
            <a:r>
              <a:rPr dirty="0"/>
              <a:t> 1/N </a:t>
            </a:r>
            <a:r>
              <a:rPr dirty="0" err="1"/>
              <a:t>信息</a:t>
            </a:r>
            <a:r>
              <a:rPr dirty="0"/>
              <a:t> → </a:t>
            </a:r>
            <a:r>
              <a:rPr dirty="0" err="1"/>
              <a:t>model_runner</a:t>
            </a:r>
            <a:r>
              <a:rPr dirty="0"/>
              <a:t> </a:t>
            </a:r>
            <a:r>
              <a:rPr dirty="0" err="1"/>
              <a:t>绕过接口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Allocate: 2~4 tensor, C8×A5/A3×device </a:t>
            </a:r>
            <a:r>
              <a:rPr dirty="0" err="1"/>
              <a:t>三维分支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Reshape: unpack / </a:t>
            </a:r>
            <a:r>
              <a:rPr dirty="0" err="1"/>
              <a:t>as_strided</a:t>
            </a:r>
            <a:r>
              <a:rPr dirty="0"/>
              <a:t> overlay / </a:t>
            </a:r>
            <a:r>
              <a:rPr dirty="0" err="1"/>
              <a:t>slice+strip</a:t>
            </a:r>
            <a:r>
              <a:rPr dirty="0"/>
              <a:t> </a:t>
            </a:r>
            <a:r>
              <a:rPr dirty="0" err="1"/>
              <a:t>每个模型独立逻辑</a:t>
            </a:r>
            <a:endParaRPr dirty="0"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→ </a:t>
            </a:r>
            <a:r>
              <a:rPr dirty="0" err="1"/>
              <a:t>model_runner</a:t>
            </a:r>
            <a:r>
              <a:rPr dirty="0"/>
              <a:t> ~600 行, 15+ if-else, </a:t>
            </a:r>
            <a:r>
              <a:rPr dirty="0" err="1"/>
              <a:t>每加一种模型改一次</a:t>
            </a:r>
            <a:endParaRPr dirty="0"/>
          </a:p>
        </p:txBody>
      </p:sp>
      <p:sp>
        <p:nvSpPr>
          <p:cNvPr id="26" name="Rounded Rectangle 13">
            <a:extLst>
              <a:ext uri="{FF2B5EF4-FFF2-40B4-BE49-F238E27FC236}">
                <a16:creationId xmlns:a16="http://schemas.microsoft.com/office/drawing/2014/main" id="{C75B6AFE-161C-F393-8F97-803F9EB27C5C}"/>
              </a:ext>
            </a:extLst>
          </p:cNvPr>
          <p:cNvSpPr/>
          <p:nvPr/>
        </p:nvSpPr>
        <p:spPr>
          <a:xfrm>
            <a:off x="274319" y="5468112"/>
            <a:ext cx="11470323" cy="850392"/>
          </a:xfrm>
          <a:prstGeom prst="roundRect">
            <a:avLst>
              <a:gd name="adj" fmla="val 4000"/>
            </a:avLst>
          </a:prstGeom>
          <a:solidFill>
            <a:srgbClr val="FAEBEE"/>
          </a:solidFill>
          <a:ln w="1270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571A0145-CCAB-CB70-8F1E-AC039C6B9582}"/>
              </a:ext>
            </a:extLst>
          </p:cNvPr>
          <p:cNvSpPr/>
          <p:nvPr/>
        </p:nvSpPr>
        <p:spPr>
          <a:xfrm>
            <a:off x="274320" y="5468112"/>
            <a:ext cx="50800" cy="609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12C65FAA-8668-444F-4FCC-C1A7A42F3059}"/>
              </a:ext>
            </a:extLst>
          </p:cNvPr>
          <p:cNvSpPr txBox="1"/>
          <p:nvPr/>
        </p:nvSpPr>
        <p:spPr>
          <a:xfrm>
            <a:off x="452120" y="5544312"/>
            <a:ext cx="109829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8102E"/>
                </a:solidFill>
                <a:latin typeface="Microsoft YaHei"/>
              </a:defRPr>
            </a:pPr>
            <a:r>
              <a:t>&gt; 关键洞察</a:t>
            </a:r>
          </a:p>
        </p:txBody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D9969A75-28BE-12B5-FB59-B03D74ECCACD}"/>
              </a:ext>
            </a:extLst>
          </p:cNvPr>
          <p:cNvSpPr txBox="1"/>
          <p:nvPr/>
        </p:nvSpPr>
        <p:spPr>
          <a:xfrm>
            <a:off x="452120" y="5747512"/>
            <a:ext cx="109829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GQA (</a:t>
            </a:r>
            <a:r>
              <a:rPr dirty="0" err="1"/>
              <a:t>差异</a:t>
            </a:r>
            <a:r>
              <a:rPr dirty="0"/>
              <a:t> ★) → </a:t>
            </a:r>
            <a:r>
              <a:rPr dirty="0" err="1"/>
              <a:t>标准</a:t>
            </a:r>
            <a:r>
              <a:rPr dirty="0"/>
              <a:t> MLA (★★) → Sparse MLA (★★★) → Compress MLA (★★★★) → Hybrid (★★★★★)</a:t>
            </a:r>
            <a:br>
              <a:rPr dirty="0"/>
            </a:br>
            <a:r>
              <a:rPr dirty="0" err="1"/>
              <a:t>差距不是线性叠加</a:t>
            </a:r>
            <a:r>
              <a:rPr dirty="0"/>
              <a:t>——</a:t>
            </a:r>
            <a:r>
              <a:rPr dirty="0" err="1"/>
              <a:t>每增加一个模型特性</a:t>
            </a:r>
            <a:r>
              <a:rPr dirty="0"/>
              <a:t> (sparse/C8/compress/hybrid)，Ascend pipeline </a:t>
            </a:r>
            <a:r>
              <a:rPr dirty="0" err="1"/>
              <a:t>就多一层</a:t>
            </a:r>
            <a:r>
              <a:rPr dirty="0"/>
              <a:t> if-else</a:t>
            </a:r>
            <a:br>
              <a:rPr dirty="0"/>
            </a:br>
            <a:r>
              <a:rPr dirty="0" err="1"/>
              <a:t>上游通过</a:t>
            </a:r>
            <a:r>
              <a:rPr dirty="0"/>
              <a:t> Spec </a:t>
            </a:r>
            <a:r>
              <a:rPr dirty="0" err="1"/>
              <a:t>子类</a:t>
            </a:r>
            <a:r>
              <a:rPr dirty="0"/>
              <a:t> + Layout </a:t>
            </a:r>
            <a:r>
              <a:rPr dirty="0" err="1"/>
              <a:t>多态吸收模型差异；Ascend</a:t>
            </a:r>
            <a:r>
              <a:rPr dirty="0"/>
              <a:t> </a:t>
            </a:r>
            <a:r>
              <a:rPr dirty="0" err="1"/>
              <a:t>把这部分职责全部下沉到了</a:t>
            </a:r>
            <a:r>
              <a:rPr dirty="0"/>
              <a:t> </a:t>
            </a:r>
            <a:r>
              <a:rPr dirty="0" err="1"/>
              <a:t>model_runner</a:t>
            </a:r>
            <a:endParaRPr dirty="0"/>
          </a:p>
        </p:txBody>
      </p:sp>
      <p:graphicFrame>
        <p:nvGraphicFramePr>
          <p:cNvPr id="2" name="Table 29">
            <a:extLst>
              <a:ext uri="{FF2B5EF4-FFF2-40B4-BE49-F238E27FC236}">
                <a16:creationId xmlns:a16="http://schemas.microsoft.com/office/drawing/2014/main" id="{BCE6E82F-1B40-FA78-E9FF-9BDDF0FDD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840426"/>
              </p:ext>
            </p:extLst>
          </p:nvPr>
        </p:nvGraphicFramePr>
        <p:xfrm>
          <a:off x="121920" y="594357"/>
          <a:ext cx="11884152" cy="320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5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55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55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55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484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模型类型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上游 Spec (基线)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Ascend Spec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上游 Backend (基线)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Ascend Backend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上游 Reshape (基线)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Ascend Reshape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差距 Δ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840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GQA</a:t>
                      </a:r>
                      <a:br/>
                      <a:r>
                        <a:t>(Qwen3)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FullAttentionSpec</a:t>
                      </a:r>
                      <a:br/>
                      <a:r>
                        <a:t>7字段,零NPU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复用上游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FlashAttention</a:t>
                      </a:r>
                      <a:br/>
                      <a:r>
                        <a:t>→ (2,N,B,H,D)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AscendAttention</a:t>
                      </a:r>
                      <a:br/>
                      <a:r>
                        <a:t>→ (2,N,B,H,D)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view(N,B,H,D)</a:t>
                      </a:r>
                      <a:br/>
                      <a:r>
                        <a:t>1行,无分支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.view()</a:t>
                      </a:r>
                      <a:br/>
                      <a:r>
                        <a:t>同上游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★ K/V物理拆分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840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标准MLA</a:t>
                      </a:r>
                      <a:br/>
                      <a:r>
                        <a:t>(DS V3.1)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MLAAttentionSpec</a:t>
                      </a:r>
                      <a:br/>
                      <a:r>
                        <a:t>head_size=576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AscendMLAAttention</a:t>
                      </a:r>
                      <a:br/>
                      <a:r>
                        <a:t>+scale_dim/dtype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FlashMLA</a:t>
                      </a:r>
                      <a:br/>
                      <a:r>
                        <a:t>→ (N,B,576)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AscendMLA</a:t>
                      </a:r>
                      <a:br/>
                      <a:r>
                        <a:t>→ (N,B,1,576)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view(N,B,576)</a:t>
                      </a:r>
                      <a:br/>
                      <a:r>
                        <a:t>1行,无分支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view+查layer</a:t>
                      </a:r>
                      <a:br/>
                      <a:r>
                        <a:t>head_size丢失512+64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★★ head_size=576</a:t>
                      </a:r>
                      <a:br/>
                      <a:r>
                        <a:t>丢失拆分信息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840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SparseMLA</a:t>
                      </a:r>
                      <a:br/>
                      <a:r>
                        <a:t>(DS V3.2)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MLAAttentionSpec</a:t>
                      </a:r>
                      <a:br/>
                      <a:r>
                        <a:t>+cache_dtype_str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AscendMLAAttention</a:t>
                      </a:r>
                      <a:br/>
                      <a:r>
                        <a:t>+sparse_head_dim/C8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FlashMLASparse</a:t>
                      </a:r>
                      <a:br/>
                      <a:r>
                        <a:t>→ (N,B,576)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AscendSFA</a:t>
                      </a:r>
                      <a:br/>
                      <a:r>
                        <a:t>→ (N,B,1,576)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view(N,B,576)</a:t>
                      </a:r>
                      <a:br/>
                      <a:r>
                        <a:t>1行,无分支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unpack+view</a:t>
                      </a:r>
                      <a:br/>
                      <a:r>
                        <a:t>C8 x A5/A3多分支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★★★ indexer+C8</a:t>
                      </a:r>
                      <a:br/>
                      <a:r>
                        <a:t>A5/A3硬件分支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840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CompressMLA</a:t>
                      </a:r>
                      <a:br/>
                      <a:r>
                        <a:t>(DS V4)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MLAAttentionSpec</a:t>
                      </a:r>
                      <a:br/>
                      <a:r>
                        <a:t>+compress_ratio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AscendMLAAttention</a:t>
                      </a:r>
                      <a:br/>
                      <a:r>
                        <a:t>+compress_ratio/scale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FlashMLASparse</a:t>
                      </a:r>
                      <a:br/>
                      <a:r>
                        <a:t>→ (N,B,656)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AscendDSA</a:t>
                      </a:r>
                      <a:br/>
                      <a:r>
                        <a:t>→ (N,B,1,head)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view(N,B,656)</a:t>
                      </a:r>
                      <a:br/>
                      <a:r>
                        <a:t>1行,无分支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as_strided overlay</a:t>
                      </a:r>
                      <a:br/>
                      <a:r>
                        <a:t>~100行,3 views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★★★★ 时间压缩+fp8</a:t>
                      </a:r>
                      <a:br/>
                      <a:r>
                        <a:t>as_strided承载语义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840"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Hybrid</a:t>
                      </a:r>
                      <a:br/>
                      <a:r>
                        <a:t>(Qwen3.5)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FullAttn+MambaSpec</a:t>
                      </a:r>
                      <a:br/>
                      <a:r>
                        <a:t>2种原生类型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复用上游</a:t>
                      </a:r>
                      <a:br/>
                      <a:r>
                        <a:t>+page_size_padded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FlashAttn+GDN</a:t>
                      </a:r>
                      <a:br/>
                      <a:r>
                        <a:t>→ 两种shape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AscendAttn+GDN</a:t>
                      </a:r>
                      <a:br/>
                      <a:r>
                        <a:t>→ (2,N,B,4,256)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view+as_strided_</a:t>
                      </a:r>
                      <a:br/>
                      <a:r>
                        <a:t>零拷贝重排,~5行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slice+strip+padding</a:t>
                      </a:r>
                      <a:br/>
                      <a:r>
                        <a:t>~100行hybrid专用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rPr dirty="0"/>
                        <a:t>★★★★★ </a:t>
                      </a:r>
                      <a:r>
                        <a:rPr dirty="0" err="1"/>
                        <a:t>attn+mamba</a:t>
                      </a:r>
                      <a:br>
                        <a:rPr dirty="0"/>
                      </a:br>
                      <a:r>
                        <a:rPr dirty="0" err="1"/>
                        <a:t>layout互斥</a:t>
                      </a:r>
                      <a:endParaRPr dirty="0"/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0591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9FB58E13-A7E1-CE0D-C98C-1EB0967ABB2B}"/>
              </a:ext>
            </a:extLst>
          </p:cNvPr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defRPr sz="3200" b="1">
                <a:solidFill>
                  <a:srgbClr val="C6000B"/>
                </a:solidFill>
                <a:latin typeface="Microsoft YaHei"/>
              </a:defRPr>
            </a:pPr>
            <a:r>
              <a:t>以 Qwen3.5 为例：从 Spec 到 Reshape 的完整链路拆解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56681320-3511-BB9B-8107-082BEDCB7221}"/>
              </a:ext>
            </a:extLst>
          </p:cNvPr>
          <p:cNvSpPr txBox="1"/>
          <p:nvPr/>
        </p:nvSpPr>
        <p:spPr>
          <a:xfrm>
            <a:off x="548640" y="2743200"/>
            <a:ext cx="10972800" cy="28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defRPr sz="1300" b="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32 层 (8 </a:t>
            </a:r>
            <a:r>
              <a:rPr dirty="0" err="1"/>
              <a:t>full_attn</a:t>
            </a:r>
            <a:r>
              <a:rPr dirty="0"/>
              <a:t> + 24 </a:t>
            </a:r>
            <a:r>
              <a:rPr dirty="0" err="1"/>
              <a:t>linear_attn</a:t>
            </a:r>
            <a:r>
              <a:rPr dirty="0"/>
              <a:t>) · </a:t>
            </a:r>
            <a:r>
              <a:rPr dirty="0" err="1"/>
              <a:t>上游</a:t>
            </a:r>
            <a:r>
              <a:rPr lang="en-US" altLang="zh-CN" dirty="0" err="1"/>
              <a:t>vllm</a:t>
            </a:r>
            <a:r>
              <a:rPr dirty="0"/>
              <a:t> vs Ascend </a:t>
            </a:r>
            <a:r>
              <a:rPr dirty="0" err="1"/>
              <a:t>对比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9463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:a16="http://schemas.microsoft.com/office/drawing/2014/main" id="{D068A4FC-8E93-DE10-4612-18BBBBCE9DBE}"/>
              </a:ext>
            </a:extLst>
          </p:cNvPr>
          <p:cNvSpPr txBox="1"/>
          <p:nvPr/>
        </p:nvSpPr>
        <p:spPr>
          <a:xfrm>
            <a:off x="274320" y="640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58B230"/>
                </a:solidFill>
                <a:latin typeface="Microsoft YaHei"/>
              </a:defRPr>
            </a:pPr>
            <a:r>
              <a:rPr dirty="0"/>
              <a:t>Qwen3.5 Hybrid — </a:t>
            </a:r>
            <a:r>
              <a:rPr dirty="0" err="1"/>
              <a:t>上游如何用类型系统处理混合架构</a:t>
            </a:r>
            <a:r>
              <a:rPr dirty="0"/>
              <a:t> (</a:t>
            </a:r>
            <a:r>
              <a:rPr dirty="0" err="1"/>
              <a:t>FullAttention</a:t>
            </a:r>
            <a:r>
              <a:rPr dirty="0"/>
              <a:t> + Mamba)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CD697E1F-77C7-2F3C-7D7B-463D15D7A1DC}"/>
              </a:ext>
            </a:extLst>
          </p:cNvPr>
          <p:cNvSpPr txBox="1"/>
          <p:nvPr/>
        </p:nvSpPr>
        <p:spPr>
          <a:xfrm>
            <a:off x="548640" y="43891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595757"/>
                </a:solidFill>
                <a:latin typeface="Microsoft YaHei"/>
              </a:defRPr>
            </a:pPr>
            <a:r>
              <a:t>核心原则: model_runner 从不检查 layer_type — Spec 子类 + Backend 多态吸收所有模型差异</a:t>
            </a:r>
          </a:p>
        </p:txBody>
      </p:sp>
      <p:sp>
        <p:nvSpPr>
          <p:cNvPr id="25" name="Rounded Rectangle 4">
            <a:extLst>
              <a:ext uri="{FF2B5EF4-FFF2-40B4-BE49-F238E27FC236}">
                <a16:creationId xmlns:a16="http://schemas.microsoft.com/office/drawing/2014/main" id="{3B4FDDE6-5AA3-AB67-5CE9-474F9BB0AC0E}"/>
              </a:ext>
            </a:extLst>
          </p:cNvPr>
          <p:cNvSpPr/>
          <p:nvPr/>
        </p:nvSpPr>
        <p:spPr>
          <a:xfrm>
            <a:off x="274320" y="749808"/>
            <a:ext cx="3657600" cy="19659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D252E180-1B61-A6E2-FB61-A2706032E118}"/>
              </a:ext>
            </a:extLst>
          </p:cNvPr>
          <p:cNvSpPr/>
          <p:nvPr/>
        </p:nvSpPr>
        <p:spPr>
          <a:xfrm>
            <a:off x="274320" y="749808"/>
            <a:ext cx="38100" cy="196596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073FB3ED-EE17-4A31-EF27-175332791820}"/>
              </a:ext>
            </a:extLst>
          </p:cNvPr>
          <p:cNvSpPr txBox="1"/>
          <p:nvPr/>
        </p:nvSpPr>
        <p:spPr>
          <a:xfrm>
            <a:off x="426720" y="851408"/>
            <a:ext cx="335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0B"/>
                </a:solidFill>
                <a:latin typeface="Microsoft YaHei"/>
              </a:defRPr>
            </a:pPr>
            <a:r>
              <a:t>Qwen3.5 架构: 两种 attention 共存</a:t>
            </a:r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FF4F496A-8B16-DAEF-3C35-6BB3AE9A3A26}"/>
              </a:ext>
            </a:extLst>
          </p:cNvPr>
          <p:cNvSpPr txBox="1"/>
          <p:nvPr/>
        </p:nvSpPr>
        <p:spPr>
          <a:xfrm>
            <a:off x="426720" y="1130808"/>
            <a:ext cx="3352800" cy="148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32 层 (dense): 每第 4 层 full_attention (8层)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其余 24 层 linear_attention (GatedDeltaNet)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full_attn: num_kv_heads=4, head_dim=256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linear_attn: num_k_heads=16, num_v_heads=32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conv_state=(3,8192), ssm_state=(32,128,128)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mamba_cache_mode 强制 'align' (与 attn block 对齐)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FullAttention + Mamba 没有公共基类!</a:t>
            </a:r>
          </a:p>
        </p:txBody>
      </p:sp>
      <p:sp>
        <p:nvSpPr>
          <p:cNvPr id="29" name="Rounded Rectangle 8">
            <a:extLst>
              <a:ext uri="{FF2B5EF4-FFF2-40B4-BE49-F238E27FC236}">
                <a16:creationId xmlns:a16="http://schemas.microsoft.com/office/drawing/2014/main" id="{25B20509-617F-8BA5-BA02-589C08BCE1C0}"/>
              </a:ext>
            </a:extLst>
          </p:cNvPr>
          <p:cNvSpPr/>
          <p:nvPr/>
        </p:nvSpPr>
        <p:spPr>
          <a:xfrm>
            <a:off x="4206240" y="749808"/>
            <a:ext cx="3749039" cy="1676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上游 Spec: 2 种原生类型，各司其职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endParaRPr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full_attn → FullAttentionSpec(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block_size=16, num_kv_heads=4,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head_size=256, dtype=bf16)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→ FlashAttentionBackend    ← GQA 路径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endParaRPr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linear_attn → MambaSpec(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shapes=((3,8192),(32,128,128)),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dtypes=(f32,f32),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mamba_type='GDN_ATTN')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→ GDNAttentionBackend       ← Mamba 路径</a:t>
            </a:r>
          </a:p>
        </p:txBody>
      </p:sp>
      <p:sp>
        <p:nvSpPr>
          <p:cNvPr id="30" name="Rounded Rectangle 9">
            <a:extLst>
              <a:ext uri="{FF2B5EF4-FFF2-40B4-BE49-F238E27FC236}">
                <a16:creationId xmlns:a16="http://schemas.microsoft.com/office/drawing/2014/main" id="{4FD75486-84D5-62A2-91D3-37860159BE32}"/>
              </a:ext>
            </a:extLst>
          </p:cNvPr>
          <p:cNvSpPr/>
          <p:nvPr/>
        </p:nvSpPr>
        <p:spPr>
          <a:xfrm>
            <a:off x="8138160" y="749808"/>
            <a:ext cx="3749039" cy="196596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10">
            <a:extLst>
              <a:ext uri="{FF2B5EF4-FFF2-40B4-BE49-F238E27FC236}">
                <a16:creationId xmlns:a16="http://schemas.microsoft.com/office/drawing/2014/main" id="{CC9E6EE7-699D-502E-5F7D-5BBF222C1337}"/>
              </a:ext>
            </a:extLst>
          </p:cNvPr>
          <p:cNvSpPr/>
          <p:nvPr/>
        </p:nvSpPr>
        <p:spPr>
          <a:xfrm>
            <a:off x="8138160" y="749808"/>
            <a:ext cx="38100" cy="1965960"/>
          </a:xfrm>
          <a:prstGeom prst="rect">
            <a:avLst/>
          </a:prstGeom>
          <a:solidFill>
            <a:srgbClr val="2B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86FBE192-ECB9-D7BE-5788-15410DF14761}"/>
              </a:ext>
            </a:extLst>
          </p:cNvPr>
          <p:cNvSpPr txBox="1"/>
          <p:nvPr/>
        </p:nvSpPr>
        <p:spPr>
          <a:xfrm>
            <a:off x="8290560" y="851408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2BB5C5"/>
                </a:solidFill>
                <a:latin typeface="Microsoft YaHei"/>
              </a:defRPr>
            </a:pPr>
            <a:r>
              <a:t>上游 分组 + 共享: 8 tensor 服务 32 层</a:t>
            </a:r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C5C5039D-A237-214B-EB96-D4BE3B069B51}"/>
              </a:ext>
            </a:extLst>
          </p:cNvPr>
          <p:cNvSpPr txBox="1"/>
          <p:nvPr/>
        </p:nvSpPr>
        <p:spPr>
          <a:xfrm>
            <a:off x="8290560" y="1130808"/>
            <a:ext cx="3444239" cy="148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分组: 4 groups = 1 full_attn ×8 + 3 linear_attn ×8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min_num_layers=8 → group_size=8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每个 KVCacheTensor 被 4 层共享: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1 attn + 3 linear → 共享同一块物理 buffer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attn 使用 buffer 的 K/V 区域 (2,N,B,H,D)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mamba 使用 buffer 的 conv+ssm 区域 (flatten)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上游不管"内部怎么切"— 各 Backend 自行解读</a:t>
            </a:r>
          </a:p>
        </p:txBody>
      </p:sp>
      <p:sp>
        <p:nvSpPr>
          <p:cNvPr id="34" name="Rounded Rectangle 13">
            <a:extLst>
              <a:ext uri="{FF2B5EF4-FFF2-40B4-BE49-F238E27FC236}">
                <a16:creationId xmlns:a16="http://schemas.microsoft.com/office/drawing/2014/main" id="{045FE6B2-CD71-8283-5635-57B299971340}"/>
              </a:ext>
            </a:extLst>
          </p:cNvPr>
          <p:cNvSpPr/>
          <p:nvPr/>
        </p:nvSpPr>
        <p:spPr>
          <a:xfrm>
            <a:off x="274320" y="2880360"/>
            <a:ext cx="5852160" cy="1930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上游 Allocate: 30 行, 0 分支 — 不区分 attn/mamba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endParaRPr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def _allocate_kv_cache(config, device):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raw_tensors = {}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for t in config.kv_cache_tensors:     ← 统一循环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tensor = torch.zeros(t.size,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           dtype=int8,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               device=device)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for name in t.shared_by:           ← 4层共享1 buffer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raw_tensors[name] = tensor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return raw_tensors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endParaRPr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没有 if layer.is_attn / elif layer.is_mamba!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Spec + Backend 已经告诉了 config 该怎么分配。</a:t>
            </a:r>
          </a:p>
        </p:txBody>
      </p:sp>
      <p:sp>
        <p:nvSpPr>
          <p:cNvPr id="35" name="Rounded Rectangle 14">
            <a:extLst>
              <a:ext uri="{FF2B5EF4-FFF2-40B4-BE49-F238E27FC236}">
                <a16:creationId xmlns:a16="http://schemas.microsoft.com/office/drawing/2014/main" id="{3D81319D-14B1-BA74-0CD3-A0DAF487932A}"/>
              </a:ext>
            </a:extLst>
          </p:cNvPr>
          <p:cNvSpPr/>
          <p:nvPr/>
        </p:nvSpPr>
        <p:spPr>
          <a:xfrm>
            <a:off x="6400800" y="2880360"/>
            <a:ext cx="5486400" cy="2057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上游 Reshape: view + as_strided_ — 零拷贝重排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endParaRPr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def _reshape_kv_cache(...):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# attn: 自然交织 K/V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shape = backend.get_shape(N,B,4,256)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# → (2, N, B, 4, 256)   ← K=idx0, V=idx1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kv_cache = raw.view(bf16).view(shape)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endParaRPr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# hybrid layout adjust: (2,N,...) → (N,2,...)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hidden_size = kv_cache.shape[2:].numel()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kv_cache.as_strided_(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size=(N,2,B,H,D),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stride=(2*hidden_size, hidden_size, ...))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# block[i] 内: K@offset0, V@offset hidden_size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# → 与 mamba block-dim=0 对齐!</a:t>
            </a:r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428BF119-D577-2D6C-584B-521CB75C395B}"/>
              </a:ext>
            </a:extLst>
          </p:cNvPr>
          <p:cNvSpPr/>
          <p:nvPr/>
        </p:nvSpPr>
        <p:spPr>
          <a:xfrm>
            <a:off x="274320" y="5082540"/>
            <a:ext cx="11588496" cy="1161288"/>
          </a:xfrm>
          <a:prstGeom prst="roundRect">
            <a:avLst>
              <a:gd name="adj" fmla="val 4000"/>
            </a:avLst>
          </a:prstGeom>
          <a:solidFill>
            <a:srgbClr val="F1F8EE"/>
          </a:solidFill>
          <a:ln w="12700">
            <a:solidFill>
              <a:srgbClr val="94E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17">
            <a:extLst>
              <a:ext uri="{FF2B5EF4-FFF2-40B4-BE49-F238E27FC236}">
                <a16:creationId xmlns:a16="http://schemas.microsoft.com/office/drawing/2014/main" id="{A914B181-A788-3067-BAD4-D02D0FA48CC7}"/>
              </a:ext>
            </a:extLst>
          </p:cNvPr>
          <p:cNvSpPr txBox="1"/>
          <p:nvPr/>
        </p:nvSpPr>
        <p:spPr>
          <a:xfrm>
            <a:off x="333947" y="5107940"/>
            <a:ext cx="109829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58B230"/>
                </a:solidFill>
                <a:latin typeface="Microsoft YaHei"/>
              </a:defRPr>
            </a:pPr>
            <a:r>
              <a:rPr dirty="0"/>
              <a:t>&gt; </a:t>
            </a:r>
            <a:r>
              <a:rPr dirty="0" err="1"/>
              <a:t>上游的核心优势</a:t>
            </a:r>
            <a:r>
              <a:rPr dirty="0"/>
              <a:t>: </a:t>
            </a:r>
            <a:r>
              <a:rPr dirty="0" err="1"/>
              <a:t>类型系统吸收差异</a:t>
            </a:r>
            <a:r>
              <a:rPr dirty="0"/>
              <a:t>, </a:t>
            </a:r>
            <a:r>
              <a:rPr dirty="0" err="1"/>
              <a:t>model_runner</a:t>
            </a:r>
            <a:r>
              <a:rPr dirty="0"/>
              <a:t> </a:t>
            </a:r>
            <a:r>
              <a:rPr dirty="0" err="1"/>
              <a:t>零感知</a:t>
            </a:r>
            <a:endParaRPr dirty="0"/>
          </a:p>
        </p:txBody>
      </p:sp>
      <p:sp>
        <p:nvSpPr>
          <p:cNvPr id="39" name="TextBox 18">
            <a:extLst>
              <a:ext uri="{FF2B5EF4-FFF2-40B4-BE49-F238E27FC236}">
                <a16:creationId xmlns:a16="http://schemas.microsoft.com/office/drawing/2014/main" id="{F82D6576-42AC-6E57-B5EA-9AB95B3A3C8B}"/>
              </a:ext>
            </a:extLst>
          </p:cNvPr>
          <p:cNvSpPr txBox="1"/>
          <p:nvPr/>
        </p:nvSpPr>
        <p:spPr>
          <a:xfrm>
            <a:off x="333947" y="5455920"/>
            <a:ext cx="10982960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019"/>
              </a:lnSpc>
              <a:buFont typeface="Wingdings" panose="05000000000000000000" pitchFamily="2" charset="2"/>
              <a:buChar char="Ø"/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Spec: </a:t>
            </a:r>
            <a:r>
              <a:rPr dirty="0" err="1"/>
              <a:t>两种原生类型</a:t>
            </a:r>
            <a:r>
              <a:rPr dirty="0"/>
              <a:t> (</a:t>
            </a:r>
            <a:r>
              <a:rPr dirty="0" err="1"/>
              <a:t>FullAttentionSpec</a:t>
            </a:r>
            <a:r>
              <a:rPr dirty="0"/>
              <a:t> + </a:t>
            </a:r>
            <a:r>
              <a:rPr dirty="0" err="1"/>
              <a:t>MambaSpec</a:t>
            </a:r>
            <a:r>
              <a:rPr dirty="0"/>
              <a:t>) → </a:t>
            </a:r>
            <a:r>
              <a:rPr dirty="0" err="1"/>
              <a:t>isinstance</a:t>
            </a:r>
            <a:r>
              <a:rPr dirty="0"/>
              <a:t>() </a:t>
            </a:r>
            <a:r>
              <a:rPr dirty="0" err="1"/>
              <a:t>区分</a:t>
            </a:r>
            <a:r>
              <a:rPr dirty="0"/>
              <a:t> attn vs mamba</a:t>
            </a:r>
            <a:endParaRPr lang="en-US" dirty="0"/>
          </a:p>
          <a:p>
            <a:pPr marL="171450" indent="-171450" algn="l">
              <a:lnSpc>
                <a:spcPts val="1019"/>
              </a:lnSpc>
              <a:buFont typeface="Wingdings" panose="05000000000000000000" pitchFamily="2" charset="2"/>
              <a:buChar char="Ø"/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Backend: </a:t>
            </a:r>
            <a:r>
              <a:rPr dirty="0" err="1"/>
              <a:t>FlashAttentionBackend</a:t>
            </a:r>
            <a:r>
              <a:rPr dirty="0"/>
              <a:t> + </a:t>
            </a:r>
            <a:r>
              <a:rPr dirty="0" err="1"/>
              <a:t>GDNAttentionBackend</a:t>
            </a:r>
            <a:r>
              <a:rPr dirty="0"/>
              <a:t> → </a:t>
            </a:r>
            <a:r>
              <a:rPr dirty="0" err="1"/>
              <a:t>各自的</a:t>
            </a:r>
            <a:r>
              <a:rPr dirty="0"/>
              <a:t> </a:t>
            </a:r>
            <a:r>
              <a:rPr dirty="0" err="1"/>
              <a:t>get_kv_cache_shape</a:t>
            </a:r>
            <a:r>
              <a:rPr dirty="0"/>
              <a:t>() </a:t>
            </a:r>
            <a:r>
              <a:rPr dirty="0" err="1"/>
              <a:t>返回正确</a:t>
            </a:r>
            <a:r>
              <a:rPr dirty="0"/>
              <a:t> shape</a:t>
            </a:r>
            <a:endParaRPr lang="en-US" dirty="0"/>
          </a:p>
          <a:p>
            <a:pPr marL="171450" indent="-171450" algn="l">
              <a:lnSpc>
                <a:spcPts val="1019"/>
              </a:lnSpc>
              <a:buFont typeface="Wingdings" panose="05000000000000000000" pitchFamily="2" charset="2"/>
              <a:buChar char="Ø"/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Allocate: </a:t>
            </a:r>
            <a:r>
              <a:rPr dirty="0" err="1"/>
              <a:t>统一循环</a:t>
            </a:r>
            <a:r>
              <a:rPr dirty="0"/>
              <a:t>, 30 行, 无 </a:t>
            </a:r>
            <a:r>
              <a:rPr dirty="0" err="1"/>
              <a:t>layer_type</a:t>
            </a:r>
            <a:r>
              <a:rPr dirty="0"/>
              <a:t> </a:t>
            </a:r>
            <a:r>
              <a:rPr dirty="0" err="1"/>
              <a:t>判断</a:t>
            </a:r>
            <a:r>
              <a:rPr dirty="0"/>
              <a:t> → config </a:t>
            </a:r>
            <a:r>
              <a:rPr dirty="0" err="1"/>
              <a:t>已编码所有信息</a:t>
            </a:r>
            <a:endParaRPr lang="en-US" dirty="0"/>
          </a:p>
          <a:p>
            <a:pPr marL="171450" indent="-171450" algn="l">
              <a:lnSpc>
                <a:spcPts val="1019"/>
              </a:lnSpc>
              <a:buFont typeface="Wingdings" panose="05000000000000000000" pitchFamily="2" charset="2"/>
              <a:buChar char="Ø"/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Reshape: view() + </a:t>
            </a:r>
            <a:r>
              <a:rPr dirty="0" err="1"/>
              <a:t>as_strided</a:t>
            </a:r>
            <a:r>
              <a:rPr dirty="0"/>
              <a:t>_() </a:t>
            </a:r>
            <a:r>
              <a:rPr dirty="0" err="1"/>
              <a:t>零拷贝重排</a:t>
            </a:r>
            <a:r>
              <a:rPr dirty="0"/>
              <a:t> → (2,N,...) → (N,2,...) 纯 stride </a:t>
            </a:r>
            <a:r>
              <a:rPr dirty="0" err="1"/>
              <a:t>调整</a:t>
            </a:r>
            <a:r>
              <a:rPr dirty="0"/>
              <a:t>→ </a:t>
            </a:r>
            <a:r>
              <a:rPr dirty="0" err="1"/>
              <a:t>model_runner</a:t>
            </a:r>
            <a:r>
              <a:rPr dirty="0"/>
              <a:t> </a:t>
            </a:r>
            <a:r>
              <a:rPr dirty="0" err="1"/>
              <a:t>从不检查layer_type</a:t>
            </a:r>
            <a:r>
              <a:rPr dirty="0"/>
              <a:t> </a:t>
            </a:r>
            <a:r>
              <a:rPr lang="zh-CN" altLang="en-US" dirty="0"/>
              <a:t>→</a:t>
            </a:r>
            <a:r>
              <a:rPr dirty="0"/>
              <a:t> </a:t>
            </a:r>
            <a:r>
              <a:rPr dirty="0" err="1"/>
              <a:t>所有模型特有逻辑封装在</a:t>
            </a:r>
            <a:r>
              <a:rPr dirty="0"/>
              <a:t> Spec + Backend </a:t>
            </a:r>
            <a:r>
              <a:rPr dirty="0" err="1"/>
              <a:t>内部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8933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">
            <a:extLst>
              <a:ext uri="{FF2B5EF4-FFF2-40B4-BE49-F238E27FC236}">
                <a16:creationId xmlns:a16="http://schemas.microsoft.com/office/drawing/2014/main" id="{66AFB406-213F-F882-679D-F4E0EBE18E09}"/>
              </a:ext>
            </a:extLst>
          </p:cNvPr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21 / 30</a:t>
            </a: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350EEA51-5FC2-0B3D-3AB2-A89D1BB9F0A1}"/>
              </a:ext>
            </a:extLst>
          </p:cNvPr>
          <p:cNvSpPr txBox="1"/>
          <p:nvPr/>
        </p:nvSpPr>
        <p:spPr>
          <a:xfrm>
            <a:off x="54864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C8102E"/>
                </a:solidFill>
                <a:latin typeface="Microsoft YaHei"/>
              </a:defRPr>
            </a:pPr>
            <a:r>
              <a:t>Qwen3.5 Hybrid — Ascend 管线 + 上游 vs Ascend 逐阶段对比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A99076E1-B565-3040-06C8-1BEDB3D43FAF}"/>
              </a:ext>
            </a:extLst>
          </p:cNvPr>
          <p:cNvSpPr txBox="1"/>
          <p:nvPr/>
        </p:nvSpPr>
        <p:spPr>
          <a:xfrm>
            <a:off x="548640" y="43891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595757"/>
                </a:solidFill>
                <a:latin typeface="Microsoft YaHei"/>
              </a:defRPr>
            </a:pPr>
            <a:r>
              <a:t>Spec 复用上游 ✓ 但 Allocate/Reshape 被迫引入 hybrid 专用路径 → 差异集中在管线后半段</a:t>
            </a:r>
          </a:p>
        </p:txBody>
      </p:sp>
      <p:sp>
        <p:nvSpPr>
          <p:cNvPr id="18" name="Rounded Rectangle 4">
            <a:extLst>
              <a:ext uri="{FF2B5EF4-FFF2-40B4-BE49-F238E27FC236}">
                <a16:creationId xmlns:a16="http://schemas.microsoft.com/office/drawing/2014/main" id="{0DE1E055-0BB1-ED96-7CAC-0316F9C5704F}"/>
              </a:ext>
            </a:extLst>
          </p:cNvPr>
          <p:cNvSpPr/>
          <p:nvPr/>
        </p:nvSpPr>
        <p:spPr>
          <a:xfrm>
            <a:off x="274320" y="749808"/>
            <a:ext cx="5852160" cy="141732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69AA6903-0AE6-5024-6D2E-EA4FFC178B2C}"/>
              </a:ext>
            </a:extLst>
          </p:cNvPr>
          <p:cNvSpPr/>
          <p:nvPr/>
        </p:nvSpPr>
        <p:spPr>
          <a:xfrm>
            <a:off x="274320" y="749808"/>
            <a:ext cx="38100" cy="141732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780DA926-3E8C-6488-8466-235126A84B23}"/>
              </a:ext>
            </a:extLst>
          </p:cNvPr>
          <p:cNvSpPr txBox="1"/>
          <p:nvPr/>
        </p:nvSpPr>
        <p:spPr>
          <a:xfrm>
            <a:off x="426720" y="851408"/>
            <a:ext cx="55473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Ascend Spec + Backend: 最好的部分 (几乎无差异)</a:t>
            </a: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E32A78DF-295B-6787-DDBB-2EF317C9948F}"/>
              </a:ext>
            </a:extLst>
          </p:cNvPr>
          <p:cNvSpPr txBox="1"/>
          <p:nvPr/>
        </p:nvSpPr>
        <p:spPr>
          <a:xfrm>
            <a:off x="426720" y="1130808"/>
            <a:ext cx="5547360" cy="93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Spec: 直接复用上游 FullAttentionSpec + MambaSpec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← Qwen3.5 不用 MLA → 唯一不需要 AscendMLAAttentionSpec 的模型!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唯一修改: object.__setattr__(attn_spec, 'page_size_padded', mamba_size)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→ 强制对齐到 mamba，触发 hybrid 单 tensor 路径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Backend: AscendAttentionBackend (GQA) + GDNAttentionBackend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get_kv_cache_shape() → (2,N,B,4,256) — 与上游完全相同!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← 唯一不需要「二次解读」shape 的 Ascend Backend</a:t>
            </a:r>
          </a:p>
        </p:txBody>
      </p:sp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09E8115B-905E-F170-0A30-D774E387FFEC}"/>
              </a:ext>
            </a:extLst>
          </p:cNvPr>
          <p:cNvSpPr/>
          <p:nvPr/>
        </p:nvSpPr>
        <p:spPr>
          <a:xfrm>
            <a:off x="6400800" y="749808"/>
            <a:ext cx="5486400" cy="141732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C65D6E85-9D3C-416D-EF06-3C57030D946A}"/>
              </a:ext>
            </a:extLst>
          </p:cNvPr>
          <p:cNvSpPr/>
          <p:nvPr/>
        </p:nvSpPr>
        <p:spPr>
          <a:xfrm>
            <a:off x="6400800" y="749808"/>
            <a:ext cx="38100" cy="14173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0A35BD96-C01D-D0CA-D919-9ED5D6A3256B}"/>
              </a:ext>
            </a:extLst>
          </p:cNvPr>
          <p:cNvSpPr txBox="1"/>
          <p:nvPr/>
        </p:nvSpPr>
        <p:spPr>
          <a:xfrm>
            <a:off x="6553200" y="851408"/>
            <a:ext cx="5181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Ascend Allocate + Reshape: 差异集中爆发 (hybrid 专用路径)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1B5FEE12-B6B0-42F0-BC28-FD54EA19C058}"/>
              </a:ext>
            </a:extLst>
          </p:cNvPr>
          <p:cNvSpPr txBox="1"/>
          <p:nvPr/>
        </p:nvSpPr>
        <p:spPr>
          <a:xfrm>
            <a:off x="6553200" y="1130808"/>
            <a:ext cx="5181600" cy="93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Allocate: hybrid_with_attn_and_mamba = True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→ 单 int8 tensor 分配 (表面与上游相同)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但内部 layout 完全不同 — 为后续 strip/split 预留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Reshape (model_runner_v1:4370-4615, ~100 行 hybrid 专用):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Step 1: attn_page_size = prod(shape[1:]) * dtype.itemsize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Step 2: conv_padding = raw.numel() - attn_page_size * 2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Step 3: raw = raw[conv_padding:]    # strip mamba conv 前缀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Step 4: k = raw[:attn_page_size]    # K 区域 (手动计算 offset)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       v = raw[attn_page_size:]   # V 区域 (手动计算 offset)</a:t>
            </a:r>
          </a:p>
        </p:txBody>
      </p:sp>
      <p:graphicFrame>
        <p:nvGraphicFramePr>
          <p:cNvPr id="26" name="Table 12">
            <a:extLst>
              <a:ext uri="{FF2B5EF4-FFF2-40B4-BE49-F238E27FC236}">
                <a16:creationId xmlns:a16="http://schemas.microsoft.com/office/drawing/2014/main" id="{D3A4D121-4B79-234A-E010-C4C14BE3F96D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2331720"/>
          <a:ext cx="11338560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上游 vLLM (基线)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vLLM-Ascend (现状)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差距 (Δ) 及原因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Spec</a:t>
                      </a:r>
                      <a:br/>
                      <a:r>
                        <a:t>类型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FullAttentionSpec + MambaSpec</a:t>
                      </a:r>
                      <a:br/>
                      <a:r>
                        <a:t>2 种原生类型，各司其职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完全复用上游 ✓</a:t>
                      </a:r>
                      <a:br/>
                      <a:r>
                        <a:t>+ page_size_padded 强制对齐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几乎无差异</a:t>
                      </a:r>
                      <a:br/>
                      <a:r>
                        <a:t>(Qwen3.5 不用 MLA)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Backend</a:t>
                      </a:r>
                      <a:br/>
                      <a:r>
                        <a:t>shape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(2,N,B,4,256)</a:t>
                      </a:r>
                      <a:br/>
                      <a:r>
                        <a:t>K/V 交织在同一 tensor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(2,N,B,4,256)</a:t>
                      </a:r>
                      <a:br/>
                      <a:r>
                        <a:t>与上游完全相同!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无差异</a:t>
                      </a:r>
                      <a:br/>
                      <a:r>
                        <a:t>(shape 语义足够)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Allocate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单 int8 tensor 统一循环</a:t>
                      </a:r>
                      <a:br/>
                      <a:r>
                        <a:t>30 行, 0 分支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单 int8 tensor (hybrid 路径)</a:t>
                      </a:r>
                      <a:br/>
                      <a:r>
                        <a:t>内部 layout 为 strip 预留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分配相同, 语义不同</a:t>
                      </a:r>
                      <a:br/>
                      <a:r>
                        <a:t>(上游不管内部布局)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Reshape</a:t>
                      </a:r>
                      <a:br/>
                      <a:r>
                        <a:t>(核心差距)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view(bf16).view(2,N,B,H,D)</a:t>
                      </a:r>
                      <a:br/>
                      <a:r>
                        <a:t>→ as_strided_ 调 stride</a:t>
                      </a:r>
                      <a:br/>
                      <a:r>
                        <a:t>零拷贝, ~5 行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strip conv_pad → 手动算 K 区 offset</a:t>
                      </a:r>
                      <a:br/>
                      <a:r>
                        <a:t>→ 手动算 V 区 offset → split</a:t>
                      </a:r>
                      <a:br/>
                      <a:r>
                        <a:t>~100 行 hybrid 专用代码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上游 as_strided_ 解决的事</a:t>
                      </a:r>
                      <a:br/>
                      <a:r>
                        <a:t>Ascend 需 strip+split</a:t>
                      </a:r>
                      <a:br/>
                      <a:r>
                        <a:t>(NPU 不支持 stride view)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最终</a:t>
                      </a:r>
                      <a:br/>
                      <a:r>
                        <a:t>结果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attn: (N,2,B,H,D) 单 tensor</a:t>
                      </a:r>
                      <a:br/>
                      <a:r>
                        <a:t>mamba: list[tensor]</a:t>
                      </a:r>
                      <a:br/>
                      <a:r>
                        <a:t>同一 buffer 两种视图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attn: (k_tensor, v_tensor) tuple</a:t>
                      </a:r>
                      <a:br/>
                      <a:r>
                        <a:t>mamba: list[tensor]</a:t>
                      </a:r>
                      <a:br/>
                      <a:r>
                        <a:t>K/V 必须物理独立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K/V 必须独立 tensor</a:t>
                      </a:r>
                      <a:br/>
                      <a:r>
                        <a:t>→ 传给 NPU 算子的要求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7E7240DB-7E26-66F2-2757-3C5848CA5ECE}"/>
              </a:ext>
            </a:extLst>
          </p:cNvPr>
          <p:cNvSpPr/>
          <p:nvPr/>
        </p:nvSpPr>
        <p:spPr>
          <a:xfrm>
            <a:off x="274320" y="4709160"/>
            <a:ext cx="5852160" cy="12446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上 游 Buffer: 单 tensor, K/V 自然交织, as_strided_ 零拷贝重排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endParaRPr/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┌───────────────────────┬───────────────────────┐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  K block0..N (连续)    │  V block0..N (连续)   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└───────────────────────┴───────────────────────┘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view(bf16).view(2,N,B,H,D)  →  as_strided_  →  (N,2,B,H,D)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K/V 仍在同一 tensor 内, stride 改变逻辑视图, 不物理拷贝</a:t>
            </a:r>
          </a:p>
        </p:txBody>
      </p:sp>
      <p:sp>
        <p:nvSpPr>
          <p:cNvPr id="28" name="Rounded Rectangle 14">
            <a:extLst>
              <a:ext uri="{FF2B5EF4-FFF2-40B4-BE49-F238E27FC236}">
                <a16:creationId xmlns:a16="http://schemas.microsoft.com/office/drawing/2014/main" id="{7A1F2473-F816-85F5-E855-40EAAD9E4294}"/>
              </a:ext>
            </a:extLst>
          </p:cNvPr>
          <p:cNvSpPr/>
          <p:nvPr/>
        </p:nvSpPr>
        <p:spPr>
          <a:xfrm>
            <a:off x="6400800" y="4709160"/>
            <a:ext cx="5486400" cy="13970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Ascend Buffer: 物理分四区域, strip + 手动 split → K/V tuple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endParaRPr/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┌──────────┬────────────┬────────────┬──────────┐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│conv_state│ K blocks   │ V blocks   │ssm_state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│(mamba)   │ (attn)     │ (attn)     │(mamba)   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└──────────┴────────────┴────────────┴──────────┘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 ↑ strip    ↑ raw[p:][:K]  ↑ raw[p:][K:]  ↑ sliced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1E1E1E"/>
                </a:solidFill>
                <a:latin typeface="Consolas"/>
              </a:defRPr>
            </a:pPr>
            <a:r>
              <a:t>   conv_pad   手动计算 offset  手动计算 offset  [start:end]</a:t>
            </a:r>
          </a:p>
        </p:txBody>
      </p:sp>
    </p:spTree>
    <p:extLst>
      <p:ext uri="{BB962C8B-B14F-4D97-AF65-F5344CB8AC3E}">
        <p14:creationId xmlns:p14="http://schemas.microsoft.com/office/powerpoint/2010/main" val="3342137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0816D14-1897-650B-7070-76BC817C2480}"/>
              </a:ext>
            </a:extLst>
          </p:cNvPr>
          <p:cNvSpPr txBox="1"/>
          <p:nvPr/>
        </p:nvSpPr>
        <p:spPr>
          <a:xfrm>
            <a:off x="548640" y="228600"/>
            <a:ext cx="2743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6000B"/>
                </a:solidFill>
                <a:latin typeface="Consolas"/>
              </a:defRPr>
            </a:pPr>
            <a:r>
              <a:t>PART 6 · 精度维度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238B2CF-E58B-F4F1-32E0-F81A299FA4C1}"/>
              </a:ext>
            </a:extLst>
          </p:cNvPr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defRPr sz="3200" b="1">
                <a:solidFill>
                  <a:srgbClr val="C6000B"/>
                </a:solidFill>
                <a:latin typeface="Microsoft YaHei"/>
              </a:defRPr>
            </a:pPr>
            <a:r>
              <a:t>bf16 vs fp8：与模型、硬件正交的第三维度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B8B3EF4-F4BA-936C-C401-5FF198728324}"/>
              </a:ext>
            </a:extLst>
          </p:cNvPr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defRPr sz="1300" b="0">
                <a:solidFill>
                  <a:srgbClr val="595757"/>
                </a:solidFill>
                <a:latin typeface="Microsoft YaHei"/>
              </a:defRPr>
            </a:pPr>
            <a:r>
              <a:t>同一模型 DS V3.2 在 bf16 / int8 C8 / fp8 C8 三种精度下的完整链路对比</a:t>
            </a:r>
          </a:p>
        </p:txBody>
      </p:sp>
    </p:spTree>
    <p:extLst>
      <p:ext uri="{BB962C8B-B14F-4D97-AF65-F5344CB8AC3E}">
        <p14:creationId xmlns:p14="http://schemas.microsoft.com/office/powerpoint/2010/main" val="2231480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B78532-AD93-69F4-1BEF-E6CDD7BF2D4E}"/>
              </a:ext>
            </a:extLst>
          </p:cNvPr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C6000B"/>
                </a:solidFill>
                <a:latin typeface="Microsoft YaHei"/>
              </a:defRPr>
            </a:pPr>
            <a:r>
              <a:t>精度维度：同一模型三种精度的 KV Cache 行为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824E51-A1E7-C7F6-652F-4E58C79E8C73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822960"/>
          <a:ext cx="11338560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bf16 行为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int8 C8 (A3)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fp8 C8 (A5)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DS V3.1</a:t>
                      </a:r>
                      <a:br/>
                      <a:r>
                        <a:t>(标准 MLA)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kv_lora(512)+k_rope(64)</a:t>
                      </a:r>
                      <a:br/>
                      <a:r>
                        <a:t>2 tensor, bf16</a:t>
                      </a:r>
                      <a:br/>
                      <a:r>
                        <a:t>每token: 1152B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— (不使用)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— (不使用)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DS V3.2</a:t>
                      </a:r>
                      <a:br/>
                      <a:r>
                        <a:t>(Sparse MLA)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kv_lora+k_rope+idx_k</a:t>
                      </a:r>
                      <a:br/>
                      <a:r>
                        <a:t>3 tensor, 全bf16</a:t>
                      </a:r>
                      <a:br/>
                      <a:r>
                        <a:t>每token: 1408B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kv_lora+k_rope</a:t>
                      </a:r>
                      <a:br/>
                      <a:r>
                        <a:t>+idx_k(int8)+scale(fp16)</a:t>
                      </a:r>
                      <a:br/>
                      <a:r>
                        <a:t>4 tensor, 每token:1282B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CKV(fp8)+idx_k(fp8)</a:t>
                      </a:r>
                      <a:br/>
                      <a:r>
                        <a:t>+scale(fp32)</a:t>
                      </a:r>
                      <a:br/>
                      <a:r>
                        <a:t>3 tensor, 每token:644B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DS V4</a:t>
                      </a:r>
                      <a:br/>
                      <a:r>
                        <a:t>(Compress)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— (不使用 bf16)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— (不使用)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compress_K(fp8)</a:t>
                      </a:r>
                      <a:br/>
                      <a:r>
                        <a:t>+scale(ue8m0)</a:t>
                      </a:r>
                      <a:br/>
                      <a:r>
                        <a:t>as_strided 2~3 views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Qwen3 MoE</a:t>
                      </a:r>
                      <a:br/>
                      <a:r>
                        <a:t>(GQA)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K(128)+V(128) bf16</a:t>
                      </a:r>
                      <a:br/>
                      <a:r>
                        <a:t>2 tensor</a:t>
                      </a:r>
                      <a:br/>
                      <a:r>
                        <a:t>每token: 256B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— (不使用)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— (不使用)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02F661F-19B3-EBB4-EAA5-3EE226B6EB83}"/>
              </a:ext>
            </a:extLst>
          </p:cNvPr>
          <p:cNvSpPr txBox="1"/>
          <p:nvPr/>
        </p:nvSpPr>
        <p:spPr>
          <a:xfrm>
            <a:off x="548640" y="3017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defRPr sz="1100" b="1">
                <a:solidFill>
                  <a:srgbClr val="1E1E1E"/>
                </a:solidFill>
                <a:latin typeface="Microsoft YaHei"/>
              </a:defRPr>
            </a:pPr>
            <a:r>
              <a:t>DS V3.2 Sparse MLA — 同一模型三精度的逐阶段差异：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2A1CF7-7071-999C-6E05-161D045B62AB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3383280"/>
          <a:ext cx="11338560" cy="235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bf16 (非 C8)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int8 C8 (A3)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fp8 C8 (A5)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Spec: cache_sparse_c8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Spec: sparse_head_dim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(512, 64, 128)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(512, 64, 128)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(512, 0, 128) ← CKV合并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Spec: k_cache_dtype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bf16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float8_e4m3fn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page_size_bytes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1152×B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1282×B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644×B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Allocate tensor 数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Allocate 内容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k(bf16)+v(bf16)</a:t>
                      </a:r>
                      <a:br/>
                      <a:r>
                        <a:t>+dsa_k(bf16)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k(bf16)+v(bf16)</a:t>
                      </a:r>
                      <a:br/>
                      <a:r>
                        <a:t>+dsa_k(int8)+s(fp16)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ckv(fp8)+dsa_k(fp8)</a:t>
                      </a:r>
                      <a:br/>
                      <a:r>
                        <a:t>+s(fp32)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Reshape k_shape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(N,B,1,512)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(N,B,1,512)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(N,B,1,512+128+16) CKV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Reshape v_shape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(N,B,1,64)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(N,B,1,64)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None (合并入CKV)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E19B172-A987-A6C9-660F-BC5999A50639}"/>
              </a:ext>
            </a:extLst>
          </p:cNvPr>
          <p:cNvSpPr/>
          <p:nvPr/>
        </p:nvSpPr>
        <p:spPr>
          <a:xfrm>
            <a:off x="274320" y="5852160"/>
            <a:ext cx="11338560" cy="609600"/>
          </a:xfrm>
          <a:prstGeom prst="roundRect">
            <a:avLst>
              <a:gd name="adj" fmla="val 4000"/>
            </a:avLst>
          </a:prstGeom>
          <a:solidFill>
            <a:srgbClr val="FDF3EA"/>
          </a:solidFill>
          <a:ln w="12700">
            <a:solidFill>
              <a:srgbClr val="FFA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6B01E7-12A3-A701-CA3C-96258162BED0}"/>
              </a:ext>
            </a:extLst>
          </p:cNvPr>
          <p:cNvSpPr/>
          <p:nvPr/>
        </p:nvSpPr>
        <p:spPr>
          <a:xfrm>
            <a:off x="274320" y="5852160"/>
            <a:ext cx="50800" cy="609600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02F6E5-1E3F-4661-72FD-0D797F6C2AD2}"/>
              </a:ext>
            </a:extLst>
          </p:cNvPr>
          <p:cNvSpPr txBox="1"/>
          <p:nvPr/>
        </p:nvSpPr>
        <p:spPr>
          <a:xfrm>
            <a:off x="452120" y="5928360"/>
            <a:ext cx="109829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ED6C00"/>
                </a:solidFill>
                <a:latin typeface="Microsoft YaHei"/>
              </a:defRPr>
            </a:pPr>
            <a:r>
              <a:t>&gt; 精度 + 设备 + 模型 = 三维正交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E98FDA-E5BF-1AD7-8E3C-701CDFAB61CE}"/>
              </a:ext>
            </a:extLst>
          </p:cNvPr>
          <p:cNvSpPr txBox="1"/>
          <p:nvPr/>
        </p:nvSpPr>
        <p:spPr>
          <a:xfrm>
            <a:off x="452120" y="6131560"/>
            <a:ext cx="109829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t>精度不是模型类型的子属性，也不是硬件设备的子属性——它是与两者正交的独立维度。同一模型 (DS V3.2) + 不同精度 → tensor 数从 3→4→3，dtype 从全 bf16→bf16+int8+fp16→全 fp8，每 token 字节数从 1408B→1282B→644B。</a:t>
            </a:r>
          </a:p>
        </p:txBody>
      </p:sp>
    </p:spTree>
    <p:extLst>
      <p:ext uri="{BB962C8B-B14F-4D97-AF65-F5344CB8AC3E}">
        <p14:creationId xmlns:p14="http://schemas.microsoft.com/office/powerpoint/2010/main" val="135003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">
            <a:extLst>
              <a:ext uri="{FF2B5EF4-FFF2-40B4-BE49-F238E27FC236}">
                <a16:creationId xmlns:a16="http://schemas.microsoft.com/office/drawing/2014/main" id="{04D0E841-D03F-80F7-2399-9AA265936644}"/>
              </a:ext>
            </a:extLst>
          </p:cNvPr>
          <p:cNvSpPr txBox="1"/>
          <p:nvPr/>
        </p:nvSpPr>
        <p:spPr>
          <a:xfrm>
            <a:off x="192024" y="172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C6000B"/>
                </a:solidFill>
                <a:latin typeface="Microsoft YaHei"/>
              </a:defRPr>
            </a:pPr>
            <a:r>
              <a:rPr dirty="0" err="1"/>
              <a:t>精度处理：上游一个字段</a:t>
            </a:r>
            <a:r>
              <a:rPr dirty="0"/>
              <a:t> vs Ascend </a:t>
            </a:r>
            <a:r>
              <a:rPr dirty="0" err="1"/>
              <a:t>五个位置</a:t>
            </a:r>
            <a:r>
              <a:rPr dirty="0"/>
              <a:t> — </a:t>
            </a:r>
            <a:r>
              <a:rPr dirty="0" err="1"/>
              <a:t>差距为什么这么大</a:t>
            </a:r>
            <a:r>
              <a:rPr dirty="0"/>
              <a:t>？</a:t>
            </a: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D52D1E3F-972C-7C64-650E-D6E2D8AB8A2A}"/>
              </a:ext>
            </a:extLst>
          </p:cNvPr>
          <p:cNvSpPr txBox="1"/>
          <p:nvPr/>
        </p:nvSpPr>
        <p:spPr>
          <a:xfrm>
            <a:off x="548640" y="43891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595757"/>
                </a:solidFill>
                <a:latin typeface="Microsoft YaHei"/>
              </a:defRPr>
            </a:pPr>
            <a:r>
              <a:t>根因: GPU kernel 可以内部解析打包 buffer (blob) → NPU kernel 需要 host 侧预先拆分 → 精度差异被迫泄漏到 model_runner</a:t>
            </a:r>
          </a:p>
        </p:txBody>
      </p:sp>
      <p:sp>
        <p:nvSpPr>
          <p:cNvPr id="26" name="Rounded Rectangle 4">
            <a:extLst>
              <a:ext uri="{FF2B5EF4-FFF2-40B4-BE49-F238E27FC236}">
                <a16:creationId xmlns:a16="http://schemas.microsoft.com/office/drawing/2014/main" id="{C158C98C-83FB-8B1F-0595-2010755367F4}"/>
              </a:ext>
            </a:extLst>
          </p:cNvPr>
          <p:cNvSpPr/>
          <p:nvPr/>
        </p:nvSpPr>
        <p:spPr>
          <a:xfrm>
            <a:off x="274320" y="749808"/>
            <a:ext cx="5852160" cy="1549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上游: 精度切换 — 只改 Backend 内部的 shape 最后一维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endParaRPr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def get_kv_cache_shape(..., cache_dtype_str='auto'):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if cache_dtype_str == 'fp8_ds_mla':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return (N, B, 656)    ← fp8 字节布局 (含 scale)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else: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return (N, B, 576)    ← bf16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endParaRPr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model_runner 看到的: shape 从 (N,B,576) 变成 (N,B,656)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其余一切不变 — tensor 数量不变, dtype 不变, 分支不变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→ cache_dtype_str 1 个字段封装全部精度差异</a:t>
            </a:r>
          </a:p>
        </p:txBody>
      </p:sp>
      <p:sp>
        <p:nvSpPr>
          <p:cNvPr id="27" name="Rounded Rectangle 5">
            <a:extLst>
              <a:ext uri="{FF2B5EF4-FFF2-40B4-BE49-F238E27FC236}">
                <a16:creationId xmlns:a16="http://schemas.microsoft.com/office/drawing/2014/main" id="{ED77FAB1-41D4-23CB-DE61-C69DE3DD7A5B}"/>
              </a:ext>
            </a:extLst>
          </p:cNvPr>
          <p:cNvSpPr/>
          <p:nvPr/>
        </p:nvSpPr>
        <p:spPr>
          <a:xfrm>
            <a:off x="6400800" y="749808"/>
            <a:ext cx="5486400" cy="1422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Ascend: 精度切换 — 需要同步修改 5 个不同位置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endParaRPr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① page_size_bytes:      if C8: A5公式? A3公式? else: bf16公式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② sparse_kv_cache_ratio: A5返回3-tuple, A3返回4-tuple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③ Allocate 分支:         if C8+A5:3t elif C8:4t else:3t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④ Reshape k_shape:       A5 CKV=(N,B,1,704), A3 k=(N,B,1,512)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⑤ Reshape v_shape:       A5 v=None(CKV合并), A3 v=(N,B,1,64)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endParaRPr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这 5 处分散在 model_runner 不同函数里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每加一种精度 → 需要找到所有分支点 → 手动保持一致</a:t>
            </a:r>
          </a:p>
        </p:txBody>
      </p:sp>
      <p:sp>
        <p:nvSpPr>
          <p:cNvPr id="28" name="Rounded Rectangle 6">
            <a:extLst>
              <a:ext uri="{FF2B5EF4-FFF2-40B4-BE49-F238E27FC236}">
                <a16:creationId xmlns:a16="http://schemas.microsoft.com/office/drawing/2014/main" id="{C80048A6-FD61-7DFD-AAED-3C69C5389932}"/>
              </a:ext>
            </a:extLst>
          </p:cNvPr>
          <p:cNvSpPr/>
          <p:nvPr/>
        </p:nvSpPr>
        <p:spPr>
          <a:xfrm>
            <a:off x="246220" y="2408936"/>
            <a:ext cx="5880259" cy="2149857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7">
            <a:extLst>
              <a:ext uri="{FF2B5EF4-FFF2-40B4-BE49-F238E27FC236}">
                <a16:creationId xmlns:a16="http://schemas.microsoft.com/office/drawing/2014/main" id="{D4AAA9A3-AC5A-A510-33CE-17E8FD8C5A5B}"/>
              </a:ext>
            </a:extLst>
          </p:cNvPr>
          <p:cNvSpPr/>
          <p:nvPr/>
        </p:nvSpPr>
        <p:spPr>
          <a:xfrm>
            <a:off x="246221" y="2408936"/>
            <a:ext cx="38100" cy="1874519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593D29E7-99F0-EE2B-0E57-AC48110D6CBA}"/>
              </a:ext>
            </a:extLst>
          </p:cNvPr>
          <p:cNvSpPr txBox="1"/>
          <p:nvPr/>
        </p:nvSpPr>
        <p:spPr>
          <a:xfrm>
            <a:off x="398621" y="2510536"/>
            <a:ext cx="55473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上游为什么能做到 1 个字段搞定</a:t>
            </a:r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57691900-3ECF-7090-6344-DAED6A035C12}"/>
              </a:ext>
            </a:extLst>
          </p:cNvPr>
          <p:cNvSpPr txBox="1"/>
          <p:nvPr/>
        </p:nvSpPr>
        <p:spPr>
          <a:xfrm>
            <a:off x="398621" y="2789936"/>
            <a:ext cx="5547360" cy="139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GPU CUDA kernel 的设计模式: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接受单 uint8/int8 buffer (blob)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kernel 内部按 struct 字节布局解析各字段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→ 传一个 blob 就能跑, host 侧只管总大小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endParaRPr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精度切换的影响范围: 仅 Backend.get_kv_cache_shape()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bf16 → shape 最后一维 = 576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fp8  → shape 最后一维 = 656 (含 scale 和 padding)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→ model_runner 完全不感知精度变化</a:t>
            </a:r>
          </a:p>
        </p:txBody>
      </p:sp>
      <p:sp>
        <p:nvSpPr>
          <p:cNvPr id="32" name="Rounded Rectangle 10">
            <a:extLst>
              <a:ext uri="{FF2B5EF4-FFF2-40B4-BE49-F238E27FC236}">
                <a16:creationId xmlns:a16="http://schemas.microsoft.com/office/drawing/2014/main" id="{919DCD48-CB9E-BFD9-F6B6-5CBB0F01785F}"/>
              </a:ext>
            </a:extLst>
          </p:cNvPr>
          <p:cNvSpPr/>
          <p:nvPr/>
        </p:nvSpPr>
        <p:spPr>
          <a:xfrm>
            <a:off x="6372700" y="2408936"/>
            <a:ext cx="5514499" cy="2149857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11">
            <a:extLst>
              <a:ext uri="{FF2B5EF4-FFF2-40B4-BE49-F238E27FC236}">
                <a16:creationId xmlns:a16="http://schemas.microsoft.com/office/drawing/2014/main" id="{27855CA8-C710-EA6F-27CE-026D85A0ACF8}"/>
              </a:ext>
            </a:extLst>
          </p:cNvPr>
          <p:cNvSpPr/>
          <p:nvPr/>
        </p:nvSpPr>
        <p:spPr>
          <a:xfrm>
            <a:off x="6372701" y="2408936"/>
            <a:ext cx="38100" cy="1874519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2">
            <a:extLst>
              <a:ext uri="{FF2B5EF4-FFF2-40B4-BE49-F238E27FC236}">
                <a16:creationId xmlns:a16="http://schemas.microsoft.com/office/drawing/2014/main" id="{3F9F24B4-B34E-9996-10DA-6264524B9BFA}"/>
              </a:ext>
            </a:extLst>
          </p:cNvPr>
          <p:cNvSpPr txBox="1"/>
          <p:nvPr/>
        </p:nvSpPr>
        <p:spPr>
          <a:xfrm>
            <a:off x="6525101" y="2510536"/>
            <a:ext cx="5181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Ascend 为什么做不到 — NPU 算子接口的根本约束</a:t>
            </a: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9CB98A6D-AB69-DCD2-6BC4-C20F21F35B5B}"/>
              </a:ext>
            </a:extLst>
          </p:cNvPr>
          <p:cNvSpPr txBox="1"/>
          <p:nvPr/>
        </p:nvSpPr>
        <p:spPr>
          <a:xfrm>
            <a:off x="6525101" y="2789936"/>
            <a:ext cx="5181600" cy="139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NPU kernel 的设计模式: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不接受打包 blob, 每个子 component 必须是独立 tensor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且 dtype 必须正确 (bf16/int8/fp8/fp32 各不同)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→ host 侧必须预先拆分并标注每个 tensor 的 dtype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endParaRPr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精度切换的影响范围: 遍及整个 pipeline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tensor 数量 (3→4→3), 每个 tensor 的 dtype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scale tensor 有无, CKV merge shape 公式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page_size_bytes 计算公式, sparse_kv_cache_ratio</a:t>
            </a:r>
          </a:p>
        </p:txBody>
      </p:sp>
      <p:sp>
        <p:nvSpPr>
          <p:cNvPr id="36" name="Rounded Rectangle 14">
            <a:extLst>
              <a:ext uri="{FF2B5EF4-FFF2-40B4-BE49-F238E27FC236}">
                <a16:creationId xmlns:a16="http://schemas.microsoft.com/office/drawing/2014/main" id="{1713F0BA-16B4-3C39-9DA8-879D7EE42171}"/>
              </a:ext>
            </a:extLst>
          </p:cNvPr>
          <p:cNvSpPr/>
          <p:nvPr/>
        </p:nvSpPr>
        <p:spPr>
          <a:xfrm>
            <a:off x="265271" y="4795521"/>
            <a:ext cx="11403330" cy="941831"/>
          </a:xfrm>
          <a:prstGeom prst="roundRect">
            <a:avLst>
              <a:gd name="adj" fmla="val 4000"/>
            </a:avLst>
          </a:prstGeom>
          <a:solidFill>
            <a:srgbClr val="FAEBEE"/>
          </a:solidFill>
          <a:ln w="1270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15">
            <a:extLst>
              <a:ext uri="{FF2B5EF4-FFF2-40B4-BE49-F238E27FC236}">
                <a16:creationId xmlns:a16="http://schemas.microsoft.com/office/drawing/2014/main" id="{2104E083-E24F-C793-C503-8E4DED893348}"/>
              </a:ext>
            </a:extLst>
          </p:cNvPr>
          <p:cNvSpPr/>
          <p:nvPr/>
        </p:nvSpPr>
        <p:spPr>
          <a:xfrm>
            <a:off x="265271" y="4795521"/>
            <a:ext cx="51090" cy="941831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16">
            <a:extLst>
              <a:ext uri="{FF2B5EF4-FFF2-40B4-BE49-F238E27FC236}">
                <a16:creationId xmlns:a16="http://schemas.microsoft.com/office/drawing/2014/main" id="{D8E670AF-16D1-07A0-1B6E-165F95B4C0EE}"/>
              </a:ext>
            </a:extLst>
          </p:cNvPr>
          <p:cNvSpPr txBox="1"/>
          <p:nvPr/>
        </p:nvSpPr>
        <p:spPr>
          <a:xfrm>
            <a:off x="398621" y="4875445"/>
            <a:ext cx="11045699" cy="225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8102E"/>
                </a:solidFill>
                <a:latin typeface="Microsoft YaHei"/>
              </a:defRPr>
            </a:pPr>
            <a:r>
              <a:t>&gt; 精度正交性的正确承载方式</a:t>
            </a:r>
          </a:p>
        </p:txBody>
      </p:sp>
      <p:sp>
        <p:nvSpPr>
          <p:cNvPr id="39" name="TextBox 17">
            <a:extLst>
              <a:ext uri="{FF2B5EF4-FFF2-40B4-BE49-F238E27FC236}">
                <a16:creationId xmlns:a16="http://schemas.microsoft.com/office/drawing/2014/main" id="{204D22D1-34C1-04BA-FA97-00848DC231A9}"/>
              </a:ext>
            </a:extLst>
          </p:cNvPr>
          <p:cNvSpPr txBox="1"/>
          <p:nvPr/>
        </p:nvSpPr>
        <p:spPr>
          <a:xfrm>
            <a:off x="444086" y="5136032"/>
            <a:ext cx="1104569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019"/>
              </a:lnSpc>
              <a:buFont typeface="Wingdings" panose="05000000000000000000" pitchFamily="2" charset="2"/>
              <a:buChar char="Ø"/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b="1" dirty="0" err="1"/>
              <a:t>上游</a:t>
            </a:r>
            <a:r>
              <a:rPr dirty="0"/>
              <a:t>: </a:t>
            </a:r>
            <a:r>
              <a:rPr dirty="0" err="1"/>
              <a:t>精度差异被</a:t>
            </a:r>
            <a:r>
              <a:rPr dirty="0"/>
              <a:t> Backend </a:t>
            </a:r>
            <a:r>
              <a:rPr dirty="0" err="1"/>
              <a:t>内部消化</a:t>
            </a:r>
            <a:r>
              <a:rPr dirty="0"/>
              <a:t> → </a:t>
            </a:r>
            <a:r>
              <a:rPr dirty="0" err="1"/>
              <a:t>model_runner</a:t>
            </a:r>
            <a:r>
              <a:rPr dirty="0"/>
              <a:t> </a:t>
            </a:r>
            <a:r>
              <a:rPr dirty="0" err="1"/>
              <a:t>只看到</a:t>
            </a:r>
            <a:r>
              <a:rPr dirty="0"/>
              <a:t> shape </a:t>
            </a:r>
            <a:r>
              <a:rPr dirty="0" err="1"/>
              <a:t>变化</a:t>
            </a:r>
            <a:r>
              <a:rPr dirty="0"/>
              <a:t> → 1 </a:t>
            </a:r>
            <a:r>
              <a:rPr dirty="0" err="1"/>
              <a:t>个字段</a:t>
            </a:r>
            <a:r>
              <a:rPr dirty="0"/>
              <a:t> (</a:t>
            </a:r>
            <a:r>
              <a:rPr dirty="0" err="1"/>
              <a:t>cache_dtype_str</a:t>
            </a:r>
            <a:r>
              <a:rPr dirty="0"/>
              <a:t>) </a:t>
            </a:r>
            <a:r>
              <a:rPr dirty="0" err="1"/>
              <a:t>编码全部精度信息</a:t>
            </a:r>
            <a:endParaRPr lang="en-US" dirty="0"/>
          </a:p>
          <a:p>
            <a:pPr marL="171450" indent="-171450" algn="l">
              <a:lnSpc>
                <a:spcPts val="1019"/>
              </a:lnSpc>
              <a:buFont typeface="Wingdings" panose="05000000000000000000" pitchFamily="2" charset="2"/>
              <a:buChar char="Ø"/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b="1" dirty="0"/>
              <a:t>Ascend </a:t>
            </a:r>
            <a:r>
              <a:rPr b="1" dirty="0" err="1"/>
              <a:t>当前</a:t>
            </a:r>
            <a:r>
              <a:rPr dirty="0"/>
              <a:t>: </a:t>
            </a:r>
            <a:r>
              <a:rPr dirty="0" err="1"/>
              <a:t>精度差异散落在</a:t>
            </a:r>
            <a:r>
              <a:rPr dirty="0"/>
              <a:t> 5 </a:t>
            </a:r>
            <a:r>
              <a:rPr dirty="0" err="1"/>
              <a:t>个位置</a:t>
            </a:r>
            <a:r>
              <a:rPr dirty="0"/>
              <a:t> → </a:t>
            </a:r>
            <a:r>
              <a:rPr dirty="0" err="1"/>
              <a:t>每次精度切换需要手动同步</a:t>
            </a:r>
            <a:r>
              <a:rPr dirty="0"/>
              <a:t> → </a:t>
            </a:r>
            <a:r>
              <a:rPr dirty="0" err="1"/>
              <a:t>容易出错</a:t>
            </a:r>
            <a:r>
              <a:rPr dirty="0"/>
              <a:t>, </a:t>
            </a:r>
            <a:r>
              <a:rPr dirty="0" err="1"/>
              <a:t>不可测试</a:t>
            </a:r>
            <a:endParaRPr lang="en-US" dirty="0"/>
          </a:p>
          <a:p>
            <a:pPr marL="171450" indent="-171450" algn="l">
              <a:lnSpc>
                <a:spcPts val="1019"/>
              </a:lnSpc>
              <a:buFont typeface="Wingdings" panose="05000000000000000000" pitchFamily="2" charset="2"/>
              <a:buChar char="Ø"/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b="1" dirty="0" err="1"/>
              <a:t>目标</a:t>
            </a:r>
            <a:r>
              <a:rPr dirty="0"/>
              <a:t>: Layout(precision, device) </a:t>
            </a:r>
            <a:r>
              <a:rPr dirty="0" err="1"/>
              <a:t>构造参数接受精度+设备</a:t>
            </a:r>
            <a:r>
              <a:rPr dirty="0"/>
              <a:t> → Layout </a:t>
            </a:r>
            <a:r>
              <a:rPr dirty="0" err="1"/>
              <a:t>内部消化全部差异</a:t>
            </a:r>
            <a:r>
              <a:rPr dirty="0"/>
              <a:t> → </a:t>
            </a:r>
            <a:r>
              <a:rPr dirty="0" err="1"/>
              <a:t>model_runner</a:t>
            </a:r>
            <a:r>
              <a:rPr dirty="0"/>
              <a:t> </a:t>
            </a:r>
            <a:r>
              <a:rPr dirty="0" err="1"/>
              <a:t>回归"不感知精度</a:t>
            </a:r>
            <a:r>
              <a:rPr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769390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3911E0-3342-C072-0CD3-303C5587F506}"/>
              </a:ext>
            </a:extLst>
          </p:cNvPr>
          <p:cNvSpPr txBox="1"/>
          <p:nvPr/>
        </p:nvSpPr>
        <p:spPr>
          <a:xfrm>
            <a:off x="548640" y="228600"/>
            <a:ext cx="27432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6000B"/>
                </a:solidFill>
                <a:latin typeface="Consolas"/>
              </a:defRPr>
            </a:pPr>
            <a:r>
              <a:t>PART 7 · 根因 + 对齐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76E2FF-FF67-E8B7-A3D8-205BFC83A90B}"/>
              </a:ext>
            </a:extLst>
          </p:cNvPr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defRPr sz="3200" b="1">
                <a:solidFill>
                  <a:srgbClr val="C6000B"/>
                </a:solidFill>
                <a:latin typeface="Microsoft YaHei"/>
              </a:defRPr>
            </a:pPr>
            <a:r>
              <a:t>差异根因分析与社区对齐路线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C04C76-649D-CA57-73E0-AA8645F438C6}"/>
              </a:ext>
            </a:extLst>
          </p:cNvPr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defRPr sz="1300" b="0">
                <a:solidFill>
                  <a:srgbClr val="595757"/>
                </a:solidFill>
                <a:latin typeface="Microsoft YaHei"/>
              </a:defRPr>
            </a:pPr>
            <a:r>
              <a:t>六大根因 → Layout 重构 → 三步对齐计划</a:t>
            </a:r>
          </a:p>
        </p:txBody>
      </p:sp>
    </p:spTree>
    <p:extLst>
      <p:ext uri="{BB962C8B-B14F-4D97-AF65-F5344CB8AC3E}">
        <p14:creationId xmlns:p14="http://schemas.microsoft.com/office/powerpoint/2010/main" val="2765624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D79AE1-6142-3199-9A8E-85DD0B2CBAB4}"/>
              </a:ext>
            </a:extLst>
          </p:cNvPr>
          <p:cNvSpPr txBox="1"/>
          <p:nvPr/>
        </p:nvSpPr>
        <p:spPr>
          <a:xfrm>
            <a:off x="121920" y="95504"/>
            <a:ext cx="10972800" cy="513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rPr dirty="0" err="1"/>
              <a:t>根因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和源头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FC119D-744A-89F4-D601-D5E490707BDA}"/>
              </a:ext>
            </a:extLst>
          </p:cNvPr>
          <p:cNvSpPr/>
          <p:nvPr/>
        </p:nvSpPr>
        <p:spPr>
          <a:xfrm>
            <a:off x="222503" y="619760"/>
            <a:ext cx="3749039" cy="1325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DAFEFB-32C6-6755-6C66-C6C446F2A324}"/>
              </a:ext>
            </a:extLst>
          </p:cNvPr>
          <p:cNvSpPr/>
          <p:nvPr/>
        </p:nvSpPr>
        <p:spPr>
          <a:xfrm>
            <a:off x="222503" y="619760"/>
            <a:ext cx="38100" cy="13258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40CD2-4C66-06F6-5386-71ABD2EB9D01}"/>
              </a:ext>
            </a:extLst>
          </p:cNvPr>
          <p:cNvSpPr txBox="1"/>
          <p:nvPr/>
        </p:nvSpPr>
        <p:spPr>
          <a:xfrm>
            <a:off x="374903" y="72136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1. K/V 物理分离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5D2E69-5A77-FEAC-C618-F61186FD2A2E}"/>
              </a:ext>
            </a:extLst>
          </p:cNvPr>
          <p:cNvSpPr txBox="1"/>
          <p:nvPr/>
        </p:nvSpPr>
        <p:spPr>
          <a:xfrm>
            <a:off x="374903" y="1000760"/>
            <a:ext cx="3444239" cy="84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PD分离架构要求K/V独立RDMA传输。2MB对齐是硬件要求。影响所有模型类型。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0D184A3-9D3E-0FCC-1948-36EF3C880241}"/>
              </a:ext>
            </a:extLst>
          </p:cNvPr>
          <p:cNvSpPr/>
          <p:nvPr/>
        </p:nvSpPr>
        <p:spPr>
          <a:xfrm>
            <a:off x="4154423" y="619760"/>
            <a:ext cx="3749039" cy="1325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FF028F-0C4A-389B-D53C-859ED3711D8C}"/>
              </a:ext>
            </a:extLst>
          </p:cNvPr>
          <p:cNvSpPr/>
          <p:nvPr/>
        </p:nvSpPr>
        <p:spPr>
          <a:xfrm>
            <a:off x="4154423" y="619760"/>
            <a:ext cx="38100" cy="132588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DC5853-BD1E-3C19-5378-1E025F8B2843}"/>
              </a:ext>
            </a:extLst>
          </p:cNvPr>
          <p:cNvSpPr txBox="1"/>
          <p:nvPr/>
        </p:nvSpPr>
        <p:spPr>
          <a:xfrm>
            <a:off x="4306823" y="72136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2. NPU 不支持 stride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761A89-C928-EADA-7A9A-4DA59BEE0D3C}"/>
              </a:ext>
            </a:extLst>
          </p:cNvPr>
          <p:cNvSpPr txBox="1"/>
          <p:nvPr/>
        </p:nvSpPr>
        <p:spPr>
          <a:xfrm>
            <a:off x="4306823" y="1000760"/>
            <a:ext cx="3444239" cy="84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DMA Engine只接受{base_addr,length}。GPU的SIMT LSU允许任意地址计算。根因中的根因。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96A8F8-1ED6-8C06-40E7-BEDE29645E7D}"/>
              </a:ext>
            </a:extLst>
          </p:cNvPr>
          <p:cNvSpPr/>
          <p:nvPr/>
        </p:nvSpPr>
        <p:spPr>
          <a:xfrm>
            <a:off x="8086343" y="619760"/>
            <a:ext cx="3749039" cy="1325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710B29-6B6D-0C02-1139-693B6EE0C4C6}"/>
              </a:ext>
            </a:extLst>
          </p:cNvPr>
          <p:cNvSpPr/>
          <p:nvPr/>
        </p:nvSpPr>
        <p:spPr>
          <a:xfrm>
            <a:off x="8086343" y="619760"/>
            <a:ext cx="38100" cy="1325880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A6376C-C6EA-52B1-699F-8EE5ED10E3AA}"/>
              </a:ext>
            </a:extLst>
          </p:cNvPr>
          <p:cNvSpPr txBox="1"/>
          <p:nvPr/>
        </p:nvSpPr>
        <p:spPr>
          <a:xfrm>
            <a:off x="8238743" y="72136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ED6C00"/>
                </a:solidFill>
                <a:latin typeface="Microsoft YaHei"/>
              </a:defRPr>
            </a:pPr>
            <a:r>
              <a:t>3. Sparse 多 Tensor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9300B-A1E3-C5B7-DD97-02FC38338014}"/>
              </a:ext>
            </a:extLst>
          </p:cNvPr>
          <p:cNvSpPr txBox="1"/>
          <p:nvPr/>
        </p:nvSpPr>
        <p:spPr>
          <a:xfrm>
            <a:off x="8238743" y="1000760"/>
            <a:ext cx="3444239" cy="84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aclnnSparseFlashAttention 需要3~4独立tensor输入。host侧预拆分 → allocate/reshape复杂化。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49A8266-89DD-9CDC-86DC-85A3262373B4}"/>
              </a:ext>
            </a:extLst>
          </p:cNvPr>
          <p:cNvSpPr/>
          <p:nvPr/>
        </p:nvSpPr>
        <p:spPr>
          <a:xfrm>
            <a:off x="222503" y="2174240"/>
            <a:ext cx="3749039" cy="1325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D8FBCD-6100-30EF-70AF-E4012ECE3890}"/>
              </a:ext>
            </a:extLst>
          </p:cNvPr>
          <p:cNvSpPr/>
          <p:nvPr/>
        </p:nvSpPr>
        <p:spPr>
          <a:xfrm>
            <a:off x="222503" y="2174240"/>
            <a:ext cx="38100" cy="1325880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26D0EE-99AE-53F5-C770-C10EA4B3A33A}"/>
              </a:ext>
            </a:extLst>
          </p:cNvPr>
          <p:cNvSpPr txBox="1"/>
          <p:nvPr/>
        </p:nvSpPr>
        <p:spPr>
          <a:xfrm>
            <a:off x="374903" y="227584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ED6C00"/>
                </a:solidFill>
                <a:latin typeface="Microsoft YaHei"/>
              </a:defRPr>
            </a:pPr>
            <a:r>
              <a:t>4. Compress 交织 Layout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B49687-98AB-B366-B33C-D10A9B2137A0}"/>
              </a:ext>
            </a:extLst>
          </p:cNvPr>
          <p:cNvSpPr txBox="1"/>
          <p:nvPr/>
        </p:nvSpPr>
        <p:spPr>
          <a:xfrm>
            <a:off x="374903" y="2555240"/>
            <a:ext cx="3444239" cy="84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DS V4的K和scale按block交织。reshape需as_strided overlay零拷贝。A5 epilog需叠加视图。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AA373FE-37E0-B754-DF5F-C08AD841B425}"/>
              </a:ext>
            </a:extLst>
          </p:cNvPr>
          <p:cNvSpPr/>
          <p:nvPr/>
        </p:nvSpPr>
        <p:spPr>
          <a:xfrm>
            <a:off x="4154423" y="2174240"/>
            <a:ext cx="3749039" cy="1325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3DF8D3-893F-D611-8FCE-6D568EB2A117}"/>
              </a:ext>
            </a:extLst>
          </p:cNvPr>
          <p:cNvSpPr/>
          <p:nvPr/>
        </p:nvSpPr>
        <p:spPr>
          <a:xfrm>
            <a:off x="4154423" y="2174240"/>
            <a:ext cx="38100" cy="132588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6A1ACD-FC3E-3048-BD29-1A105ED763FF}"/>
              </a:ext>
            </a:extLst>
          </p:cNvPr>
          <p:cNvSpPr txBox="1"/>
          <p:nvPr/>
        </p:nvSpPr>
        <p:spPr>
          <a:xfrm>
            <a:off x="4306823" y="227584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0B"/>
                </a:solidFill>
                <a:latin typeface="Microsoft YaHei"/>
              </a:defRPr>
            </a:pPr>
            <a:r>
              <a:t>5. A3 vs A5 硬件差异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6ECE25-9212-1795-FC34-B72DC2EFB43E}"/>
              </a:ext>
            </a:extLst>
          </p:cNvPr>
          <p:cNvSpPr txBox="1"/>
          <p:nvPr/>
        </p:nvSpPr>
        <p:spPr>
          <a:xfrm>
            <a:off x="4306823" y="2555240"/>
            <a:ext cx="3444239" cy="84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A5: CKV fp8合并(3 tensor)。A3: bf16分离(4 tensor)。device分支散落各处。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30249CB-E994-7E70-783F-296E38138200}"/>
              </a:ext>
            </a:extLst>
          </p:cNvPr>
          <p:cNvSpPr/>
          <p:nvPr/>
        </p:nvSpPr>
        <p:spPr>
          <a:xfrm>
            <a:off x="8086343" y="2174240"/>
            <a:ext cx="3749039" cy="132588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97ED4D-6DF7-97B3-1683-335C3B3E9C3B}"/>
              </a:ext>
            </a:extLst>
          </p:cNvPr>
          <p:cNvSpPr/>
          <p:nvPr/>
        </p:nvSpPr>
        <p:spPr>
          <a:xfrm>
            <a:off x="8086343" y="2174240"/>
            <a:ext cx="38100" cy="132588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BEE4F8-6F6B-3D01-2F51-E69A397995F8}"/>
              </a:ext>
            </a:extLst>
          </p:cNvPr>
          <p:cNvSpPr txBox="1"/>
          <p:nvPr/>
        </p:nvSpPr>
        <p:spPr>
          <a:xfrm>
            <a:off x="8238743" y="227584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0B"/>
                </a:solidFill>
                <a:latin typeface="Microsoft YaHei"/>
              </a:defRPr>
            </a:pPr>
            <a:r>
              <a:t>6. Backend 接口不足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BB5FF1-A738-432A-4FB5-DBA2BE79B02C}"/>
              </a:ext>
            </a:extLst>
          </p:cNvPr>
          <p:cNvSpPr txBox="1"/>
          <p:nvPr/>
        </p:nvSpPr>
        <p:spPr>
          <a:xfrm>
            <a:off x="8238743" y="2555240"/>
            <a:ext cx="3444239" cy="84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get_kv_cache_shape()单返回值无法表达多tensor布局。语义泄漏到model_runner。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E7D1144-96E6-7A46-9FE4-5F30E8AB9A53}"/>
              </a:ext>
            </a:extLst>
          </p:cNvPr>
          <p:cNvSpPr/>
          <p:nvPr/>
        </p:nvSpPr>
        <p:spPr>
          <a:xfrm>
            <a:off x="274320" y="3571240"/>
            <a:ext cx="11408662" cy="1153160"/>
          </a:xfrm>
          <a:prstGeom prst="roundRect">
            <a:avLst>
              <a:gd name="adj" fmla="val 4000"/>
            </a:avLst>
          </a:prstGeom>
          <a:solidFill>
            <a:srgbClr val="FAEBEE"/>
          </a:solidFill>
          <a:ln w="1270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08E02A-24F1-2FF2-626D-3071CBF37577}"/>
              </a:ext>
            </a:extLst>
          </p:cNvPr>
          <p:cNvSpPr/>
          <p:nvPr/>
        </p:nvSpPr>
        <p:spPr>
          <a:xfrm>
            <a:off x="274320" y="3571240"/>
            <a:ext cx="51114" cy="11531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C857A4-BF7F-9F57-1D59-60308682237B}"/>
              </a:ext>
            </a:extLst>
          </p:cNvPr>
          <p:cNvSpPr txBox="1"/>
          <p:nvPr/>
        </p:nvSpPr>
        <p:spPr>
          <a:xfrm>
            <a:off x="426720" y="3693825"/>
            <a:ext cx="11050863" cy="225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C8102E"/>
                </a:solidFill>
                <a:latin typeface="Microsoft YaHei"/>
              </a:defRPr>
            </a:pPr>
            <a:r>
              <a:rPr dirty="0"/>
              <a:t>&gt; </a:t>
            </a:r>
            <a:r>
              <a:rPr dirty="0" err="1"/>
              <a:t>根本源头</a:t>
            </a:r>
            <a:endParaRPr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EA9D42-64C4-B80F-9DCB-66D3E64E98CD}"/>
              </a:ext>
            </a:extLst>
          </p:cNvPr>
          <p:cNvSpPr txBox="1"/>
          <p:nvPr/>
        </p:nvSpPr>
        <p:spPr>
          <a:xfrm>
            <a:off x="452119" y="3954847"/>
            <a:ext cx="1105086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019"/>
              </a:lnSpc>
              <a:buFont typeface="Wingdings" panose="05000000000000000000" pitchFamily="2" charset="2"/>
              <a:buChar char="Ø"/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硬件约束</a:t>
            </a:r>
            <a:r>
              <a:rPr dirty="0"/>
              <a:t>: </a:t>
            </a:r>
            <a:r>
              <a:rPr dirty="0" err="1"/>
              <a:t>NPU算子不支持stride访问</a:t>
            </a:r>
            <a:r>
              <a:rPr dirty="0"/>
              <a:t> → </a:t>
            </a:r>
            <a:r>
              <a:rPr dirty="0" err="1"/>
              <a:t>host侧必须预拆分tensor</a:t>
            </a:r>
            <a:r>
              <a:rPr dirty="0"/>
              <a:t> → </a:t>
            </a:r>
            <a:r>
              <a:rPr dirty="0" err="1"/>
              <a:t>分配和重塑逻辑复杂化</a:t>
            </a:r>
            <a:r>
              <a:rPr dirty="0"/>
              <a:t> (根因1~5)。</a:t>
            </a:r>
            <a:endParaRPr lang="en-US" dirty="0"/>
          </a:p>
          <a:p>
            <a:pPr marL="171450" indent="-171450" algn="l">
              <a:lnSpc>
                <a:spcPts val="1019"/>
              </a:lnSpc>
              <a:buFont typeface="Wingdings" panose="05000000000000000000" pitchFamily="2" charset="2"/>
              <a:buChar char="Ø"/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lang="en-US" altLang="zh-CN" dirty="0"/>
              <a:t>Spec </a:t>
            </a:r>
            <a:r>
              <a:rPr lang="zh-CN" altLang="en-US" dirty="0"/>
              <a:t>设计</a:t>
            </a:r>
            <a:r>
              <a:rPr lang="en-US" altLang="zh-CN" dirty="0"/>
              <a:t>: </a:t>
            </a:r>
            <a:r>
              <a:rPr lang="zh-CN" altLang="en-US" dirty="0"/>
              <a:t>类型不编码语义 → </a:t>
            </a:r>
            <a:r>
              <a:rPr lang="en-US" altLang="zh-CN" dirty="0" err="1"/>
              <a:t>isinstance</a:t>
            </a:r>
            <a:r>
              <a:rPr lang="en-US" altLang="zh-CN" dirty="0"/>
              <a:t>()</a:t>
            </a:r>
            <a:r>
              <a:rPr lang="zh-CN" altLang="en-US" dirty="0"/>
              <a:t>无区分力 → 下游被迫用</a:t>
            </a:r>
            <a:r>
              <a:rPr lang="en-US" altLang="zh-CN" dirty="0"/>
              <a:t>if-else</a:t>
            </a:r>
            <a:r>
              <a:rPr lang="zh-CN" altLang="en-US" dirty="0"/>
              <a:t>恢复丢失的类型信息 </a:t>
            </a:r>
            <a:r>
              <a:rPr lang="en-US" altLang="zh-CN" dirty="0"/>
              <a:t>(</a:t>
            </a:r>
            <a:r>
              <a:rPr lang="zh-CN" altLang="en-US" dirty="0"/>
              <a:t>根因</a:t>
            </a:r>
            <a:r>
              <a:rPr lang="en-US" altLang="zh-CN" dirty="0"/>
              <a:t>3)</a:t>
            </a:r>
            <a:r>
              <a:rPr lang="zh-CN" altLang="en-US" dirty="0"/>
              <a:t>。</a:t>
            </a:r>
            <a:endParaRPr lang="en-US" dirty="0"/>
          </a:p>
          <a:p>
            <a:pPr marL="171450" indent="-171450" algn="l">
              <a:lnSpc>
                <a:spcPts val="1019"/>
              </a:lnSpc>
              <a:buFont typeface="Wingdings" panose="05000000000000000000" pitchFamily="2" charset="2"/>
              <a:buChar char="Ø"/>
              <a:defRPr sz="850" b="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接口缺陷</a:t>
            </a:r>
            <a:r>
              <a:rPr dirty="0"/>
              <a:t>: </a:t>
            </a:r>
            <a:r>
              <a:rPr dirty="0" err="1"/>
              <a:t>get_kv_cache_shape</a:t>
            </a:r>
            <a:r>
              <a:rPr dirty="0"/>
              <a:t>() </a:t>
            </a:r>
            <a:r>
              <a:rPr dirty="0" err="1"/>
              <a:t>单返回值无法表达多tensor布局</a:t>
            </a:r>
            <a:r>
              <a:rPr dirty="0"/>
              <a:t> → </a:t>
            </a:r>
            <a:r>
              <a:rPr dirty="0" err="1"/>
              <a:t>信息泄漏到</a:t>
            </a:r>
            <a:r>
              <a:rPr dirty="0"/>
              <a:t> </a:t>
            </a:r>
            <a:r>
              <a:rPr dirty="0" err="1"/>
              <a:t>model_runner</a:t>
            </a:r>
            <a:r>
              <a:rPr dirty="0"/>
              <a:t> (根因6)。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31265AF-7C1B-CFFA-4BB2-447BA2CC567A}"/>
              </a:ext>
            </a:extLst>
          </p:cNvPr>
          <p:cNvSpPr/>
          <p:nvPr/>
        </p:nvSpPr>
        <p:spPr>
          <a:xfrm>
            <a:off x="274319" y="4846320"/>
            <a:ext cx="5574419" cy="1475806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2312479-9F41-B7E3-9C9E-E89E7C3250E2}"/>
              </a:ext>
            </a:extLst>
          </p:cNvPr>
          <p:cNvSpPr/>
          <p:nvPr/>
        </p:nvSpPr>
        <p:spPr>
          <a:xfrm>
            <a:off x="274319" y="4846320"/>
            <a:ext cx="45719" cy="1475806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9BAB05-E783-75EF-D069-B46F91223A80}"/>
              </a:ext>
            </a:extLst>
          </p:cNvPr>
          <p:cNvSpPr txBox="1"/>
          <p:nvPr/>
        </p:nvSpPr>
        <p:spPr>
          <a:xfrm>
            <a:off x="426719" y="4947919"/>
            <a:ext cx="5264729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Layout 重构：多态分发替代 if-else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28B374-6211-9389-A04E-58ED19E9ED6B}"/>
              </a:ext>
            </a:extLst>
          </p:cNvPr>
          <p:cNvSpPr txBox="1"/>
          <p:nvPr/>
        </p:nvSpPr>
        <p:spPr>
          <a:xfrm>
            <a:off x="426719" y="5227320"/>
            <a:ext cx="5264729" cy="1032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KVCacheLayout</a:t>
            </a:r>
            <a:r>
              <a:rPr dirty="0"/>
              <a:t> </a:t>
            </a:r>
            <a:r>
              <a:rPr dirty="0" err="1"/>
              <a:t>抽象基类</a:t>
            </a:r>
            <a:r>
              <a:rPr dirty="0"/>
              <a:t>: </a:t>
            </a:r>
            <a:r>
              <a:rPr dirty="0" err="1"/>
              <a:t>get_kv_cache_shape</a:t>
            </a:r>
            <a:r>
              <a:rPr dirty="0"/>
              <a:t>()→list[shape]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split_sizes</a:t>
            </a:r>
            <a:r>
              <a:rPr dirty="0"/>
              <a:t>(</a:t>
            </a:r>
            <a:r>
              <a:rPr dirty="0" err="1"/>
              <a:t>total,spec</a:t>
            </a:r>
            <a:r>
              <a:rPr dirty="0"/>
              <a:t>)→list[int]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reshape(</a:t>
            </a:r>
            <a:r>
              <a:rPr dirty="0" err="1"/>
              <a:t>raws,spec</a:t>
            </a:r>
            <a:r>
              <a:rPr dirty="0"/>
              <a:t>)→list[Tensor]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6 </a:t>
            </a:r>
            <a:r>
              <a:rPr dirty="0" err="1"/>
              <a:t>个子类</a:t>
            </a:r>
            <a:r>
              <a:rPr dirty="0"/>
              <a:t>: </a:t>
            </a:r>
            <a:r>
              <a:rPr dirty="0" err="1"/>
              <a:t>StandardKV</a:t>
            </a:r>
            <a:r>
              <a:rPr dirty="0"/>
              <a:t>, </a:t>
            </a:r>
            <a:r>
              <a:rPr dirty="0" err="1"/>
              <a:t>MLANopeRope</a:t>
            </a:r>
            <a:r>
              <a:rPr dirty="0"/>
              <a:t>, </a:t>
            </a:r>
            <a:r>
              <a:rPr dirty="0" err="1"/>
              <a:t>SparseMLA</a:t>
            </a:r>
            <a:r>
              <a:rPr dirty="0"/>
              <a:t>,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CompressedMLA</a:t>
            </a:r>
            <a:r>
              <a:rPr dirty="0"/>
              <a:t>, Hybrid, </a:t>
            </a:r>
            <a:r>
              <a:rPr dirty="0" err="1"/>
              <a:t>CacheOnly</a:t>
            </a:r>
            <a:endParaRPr dirty="0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93A8C97-DD02-392D-B100-736ADB8AE8D4}"/>
              </a:ext>
            </a:extLst>
          </p:cNvPr>
          <p:cNvSpPr/>
          <p:nvPr/>
        </p:nvSpPr>
        <p:spPr>
          <a:xfrm>
            <a:off x="6035040" y="4846320"/>
            <a:ext cx="5667326" cy="1475806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41AAC93-0B7E-7CE2-661E-EB1AB8B5A0D8}"/>
              </a:ext>
            </a:extLst>
          </p:cNvPr>
          <p:cNvSpPr/>
          <p:nvPr/>
        </p:nvSpPr>
        <p:spPr>
          <a:xfrm>
            <a:off x="6035039" y="4846320"/>
            <a:ext cx="45719" cy="1475806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934933-CDDC-34AD-AD9C-6100C731DE69}"/>
              </a:ext>
            </a:extLst>
          </p:cNvPr>
          <p:cNvSpPr txBox="1"/>
          <p:nvPr/>
        </p:nvSpPr>
        <p:spPr>
          <a:xfrm>
            <a:off x="6187440" y="4947919"/>
            <a:ext cx="5357636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6000B"/>
                </a:solidFill>
                <a:latin typeface="Microsoft YaHei"/>
              </a:defRPr>
            </a:pPr>
            <a:r>
              <a:t>社区对齐：5 大任务 + 三步路线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4680EC-278E-00A2-ECBF-0D212DC5773C}"/>
              </a:ext>
            </a:extLst>
          </p:cNvPr>
          <p:cNvSpPr txBox="1"/>
          <p:nvPr/>
        </p:nvSpPr>
        <p:spPr>
          <a:xfrm>
            <a:off x="6187439" y="5206226"/>
            <a:ext cx="5791201" cy="1032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T1: </a:t>
            </a:r>
            <a:r>
              <a:rPr dirty="0" err="1"/>
              <a:t>KVCacheLayout</a:t>
            </a:r>
            <a:r>
              <a:rPr dirty="0"/>
              <a:t> 6子类完成 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T2: </a:t>
            </a:r>
            <a:r>
              <a:rPr dirty="0" err="1"/>
              <a:t>提议</a:t>
            </a:r>
            <a:r>
              <a:rPr dirty="0"/>
              <a:t> </a:t>
            </a:r>
            <a:r>
              <a:rPr dirty="0" err="1"/>
              <a:t>get_kv_cache_layout</a:t>
            </a:r>
            <a:r>
              <a:rPr dirty="0"/>
              <a:t>() </a:t>
            </a:r>
            <a:r>
              <a:rPr dirty="0" err="1"/>
              <a:t>为硬件无关抽象</a:t>
            </a:r>
            <a:r>
              <a:rPr dirty="0"/>
              <a:t> 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T3: </a:t>
            </a:r>
            <a:r>
              <a:rPr dirty="0" err="1"/>
              <a:t>Spec字段通用化</a:t>
            </a:r>
            <a:r>
              <a:rPr dirty="0"/>
              <a:t>: </a:t>
            </a:r>
            <a:r>
              <a:rPr dirty="0" err="1"/>
              <a:t>sparse_head_dim</a:t>
            </a:r>
            <a:r>
              <a:rPr dirty="0"/>
              <a:t>/cache_sparse_c8 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T4: </a:t>
            </a:r>
            <a:r>
              <a:rPr dirty="0" err="1"/>
              <a:t>删除</a:t>
            </a:r>
            <a:r>
              <a:rPr dirty="0"/>
              <a:t> </a:t>
            </a:r>
            <a:r>
              <a:rPr dirty="0" err="1"/>
              <a:t>model_runner</a:t>
            </a:r>
            <a:r>
              <a:rPr dirty="0"/>
              <a:t> patch + </a:t>
            </a:r>
            <a:r>
              <a:rPr dirty="0" err="1"/>
              <a:t>NPU特有字段</a:t>
            </a:r>
            <a:r>
              <a:rPr dirty="0"/>
              <a:t> , 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rPr dirty="0"/>
              <a:t>T5: </a:t>
            </a:r>
            <a:r>
              <a:rPr dirty="0" err="1"/>
              <a:t>算子侧</a:t>
            </a:r>
            <a:r>
              <a:rPr dirty="0"/>
              <a:t> stride </a:t>
            </a:r>
            <a:r>
              <a:rPr dirty="0" err="1"/>
              <a:t>支持推进</a:t>
            </a:r>
            <a:r>
              <a:rPr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3567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2">
            <a:extLst>
              <a:ext uri="{FF2B5EF4-FFF2-40B4-BE49-F238E27FC236}">
                <a16:creationId xmlns:a16="http://schemas.microsoft.com/office/drawing/2014/main" id="{7E4FD7BB-D384-1B95-4FD3-990877D3808A}"/>
              </a:ext>
            </a:extLst>
          </p:cNvPr>
          <p:cNvSpPr txBox="1"/>
          <p:nvPr/>
        </p:nvSpPr>
        <p:spPr>
          <a:xfrm>
            <a:off x="164592" y="-96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58B230"/>
                </a:solidFill>
                <a:latin typeface="Microsoft YaHei"/>
              </a:defRPr>
            </a:pPr>
            <a:r>
              <a:rPr dirty="0" err="1"/>
              <a:t>差距分析：上游</a:t>
            </a:r>
            <a:r>
              <a:rPr dirty="0"/>
              <a:t> vs Ascend — </a:t>
            </a:r>
            <a:r>
              <a:rPr dirty="0" err="1"/>
              <a:t>三个层面</a:t>
            </a:r>
            <a:r>
              <a:rPr dirty="0"/>
              <a:t> + </a:t>
            </a:r>
            <a:r>
              <a:rPr dirty="0" err="1"/>
              <a:t>三步对齐</a:t>
            </a:r>
            <a:endParaRPr dirty="0"/>
          </a:p>
        </p:txBody>
      </p:sp>
      <p:sp>
        <p:nvSpPr>
          <p:cNvPr id="32" name="TextBox 3">
            <a:extLst>
              <a:ext uri="{FF2B5EF4-FFF2-40B4-BE49-F238E27FC236}">
                <a16:creationId xmlns:a16="http://schemas.microsoft.com/office/drawing/2014/main" id="{22CD6484-56A0-E954-2A8B-C64F664E93AA}"/>
              </a:ext>
            </a:extLst>
          </p:cNvPr>
          <p:cNvSpPr txBox="1"/>
          <p:nvPr/>
        </p:nvSpPr>
        <p:spPr>
          <a:xfrm>
            <a:off x="274320" y="384556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595757"/>
                </a:solidFill>
                <a:latin typeface="Microsoft YaHei"/>
              </a:defRPr>
            </a:pPr>
            <a:r>
              <a:rPr dirty="0" err="1"/>
              <a:t>差距从</a:t>
            </a:r>
            <a:r>
              <a:rPr dirty="0"/>
              <a:t> </a:t>
            </a:r>
            <a:r>
              <a:rPr dirty="0" err="1"/>
              <a:t>分组</a:t>
            </a:r>
            <a:r>
              <a:rPr dirty="0"/>
              <a:t> (</a:t>
            </a:r>
            <a:r>
              <a:rPr dirty="0" err="1"/>
              <a:t>最小</a:t>
            </a:r>
            <a:r>
              <a:rPr dirty="0"/>
              <a:t>) → </a:t>
            </a:r>
            <a:r>
              <a:rPr dirty="0" err="1"/>
              <a:t>分配</a:t>
            </a:r>
            <a:r>
              <a:rPr dirty="0"/>
              <a:t> (</a:t>
            </a:r>
            <a:r>
              <a:rPr dirty="0" err="1"/>
              <a:t>关键</a:t>
            </a:r>
            <a:r>
              <a:rPr dirty="0"/>
              <a:t>) → </a:t>
            </a:r>
            <a:r>
              <a:rPr dirty="0" err="1"/>
              <a:t>内部布局</a:t>
            </a:r>
            <a:r>
              <a:rPr dirty="0"/>
              <a:t> (</a:t>
            </a:r>
            <a:r>
              <a:rPr dirty="0" err="1"/>
              <a:t>根本</a:t>
            </a:r>
            <a:r>
              <a:rPr dirty="0"/>
              <a:t>) </a:t>
            </a:r>
            <a:r>
              <a:rPr dirty="0" err="1"/>
              <a:t>逐级递增</a:t>
            </a:r>
            <a:r>
              <a:rPr dirty="0"/>
              <a:t> → </a:t>
            </a:r>
            <a:r>
              <a:rPr dirty="0" err="1"/>
              <a:t>三步路线逐层解决</a:t>
            </a:r>
            <a:endParaRPr dirty="0"/>
          </a:p>
        </p:txBody>
      </p:sp>
      <p:sp>
        <p:nvSpPr>
          <p:cNvPr id="33" name="Rounded Rectangle 4">
            <a:extLst>
              <a:ext uri="{FF2B5EF4-FFF2-40B4-BE49-F238E27FC236}">
                <a16:creationId xmlns:a16="http://schemas.microsoft.com/office/drawing/2014/main" id="{3CE33230-4183-6BA4-A769-ABCF5CE975F3}"/>
              </a:ext>
            </a:extLst>
          </p:cNvPr>
          <p:cNvSpPr/>
          <p:nvPr/>
        </p:nvSpPr>
        <p:spPr>
          <a:xfrm>
            <a:off x="164592" y="612395"/>
            <a:ext cx="3657600" cy="16916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3505E7F2-5E2B-404F-ABD5-2B9D7A5BFADA}"/>
              </a:ext>
            </a:extLst>
          </p:cNvPr>
          <p:cNvSpPr/>
          <p:nvPr/>
        </p:nvSpPr>
        <p:spPr>
          <a:xfrm>
            <a:off x="164592" y="612395"/>
            <a:ext cx="38100" cy="169164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6">
            <a:extLst>
              <a:ext uri="{FF2B5EF4-FFF2-40B4-BE49-F238E27FC236}">
                <a16:creationId xmlns:a16="http://schemas.microsoft.com/office/drawing/2014/main" id="{D64BD6FC-0301-D895-7A1B-556DE4A3CA18}"/>
              </a:ext>
            </a:extLst>
          </p:cNvPr>
          <p:cNvSpPr txBox="1"/>
          <p:nvPr/>
        </p:nvSpPr>
        <p:spPr>
          <a:xfrm>
            <a:off x="316992" y="713995"/>
            <a:ext cx="335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层面 1: 分组 (差距 ★ — 最小)</a:t>
            </a: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747903A7-FBC8-71DB-6ADC-475BBAB51FCD}"/>
              </a:ext>
            </a:extLst>
          </p:cNvPr>
          <p:cNvSpPr txBox="1"/>
          <p:nvPr/>
        </p:nvSpPr>
        <p:spPr>
          <a:xfrm>
            <a:off x="316992" y="993395"/>
            <a:ext cx="3352800" cy="120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上游: get_kv_cache_groups() 决策级联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按 page_size / block_size 自动分组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Ascend: 几乎完全复用上游逻辑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仅 DS V4 有 patch (三层结构需按 page_size 分桶)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对齐难度: ★ (低) — 上游已支持 DS V4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未来删除 patch 即可 → Layout 重构后自动解决</a:t>
            </a:r>
          </a:p>
        </p:txBody>
      </p:sp>
      <p:sp>
        <p:nvSpPr>
          <p:cNvPr id="37" name="Rounded Rectangle 8">
            <a:extLst>
              <a:ext uri="{FF2B5EF4-FFF2-40B4-BE49-F238E27FC236}">
                <a16:creationId xmlns:a16="http://schemas.microsoft.com/office/drawing/2014/main" id="{B55BF7B3-1C16-080C-736C-0DD045E15D94}"/>
              </a:ext>
            </a:extLst>
          </p:cNvPr>
          <p:cNvSpPr/>
          <p:nvPr/>
        </p:nvSpPr>
        <p:spPr>
          <a:xfrm>
            <a:off x="4096512" y="612395"/>
            <a:ext cx="3657600" cy="16916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CFFEC931-A574-0A7C-FC33-E093F3A6B639}"/>
              </a:ext>
            </a:extLst>
          </p:cNvPr>
          <p:cNvSpPr/>
          <p:nvPr/>
        </p:nvSpPr>
        <p:spPr>
          <a:xfrm>
            <a:off x="4096512" y="612395"/>
            <a:ext cx="38100" cy="1691640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66435D5B-FA0C-4F36-BD68-FE47FED1FFEE}"/>
              </a:ext>
            </a:extLst>
          </p:cNvPr>
          <p:cNvSpPr txBox="1"/>
          <p:nvPr/>
        </p:nvSpPr>
        <p:spPr>
          <a:xfrm>
            <a:off x="4248912" y="713995"/>
            <a:ext cx="335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ED6C00"/>
                </a:solidFill>
                <a:latin typeface="Microsoft YaHei"/>
              </a:defRPr>
            </a:pPr>
            <a:r>
              <a:t>层面 2: 分配 (差距 ★★★ — 关键)</a:t>
            </a:r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E39FA52E-E3D3-12B5-3312-0593571B7A5C}"/>
              </a:ext>
            </a:extLst>
          </p:cNvPr>
          <p:cNvSpPr txBox="1"/>
          <p:nvPr/>
        </p:nvSpPr>
        <p:spPr>
          <a:xfrm>
            <a:off x="4248912" y="993395"/>
            <a:ext cx="3352800" cy="120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上游: 1 tensor/层, KVCacheTensor.shared_by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统一循环分配, 30 行, 0 分支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Ascend: N tensors/层 (K/V 分离 + sparse 拆分)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185 行, 深度 3 决策树, 每加模型改 3~5 处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对齐难度: ★★★ (中) — 需要 Layout 层封装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Layout.split_sizes() → 返回每 tensor 字节数列表</a:t>
            </a:r>
          </a:p>
        </p:txBody>
      </p:sp>
      <p:sp>
        <p:nvSpPr>
          <p:cNvPr id="41" name="Rounded Rectangle 12">
            <a:extLst>
              <a:ext uri="{FF2B5EF4-FFF2-40B4-BE49-F238E27FC236}">
                <a16:creationId xmlns:a16="http://schemas.microsoft.com/office/drawing/2014/main" id="{B4F981C5-FABC-56B5-1AF1-A413C04522E7}"/>
              </a:ext>
            </a:extLst>
          </p:cNvPr>
          <p:cNvSpPr/>
          <p:nvPr/>
        </p:nvSpPr>
        <p:spPr>
          <a:xfrm>
            <a:off x="8028432" y="612395"/>
            <a:ext cx="3749039" cy="169164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13">
            <a:extLst>
              <a:ext uri="{FF2B5EF4-FFF2-40B4-BE49-F238E27FC236}">
                <a16:creationId xmlns:a16="http://schemas.microsoft.com/office/drawing/2014/main" id="{B5088438-471B-E477-A337-B4F68E0B5856}"/>
              </a:ext>
            </a:extLst>
          </p:cNvPr>
          <p:cNvSpPr/>
          <p:nvPr/>
        </p:nvSpPr>
        <p:spPr>
          <a:xfrm>
            <a:off x="8028432" y="612395"/>
            <a:ext cx="38100" cy="1691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14">
            <a:extLst>
              <a:ext uri="{FF2B5EF4-FFF2-40B4-BE49-F238E27FC236}">
                <a16:creationId xmlns:a16="http://schemas.microsoft.com/office/drawing/2014/main" id="{FA237973-BCFA-9B41-7884-4B0AFD5CD77D}"/>
              </a:ext>
            </a:extLst>
          </p:cNvPr>
          <p:cNvSpPr txBox="1"/>
          <p:nvPr/>
        </p:nvSpPr>
        <p:spPr>
          <a:xfrm>
            <a:off x="8180832" y="713995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层面 3: 内部布局 (差距 ★★★★★ — 根本)</a:t>
            </a:r>
          </a:p>
        </p:txBody>
      </p:sp>
      <p:sp>
        <p:nvSpPr>
          <p:cNvPr id="44" name="TextBox 15">
            <a:extLst>
              <a:ext uri="{FF2B5EF4-FFF2-40B4-BE49-F238E27FC236}">
                <a16:creationId xmlns:a16="http://schemas.microsoft.com/office/drawing/2014/main" id="{9034CC1B-A959-F1EE-0B99-32FEA082EBAE}"/>
              </a:ext>
            </a:extLst>
          </p:cNvPr>
          <p:cNvSpPr txBox="1"/>
          <p:nvPr/>
        </p:nvSpPr>
        <p:spPr>
          <a:xfrm>
            <a:off x="8180832" y="993395"/>
            <a:ext cx="3444239" cy="120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上游: kernel 内部解析字节/offset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GPU 支持 stride → as_strided 零拷贝 → host 不关心内部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Ascend: host 侧预拆分 → reshape 必须知道内部结构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350 行, C8×A5/A3×precision 三维分支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对齐难度: ★★★★★ (高) — 需要 Layout + 算子双管齐下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Layout.reshape() 封装 host 侧逻辑 → 算子侧长期推 stride</a:t>
            </a:r>
          </a:p>
        </p:txBody>
      </p:sp>
      <p:sp>
        <p:nvSpPr>
          <p:cNvPr id="46" name="Rectangle 17">
            <a:extLst>
              <a:ext uri="{FF2B5EF4-FFF2-40B4-BE49-F238E27FC236}">
                <a16:creationId xmlns:a16="http://schemas.microsoft.com/office/drawing/2014/main" id="{19B8F332-847D-D64C-D9BF-A309C67EC064}"/>
              </a:ext>
            </a:extLst>
          </p:cNvPr>
          <p:cNvSpPr/>
          <p:nvPr/>
        </p:nvSpPr>
        <p:spPr>
          <a:xfrm>
            <a:off x="164591" y="2486914"/>
            <a:ext cx="45719" cy="1489709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18">
            <a:extLst>
              <a:ext uri="{FF2B5EF4-FFF2-40B4-BE49-F238E27FC236}">
                <a16:creationId xmlns:a16="http://schemas.microsoft.com/office/drawing/2014/main" id="{19D0F7F7-2163-4FBA-1771-41040538CECA}"/>
              </a:ext>
            </a:extLst>
          </p:cNvPr>
          <p:cNvSpPr txBox="1"/>
          <p:nvPr/>
        </p:nvSpPr>
        <p:spPr>
          <a:xfrm>
            <a:off x="316991" y="2588515"/>
            <a:ext cx="5658307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已对齐 (无需额外工作) ✓</a:t>
            </a:r>
          </a:p>
        </p:txBody>
      </p:sp>
      <p:sp>
        <p:nvSpPr>
          <p:cNvPr id="48" name="TextBox 19">
            <a:extLst>
              <a:ext uri="{FF2B5EF4-FFF2-40B4-BE49-F238E27FC236}">
                <a16:creationId xmlns:a16="http://schemas.microsoft.com/office/drawing/2014/main" id="{2800FEE0-1EE4-0779-D8E8-DF4B4D085A13}"/>
              </a:ext>
            </a:extLst>
          </p:cNvPr>
          <p:cNvSpPr txBox="1"/>
          <p:nvPr/>
        </p:nvSpPr>
        <p:spPr>
          <a:xfrm>
            <a:off x="316991" y="2867914"/>
            <a:ext cx="5658307" cy="834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✓ KVCacheSpec / KVCacheConfig / KVCacheTensor   ✓ BlockPool / SingleTypeKVCacheManager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✓ KVCacheCoordinator (仅 DS V4 有 patch)    ✓ Prefix Caching hash &amp; block 管理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✓ shared_by 多层共享机制    ✓ get_kv_cache_groups() (仅 DS V4 有 patch)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这些属于「规划层」— 在 tensor 分配之前，与 NPU 硬件无关，可直接复用上游</a:t>
            </a:r>
          </a:p>
        </p:txBody>
      </p:sp>
      <p:sp>
        <p:nvSpPr>
          <p:cNvPr id="49" name="Rounded Rectangle 20">
            <a:extLst>
              <a:ext uri="{FF2B5EF4-FFF2-40B4-BE49-F238E27FC236}">
                <a16:creationId xmlns:a16="http://schemas.microsoft.com/office/drawing/2014/main" id="{ECCE6DBC-3757-2B60-E8CD-34283B4987C3}"/>
              </a:ext>
            </a:extLst>
          </p:cNvPr>
          <p:cNvSpPr/>
          <p:nvPr/>
        </p:nvSpPr>
        <p:spPr>
          <a:xfrm>
            <a:off x="6291072" y="2486914"/>
            <a:ext cx="5596128" cy="1489709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21">
            <a:extLst>
              <a:ext uri="{FF2B5EF4-FFF2-40B4-BE49-F238E27FC236}">
                <a16:creationId xmlns:a16="http://schemas.microsoft.com/office/drawing/2014/main" id="{170534DB-A4A9-FCFA-0AD9-6DB34C9AB356}"/>
              </a:ext>
            </a:extLst>
          </p:cNvPr>
          <p:cNvSpPr/>
          <p:nvPr/>
        </p:nvSpPr>
        <p:spPr>
          <a:xfrm>
            <a:off x="6291071" y="2486914"/>
            <a:ext cx="45719" cy="1489709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22">
            <a:extLst>
              <a:ext uri="{FF2B5EF4-FFF2-40B4-BE49-F238E27FC236}">
                <a16:creationId xmlns:a16="http://schemas.microsoft.com/office/drawing/2014/main" id="{20A58295-781B-4D33-0B8B-4FB239C1D81F}"/>
              </a:ext>
            </a:extLst>
          </p:cNvPr>
          <p:cNvSpPr txBox="1"/>
          <p:nvPr/>
        </p:nvSpPr>
        <p:spPr>
          <a:xfrm>
            <a:off x="6443472" y="2588515"/>
            <a:ext cx="5285232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待解决 (全部 P0)</a:t>
            </a:r>
          </a:p>
        </p:txBody>
      </p:sp>
      <p:sp>
        <p:nvSpPr>
          <p:cNvPr id="52" name="TextBox 23">
            <a:extLst>
              <a:ext uri="{FF2B5EF4-FFF2-40B4-BE49-F238E27FC236}">
                <a16:creationId xmlns:a16="http://schemas.microsoft.com/office/drawing/2014/main" id="{C276E44F-1CD2-C9EB-CFD4-EB873919CE6E}"/>
              </a:ext>
            </a:extLst>
          </p:cNvPr>
          <p:cNvSpPr txBox="1"/>
          <p:nvPr/>
        </p:nvSpPr>
        <p:spPr>
          <a:xfrm>
            <a:off x="6443472" y="2867914"/>
            <a:ext cx="5285232" cy="1032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✗ Spec 万能类 → 拆分为 4~5 个子类, 恢复类型即语义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✗ Backend 接口不足 → 扩展为 list[tuple] 或 Layout 对象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✗ Allocate 决策树 → Layout.split_sizes() 替代 185 行 if-else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✗ Reshape 三维分支 → Layout.reshape() 替代 350 行分支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这些属于「执行层」— 直接依赖 NPU 硬件特性, 需要 Layout 层封装</a:t>
            </a:r>
          </a:p>
        </p:txBody>
      </p:sp>
      <p:sp>
        <p:nvSpPr>
          <p:cNvPr id="53" name="TextBox 24">
            <a:extLst>
              <a:ext uri="{FF2B5EF4-FFF2-40B4-BE49-F238E27FC236}">
                <a16:creationId xmlns:a16="http://schemas.microsoft.com/office/drawing/2014/main" id="{2022D515-A791-C7B3-0C80-96AA70B0B88E}"/>
              </a:ext>
            </a:extLst>
          </p:cNvPr>
          <p:cNvSpPr txBox="1"/>
          <p:nvPr/>
        </p:nvSpPr>
        <p:spPr>
          <a:xfrm>
            <a:off x="329184" y="3976623"/>
            <a:ext cx="11192256" cy="25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defRPr sz="1100" b="1">
                <a:solidFill>
                  <a:srgbClr val="1E1E1E"/>
                </a:solidFill>
                <a:latin typeface="Microsoft YaHei"/>
              </a:defRPr>
            </a:pPr>
            <a:r>
              <a:rPr dirty="0" err="1"/>
              <a:t>三步对齐路线：内部重构</a:t>
            </a:r>
            <a:r>
              <a:rPr dirty="0"/>
              <a:t> → </a:t>
            </a:r>
            <a:r>
              <a:rPr dirty="0" err="1"/>
              <a:t>上游</a:t>
            </a:r>
            <a:r>
              <a:rPr dirty="0"/>
              <a:t> RFC → </a:t>
            </a:r>
            <a:r>
              <a:rPr dirty="0" err="1"/>
              <a:t>社区合入</a:t>
            </a:r>
            <a:endParaRPr dirty="0"/>
          </a:p>
        </p:txBody>
      </p:sp>
      <p:sp>
        <p:nvSpPr>
          <p:cNvPr id="54" name="Rounded Rectangle 25">
            <a:extLst>
              <a:ext uri="{FF2B5EF4-FFF2-40B4-BE49-F238E27FC236}">
                <a16:creationId xmlns:a16="http://schemas.microsoft.com/office/drawing/2014/main" id="{9A70C66D-E2AF-A63A-62E2-B528C10446E3}"/>
              </a:ext>
            </a:extLst>
          </p:cNvPr>
          <p:cNvSpPr/>
          <p:nvPr/>
        </p:nvSpPr>
        <p:spPr>
          <a:xfrm>
            <a:off x="274320" y="4251960"/>
            <a:ext cx="1828800" cy="508000"/>
          </a:xfrm>
          <a:prstGeom prst="roundRect">
            <a:avLst>
              <a:gd name="adj" fmla="val 30000"/>
            </a:avLst>
          </a:prstGeom>
          <a:solidFill>
            <a:srgbClr val="0811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58B230"/>
                </a:solidFill>
                <a:latin typeface="Microsoft YaHei"/>
              </a:defRPr>
            </a:pPr>
            <a:r>
              <a:rPr dirty="0"/>
              <a:t>Phase 1 :</a:t>
            </a:r>
            <a:r>
              <a:rPr dirty="0" err="1"/>
              <a:t>内部重构</a:t>
            </a:r>
            <a:endParaRPr dirty="0"/>
          </a:p>
        </p:txBody>
      </p:sp>
      <p:sp>
        <p:nvSpPr>
          <p:cNvPr id="55" name="TextBox 26">
            <a:extLst>
              <a:ext uri="{FF2B5EF4-FFF2-40B4-BE49-F238E27FC236}">
                <a16:creationId xmlns:a16="http://schemas.microsoft.com/office/drawing/2014/main" id="{8361A848-12AE-42E3-B4CA-760DB42DE602}"/>
              </a:ext>
            </a:extLst>
          </p:cNvPr>
          <p:cNvSpPr txBox="1"/>
          <p:nvPr/>
        </p:nvSpPr>
        <p:spPr>
          <a:xfrm>
            <a:off x="2286000" y="4251960"/>
            <a:ext cx="96012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50" b="0">
                <a:solidFill>
                  <a:srgbClr val="595757"/>
                </a:solidFill>
                <a:latin typeface="Microsoft YaHei"/>
              </a:defRPr>
            </a:pPr>
            <a:r>
              <a:t>目标: KVCacheLayout 6 子类 + Spec 4~5 子类拆分</a:t>
            </a:r>
            <a:br/>
            <a:r>
              <a:t>效果: model_runner ~135 行, 15+ if-else → 多态分发, 每 Layout 独立可测</a:t>
            </a:r>
            <a:br/>
            <a:r>
              <a:t>关键交付: StandardKVLayout / SparseMLALayout / CompressedMLALayout / HybridLayout / CacheOnlyLayout</a:t>
            </a:r>
          </a:p>
        </p:txBody>
      </p:sp>
      <p:sp>
        <p:nvSpPr>
          <p:cNvPr id="56" name="Rounded Rectangle 27">
            <a:extLst>
              <a:ext uri="{FF2B5EF4-FFF2-40B4-BE49-F238E27FC236}">
                <a16:creationId xmlns:a16="http://schemas.microsoft.com/office/drawing/2014/main" id="{967BBF9B-1844-55C8-08A1-43D26F84E9C6}"/>
              </a:ext>
            </a:extLst>
          </p:cNvPr>
          <p:cNvSpPr/>
          <p:nvPr/>
        </p:nvSpPr>
        <p:spPr>
          <a:xfrm>
            <a:off x="274320" y="5001768"/>
            <a:ext cx="1828800" cy="508000"/>
          </a:xfrm>
          <a:prstGeom prst="roundRect">
            <a:avLst>
              <a:gd name="adj" fmla="val 30000"/>
            </a:avLst>
          </a:prstGeom>
          <a:solidFill>
            <a:srgbClr val="130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6000B"/>
                </a:solidFill>
                <a:latin typeface="Microsoft YaHei"/>
              </a:defRPr>
            </a:pPr>
            <a:r>
              <a:rPr dirty="0"/>
              <a:t>Phase 2 :</a:t>
            </a:r>
            <a:r>
              <a:rPr dirty="0" err="1"/>
              <a:t>上游</a:t>
            </a:r>
            <a:r>
              <a:rPr dirty="0"/>
              <a:t> RFC</a:t>
            </a:r>
          </a:p>
        </p:txBody>
      </p:sp>
      <p:sp>
        <p:nvSpPr>
          <p:cNvPr id="57" name="TextBox 28">
            <a:extLst>
              <a:ext uri="{FF2B5EF4-FFF2-40B4-BE49-F238E27FC236}">
                <a16:creationId xmlns:a16="http://schemas.microsoft.com/office/drawing/2014/main" id="{1A6C6E24-9EEC-4CB3-9EE9-D6121DD3F95C}"/>
              </a:ext>
            </a:extLst>
          </p:cNvPr>
          <p:cNvSpPr txBox="1"/>
          <p:nvPr/>
        </p:nvSpPr>
        <p:spPr>
          <a:xfrm>
            <a:off x="2286000" y="5001768"/>
            <a:ext cx="96012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50" b="0">
                <a:solidFill>
                  <a:srgbClr val="595757"/>
                </a:solidFill>
                <a:latin typeface="Microsoft YaHei"/>
              </a:defRPr>
            </a:pPr>
            <a:r>
              <a:t>目标: 向社区提议 KVCacheLayout 为硬件无关抽象</a:t>
            </a:r>
            <a:br/>
            <a:r>
              <a:t>内容: get_kv_cache_layout() 接口 + Backend 接口扩展 + Spec 字段通用化 (sparse_head_dim 等)</a:t>
            </a:r>
            <a:br/>
            <a:r>
              <a:t>关键交付: RFC 文档 + 原型代码 + 社区讨论 → 获得上游认可</a:t>
            </a:r>
          </a:p>
        </p:txBody>
      </p:sp>
      <p:sp>
        <p:nvSpPr>
          <p:cNvPr id="58" name="Rounded Rectangle 29">
            <a:extLst>
              <a:ext uri="{FF2B5EF4-FFF2-40B4-BE49-F238E27FC236}">
                <a16:creationId xmlns:a16="http://schemas.microsoft.com/office/drawing/2014/main" id="{365EB229-72C7-5CC1-A875-FFEAFCB901C7}"/>
              </a:ext>
            </a:extLst>
          </p:cNvPr>
          <p:cNvSpPr/>
          <p:nvPr/>
        </p:nvSpPr>
        <p:spPr>
          <a:xfrm>
            <a:off x="274320" y="5751576"/>
            <a:ext cx="1828800" cy="508000"/>
          </a:xfrm>
          <a:prstGeom prst="roundRect">
            <a:avLst>
              <a:gd name="adj" fmla="val 30000"/>
            </a:avLst>
          </a:prstGeom>
          <a:solidFill>
            <a:srgbClr val="13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C60054"/>
                </a:solidFill>
                <a:latin typeface="Microsoft YaHei"/>
              </a:defRPr>
            </a:pPr>
            <a:r>
              <a:rPr dirty="0"/>
              <a:t>Phase 3 :</a:t>
            </a:r>
            <a:r>
              <a:rPr dirty="0" err="1"/>
              <a:t>社区合入</a:t>
            </a:r>
            <a:r>
              <a:rPr dirty="0"/>
              <a:t> + </a:t>
            </a:r>
            <a:r>
              <a:rPr dirty="0" err="1"/>
              <a:t>清理</a:t>
            </a:r>
            <a:endParaRPr dirty="0"/>
          </a:p>
        </p:txBody>
      </p:sp>
      <p:sp>
        <p:nvSpPr>
          <p:cNvPr id="59" name="TextBox 30">
            <a:extLst>
              <a:ext uri="{FF2B5EF4-FFF2-40B4-BE49-F238E27FC236}">
                <a16:creationId xmlns:a16="http://schemas.microsoft.com/office/drawing/2014/main" id="{83DC53EF-99D4-0852-447C-8F3D5EDA5D55}"/>
              </a:ext>
            </a:extLst>
          </p:cNvPr>
          <p:cNvSpPr txBox="1"/>
          <p:nvPr/>
        </p:nvSpPr>
        <p:spPr>
          <a:xfrm>
            <a:off x="2286000" y="5751576"/>
            <a:ext cx="96012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50" b="0">
                <a:solidFill>
                  <a:srgbClr val="595757"/>
                </a:solidFill>
                <a:latin typeface="Microsoft YaHei"/>
              </a:defRPr>
            </a:pPr>
            <a:r>
              <a:t>目标: Layout 子类合入社区 → 删除所有临时方案</a:t>
            </a:r>
            <a:br/>
            <a:r>
              <a:t>效果: 删除 model_runner patch (~600 行) → 删除 AscendMLAAttentionSpec NPU 特有字段 → 删除 patch_kv_cache_utils</a:t>
            </a:r>
            <a:br/>
            <a:r>
              <a:t>关键交付: 社区 PR 合入 + Ascend 代码清理 → 与上游基线一致</a:t>
            </a:r>
          </a:p>
        </p:txBody>
      </p:sp>
    </p:spTree>
    <p:extLst>
      <p:ext uri="{BB962C8B-B14F-4D97-AF65-F5344CB8AC3E}">
        <p14:creationId xmlns:p14="http://schemas.microsoft.com/office/powerpoint/2010/main" val="1826142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29F4AF-515C-DA37-F2D1-1799EA077285}"/>
              </a:ext>
            </a:extLst>
          </p:cNvPr>
          <p:cNvSpPr txBox="1"/>
          <p:nvPr/>
        </p:nvSpPr>
        <p:spPr>
          <a:xfrm>
            <a:off x="173736" y="787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C6000B"/>
                </a:solidFill>
                <a:latin typeface="Microsoft YaHei"/>
              </a:defRPr>
            </a:pPr>
            <a:r>
              <a:rPr dirty="0"/>
              <a:t>Layout </a:t>
            </a:r>
            <a:r>
              <a:rPr dirty="0" err="1"/>
              <a:t>重构：从</a:t>
            </a:r>
            <a:r>
              <a:rPr dirty="0"/>
              <a:t> 600 行 if-else 到 6 </a:t>
            </a:r>
            <a:r>
              <a:rPr dirty="0" err="1"/>
              <a:t>个子类的多态分发</a:t>
            </a: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D2F056-324A-13F0-8FF7-16E357C4C169}"/>
              </a:ext>
            </a:extLst>
          </p:cNvPr>
          <p:cNvSpPr/>
          <p:nvPr/>
        </p:nvSpPr>
        <p:spPr>
          <a:xfrm>
            <a:off x="274320" y="523240"/>
            <a:ext cx="5486400" cy="2311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# 当前: if-else 分发 (~600行)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def _reshape(...):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if self.use_compress:        # DS V4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...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elif self.use_sparse:        # DS V3.2/GLM5.1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if C8 and self.is_A5:   # A5 sparse C8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...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elif C8:                # A3 sparse C8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...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else:                   # no C8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    ...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elif self.use_hybrid_blocks: # Qwen3.5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...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elif self.cache_only_layers: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...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else:                        # GQA / standard MLA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t>        ...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859099-9D4A-B79C-1E9A-9A5461B74149}"/>
              </a:ext>
            </a:extLst>
          </p:cNvPr>
          <p:cNvSpPr/>
          <p:nvPr/>
        </p:nvSpPr>
        <p:spPr>
          <a:xfrm>
            <a:off x="6236208" y="513080"/>
            <a:ext cx="5577840" cy="2057400"/>
          </a:xfrm>
          <a:prstGeom prst="roundRect">
            <a:avLst>
              <a:gd name="adj" fmla="val 3000"/>
            </a:avLst>
          </a:prstGeom>
          <a:solidFill>
            <a:srgbClr val="232328"/>
          </a:solidFill>
          <a:ln w="6350">
            <a:solidFill>
              <a:srgbClr val="41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目标</a:t>
            </a:r>
            <a:r>
              <a:rPr dirty="0"/>
              <a:t>: </a:t>
            </a:r>
            <a:r>
              <a:rPr dirty="0" err="1"/>
              <a:t>多态分发</a:t>
            </a:r>
            <a:r>
              <a:rPr dirty="0"/>
              <a:t> (~135行 + 625行Layout类)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class </a:t>
            </a:r>
            <a:r>
              <a:rPr dirty="0" err="1"/>
              <a:t>KVCacheLayout</a:t>
            </a:r>
            <a:r>
              <a:rPr dirty="0"/>
              <a:t>(ABC):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def </a:t>
            </a:r>
            <a:r>
              <a:rPr dirty="0" err="1"/>
              <a:t>get_kv_cache_shape</a:t>
            </a:r>
            <a:r>
              <a:rPr dirty="0"/>
              <a:t>() -&gt; list[tuple]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def </a:t>
            </a:r>
            <a:r>
              <a:rPr dirty="0" err="1"/>
              <a:t>split_sizes</a:t>
            </a:r>
            <a:r>
              <a:rPr dirty="0"/>
              <a:t>(</a:t>
            </a:r>
            <a:r>
              <a:rPr dirty="0" err="1"/>
              <a:t>total,spec</a:t>
            </a:r>
            <a:r>
              <a:rPr dirty="0"/>
              <a:t>) -&gt; list[int]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    def reshape(</a:t>
            </a:r>
            <a:r>
              <a:rPr dirty="0" err="1"/>
              <a:t>raws,spec</a:t>
            </a:r>
            <a:r>
              <a:rPr dirty="0"/>
              <a:t>) -&gt; list[Tensor]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class </a:t>
            </a:r>
            <a:r>
              <a:rPr dirty="0" err="1"/>
              <a:t>StandardKVLayout</a:t>
            </a:r>
            <a:r>
              <a:rPr dirty="0"/>
              <a:t>       # GQA → 2 tensor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class </a:t>
            </a:r>
            <a:r>
              <a:rPr dirty="0" err="1"/>
              <a:t>MLANopeRopeLayout</a:t>
            </a:r>
            <a:r>
              <a:rPr dirty="0"/>
              <a:t>     # DS V3.1 → 2 tensor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class </a:t>
            </a:r>
            <a:r>
              <a:rPr dirty="0" err="1"/>
              <a:t>SparseMLALayout</a:t>
            </a:r>
            <a:r>
              <a:rPr dirty="0"/>
              <a:t>       # DS V3.2/GLM5.1 → 3~4t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class </a:t>
            </a:r>
            <a:r>
              <a:rPr dirty="0" err="1"/>
              <a:t>CompressedMLALayout</a:t>
            </a:r>
            <a:r>
              <a:rPr dirty="0"/>
              <a:t>   # DS V4 → </a:t>
            </a:r>
            <a:r>
              <a:rPr dirty="0" err="1"/>
              <a:t>as_strided</a:t>
            </a:r>
            <a:r>
              <a:rPr dirty="0"/>
              <a:t> views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class </a:t>
            </a:r>
            <a:r>
              <a:rPr dirty="0" err="1"/>
              <a:t>HybridLayout</a:t>
            </a:r>
            <a:r>
              <a:rPr dirty="0"/>
              <a:t>          # Qwen3.5 → shared buffer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class </a:t>
            </a:r>
            <a:r>
              <a:rPr dirty="0" err="1"/>
              <a:t>CacheOnlyLayout</a:t>
            </a:r>
            <a:r>
              <a:rPr dirty="0"/>
              <a:t>       # hidden state → 1 tensor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endParaRPr dirty="0"/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SparseMLALayout</a:t>
            </a:r>
            <a:r>
              <a:rPr dirty="0"/>
              <a:t>(precision='fp8_c8', device='A5')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D2D2D7"/>
                </a:solidFill>
                <a:latin typeface="Consolas"/>
              </a:defRPr>
            </a:pPr>
            <a:r>
              <a:rPr dirty="0"/>
              <a:t># → </a:t>
            </a:r>
            <a:r>
              <a:rPr dirty="0" err="1"/>
              <a:t>构造参数消化精度+设备差异，对</a:t>
            </a:r>
            <a:r>
              <a:rPr dirty="0"/>
              <a:t> </a:t>
            </a:r>
            <a:r>
              <a:rPr dirty="0" err="1"/>
              <a:t>model_runner</a:t>
            </a:r>
            <a:r>
              <a:rPr dirty="0"/>
              <a:t> </a:t>
            </a:r>
            <a:r>
              <a:rPr dirty="0" err="1"/>
              <a:t>透明</a:t>
            </a: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1758AD3-FF5D-5276-17FF-1A8134FB6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142935"/>
              </p:ext>
            </p:extLst>
          </p:nvPr>
        </p:nvGraphicFramePr>
        <p:xfrm>
          <a:off x="274320" y="2986532"/>
          <a:ext cx="113385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旧代码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新代码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model_runner行数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~600 行 if-else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~135行调度 + 625行Layout类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新增模型方式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找所有分支点 + 改3~5处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创建/选择Layout子类 → 实现3方法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单元测试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难以独立测试各分支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每个Layout子类独立可测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分支状态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feature/layout-refactor-phase3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rPr dirty="0"/>
                        <a:t>12 files, +2080/-3357 lines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8F62C5A-2A13-FEE3-BF85-681EF5B19DD7}"/>
              </a:ext>
            </a:extLst>
          </p:cNvPr>
          <p:cNvSpPr/>
          <p:nvPr/>
        </p:nvSpPr>
        <p:spPr>
          <a:xfrm>
            <a:off x="274320" y="4510024"/>
            <a:ext cx="11420856" cy="1834896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6CBBD4-B5CA-C629-99AF-F84BB0E55B4F}"/>
              </a:ext>
            </a:extLst>
          </p:cNvPr>
          <p:cNvSpPr/>
          <p:nvPr/>
        </p:nvSpPr>
        <p:spPr>
          <a:xfrm>
            <a:off x="274319" y="4510024"/>
            <a:ext cx="45719" cy="1834896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489B3-3BBB-2AA0-2CCF-00282806560B}"/>
              </a:ext>
            </a:extLst>
          </p:cNvPr>
          <p:cNvSpPr txBox="1"/>
          <p:nvPr/>
        </p:nvSpPr>
        <p:spPr>
          <a:xfrm>
            <a:off x="426720" y="4611624"/>
            <a:ext cx="11113844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重构后 model_runner 的核心逻辑 (伪代码)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38BA2E-79C2-2858-C2C0-3E1821C5068F}"/>
              </a:ext>
            </a:extLst>
          </p:cNvPr>
          <p:cNvSpPr txBox="1"/>
          <p:nvPr/>
        </p:nvSpPr>
        <p:spPr>
          <a:xfrm>
            <a:off x="426720" y="4891023"/>
            <a:ext cx="11113844" cy="1416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for layer_name, spec in kv_cache_specs.items():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layout = spec.get_layout()     # 多态: 根据 spec 类型+字段自动选择子类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shapes = layout.get_kv_cache_shape(N, B, H, D)  # 返回 list[shape], 不是单个 shape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sizes  = layout.split_sizes(total_bytes, spec)  # 返回 list[int], 每个 sub-tensor 的字节数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raw_tensors = [torch.zeros(s, dtype=int8) for s in sizes]  # 分配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 kv_caches[name] = layout.reshape(raw_tensors, spec)         # 重塑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model_runner 不再有 if-else。Layout 子类内部消化所有差异。</a:t>
            </a:r>
          </a:p>
        </p:txBody>
      </p:sp>
    </p:spTree>
    <p:extLst>
      <p:ext uri="{BB962C8B-B14F-4D97-AF65-F5344CB8AC3E}">
        <p14:creationId xmlns:p14="http://schemas.microsoft.com/office/powerpoint/2010/main" val="2742256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C023B-C62F-A178-89C8-A3CB15F03908}"/>
              </a:ext>
            </a:extLst>
          </p:cNvPr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29 / 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3C4D3B-573A-E018-BF5B-C1DAA652950F}"/>
              </a:ext>
            </a:extLst>
          </p:cNvPr>
          <p:cNvSpPr txBox="1"/>
          <p:nvPr/>
        </p:nvSpPr>
        <p:spPr>
          <a:xfrm>
            <a:off x="137160" y="330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C6000B"/>
                </a:solidFill>
                <a:latin typeface="Microsoft YaHei"/>
              </a:defRPr>
            </a:pPr>
            <a:r>
              <a:rPr dirty="0" err="1"/>
              <a:t>社区已对齐机制</a:t>
            </a:r>
            <a:r>
              <a:rPr dirty="0"/>
              <a:t> + </a:t>
            </a:r>
            <a:r>
              <a:rPr dirty="0" err="1"/>
              <a:t>仍需覆盖的</a:t>
            </a:r>
            <a:r>
              <a:rPr dirty="0"/>
              <a:t> Gap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2E10E0-FE8C-1866-BC49-130966A06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187017"/>
              </p:ext>
            </p:extLst>
          </p:nvPr>
        </p:nvGraphicFramePr>
        <p:xfrm>
          <a:off x="274320" y="431800"/>
          <a:ext cx="5943600" cy="248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已对齐机制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对齐程度</a:t>
                      </a:r>
                    </a:p>
                  </a:txBody>
                  <a:tcPr>
                    <a:solidFill>
                      <a:srgbClr val="C600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KVCacheSpec 基类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page_size_bytes / max_memory_usage 基础计算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KVCacheConfig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num_blocks + kv_cache_tensors + kv_cache_groups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rPr dirty="0"/>
                        <a:t>100%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KVCacheTensor.shared_by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多层共享物理 buffer 机制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BlockPool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block 分配/回收/哈希管理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SingleTypeKVCacheManager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Full/Sliding/Chunked/Mamba 管理器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KVCacheCoordinator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Unitary/Hybrid 协调器 (仅DS V4有patch)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Prefix Caching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hash 计算 + block 管理 + 跨请求复用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get_kv_cache_groups()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决策级联 (仅DS V4有patch覆盖)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rPr dirty="0"/>
                        <a:t>90%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A95EF9-D80B-F85D-AA92-EEBE3A72E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071453"/>
              </p:ext>
            </p:extLst>
          </p:nvPr>
        </p:nvGraphicFramePr>
        <p:xfrm>
          <a:off x="6492240" y="408215"/>
          <a:ext cx="5486400" cy="2792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44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仍需覆盖的 Gap</a:t>
                      </a:r>
                    </a:p>
                  </a:txBody>
                  <a:tcPr>
                    <a:solidFill>
                      <a:srgbClr val="C80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差距描述</a:t>
                      </a:r>
                    </a:p>
                  </a:txBody>
                  <a:tcPr>
                    <a:solidFill>
                      <a:srgbClr val="C80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C80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Spec 层: 万能类问题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rPr dirty="0" err="1"/>
                        <a:t>所有MLA变体挤进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AscendMLAAttentionSpec</a:t>
                      </a:r>
                      <a:br>
                        <a:rPr dirty="0"/>
                      </a:br>
                      <a:r>
                        <a:rPr dirty="0" err="1"/>
                        <a:t>缺少按类型多态的</a:t>
                      </a:r>
                      <a:r>
                        <a:rPr dirty="0"/>
                        <a:t> Spec </a:t>
                      </a:r>
                      <a:r>
                        <a:rPr dirty="0" err="1"/>
                        <a:t>子类</a:t>
                      </a:r>
                      <a:endParaRPr dirty="0"/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Backend 接口: 1/N 信息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get_kv_cache_shape() 只返回参考shape</a:t>
                      </a:r>
                      <a:br/>
                      <a:r>
                        <a:t>需要扩展为 list[tuple] 或 Layout 对象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Allocate: if-else 决策树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185行, 深度3, 每次加模型改3~5处</a:t>
                      </a:r>
                      <a:br/>
                      <a:r>
                        <a:t>需要 Layout.split_sizes() 替代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Reshape: 精度+设备分支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350行, A5/A3+C8/非C8+sparse/compress</a:t>
                      </a:r>
                      <a:br/>
                      <a:r>
                        <a:t>需要 Layout.reshape() 替代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DS V4: 分桶逻辑 patch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patch_kv_cache_utils 覆盖分组函数</a:t>
                      </a:r>
                      <a:br/>
                      <a:r>
                        <a:t>需确认上游 DS V4 支持进度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45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算子 stride 支持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t>长期目标: 减少 host 侧预拆分需求</a:t>
                      </a:r>
                      <a:br/>
                      <a:r>
                        <a:t>需要与算子侧持续对齐推进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1E1E"/>
                          </a:solidFill>
                          <a:latin typeface="Consolas"/>
                        </a:defRPr>
                      </a:pPr>
                      <a:r>
                        <a:rPr dirty="0"/>
                        <a:t>P2</a:t>
                      </a:r>
                    </a:p>
                  </a:txBody>
                  <a:tcPr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DB667B-2922-94F6-3B22-205A6E8610ED}"/>
              </a:ext>
            </a:extLst>
          </p:cNvPr>
          <p:cNvSpPr/>
          <p:nvPr/>
        </p:nvSpPr>
        <p:spPr>
          <a:xfrm>
            <a:off x="293370" y="3219994"/>
            <a:ext cx="5943600" cy="3135085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4BE0F1-3CEC-BDEB-CED6-1169781DCBDC}"/>
              </a:ext>
            </a:extLst>
          </p:cNvPr>
          <p:cNvSpPr/>
          <p:nvPr/>
        </p:nvSpPr>
        <p:spPr>
          <a:xfrm>
            <a:off x="274319" y="3219994"/>
            <a:ext cx="45719" cy="3135085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91BD92-2E9F-0078-DBA3-79654B631066}"/>
              </a:ext>
            </a:extLst>
          </p:cNvPr>
          <p:cNvSpPr txBox="1"/>
          <p:nvPr/>
        </p:nvSpPr>
        <p:spPr>
          <a:xfrm>
            <a:off x="426720" y="3321595"/>
            <a:ext cx="5638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为什么已对齐部分可以做到 100%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3D56F2-7E51-3604-42B4-435D340EBC50}"/>
              </a:ext>
            </a:extLst>
          </p:cNvPr>
          <p:cNvSpPr txBox="1"/>
          <p:nvPr/>
        </p:nvSpPr>
        <p:spPr>
          <a:xfrm>
            <a:off x="426720" y="3600995"/>
            <a:ext cx="5638800" cy="244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这些组件属于「规划层」——在 tensor 实际分配之前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负责: 分组决策、block 管理、哈希计算、配置生成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不涉及: NPU 特有的 stride 限制、多 tensor 拆分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与硬件无关，Ascend 可以直接使用上游代码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endParaRPr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而「执行层」(Allocate + Reshape) 差异巨大: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上游: 拿到 KVCacheConfig → torch.zeros → view → done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Ascend: 拿到 KVCacheConfig → 检查 5 个标志 → 拆 tensor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→ 算各自 shape/dtype → view → 组装 tuple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→ 这正是 KVCacheLayout 要封装的层次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EE30FA4-FD51-58BC-93AD-94C7C561FF5C}"/>
              </a:ext>
            </a:extLst>
          </p:cNvPr>
          <p:cNvSpPr/>
          <p:nvPr/>
        </p:nvSpPr>
        <p:spPr>
          <a:xfrm>
            <a:off x="6492240" y="3219994"/>
            <a:ext cx="5303520" cy="3135085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140343-EB35-504D-A580-DCE1FEDB87D8}"/>
              </a:ext>
            </a:extLst>
          </p:cNvPr>
          <p:cNvSpPr/>
          <p:nvPr/>
        </p:nvSpPr>
        <p:spPr>
          <a:xfrm>
            <a:off x="6492239" y="3219994"/>
            <a:ext cx="45719" cy="3135085"/>
          </a:xfrm>
          <a:prstGeom prst="rect">
            <a:avLst/>
          </a:prstGeom>
          <a:solidFill>
            <a:srgbClr val="ED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A93304-1B0C-AC97-2A15-421C358FD91D}"/>
              </a:ext>
            </a:extLst>
          </p:cNvPr>
          <p:cNvSpPr txBox="1"/>
          <p:nvPr/>
        </p:nvSpPr>
        <p:spPr>
          <a:xfrm>
            <a:off x="6644640" y="3321595"/>
            <a:ext cx="49987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ED6C00"/>
                </a:solidFill>
                <a:latin typeface="Microsoft YaHei"/>
              </a:defRPr>
            </a:pPr>
            <a:r>
              <a:t>DS V4 patch 详细说明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5F66FE-80CC-FE28-7611-E31471C16336}"/>
              </a:ext>
            </a:extLst>
          </p:cNvPr>
          <p:cNvSpPr txBox="1"/>
          <p:nvPr/>
        </p:nvSpPr>
        <p:spPr>
          <a:xfrm>
            <a:off x="6644640" y="3600995"/>
            <a:ext cx="4998720" cy="244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patch_kv_cache_utils.py 覆盖了两个函数: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1. resolve_kv_cache_block_sizes():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处理 CP (Context Parallel) 下 block_size 缩放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覆盖上游 PR #40860 对多 group + CP 的限制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2. group_and_unify_kv_cache_specs():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DS V4 的 Compressor+Indexer+SWA 三层结构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需要按 page_size 分桶 + layer_tuple 对齐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endParaRPr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patch_kv_cache_coordinator.py: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AscendHybridKVCacheCoordinator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覆盖 find_longest_cache_hit() 逻辑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endParaRPr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评估: 上游已支持 DS V4 → 这些 patch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未来可通过 Layout 重构合并或删除</a:t>
            </a:r>
          </a:p>
        </p:txBody>
      </p:sp>
    </p:spTree>
    <p:extLst>
      <p:ext uri="{BB962C8B-B14F-4D97-AF65-F5344CB8AC3E}">
        <p14:creationId xmlns:p14="http://schemas.microsoft.com/office/powerpoint/2010/main" val="35510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A29190F-1349-321A-0EC5-B2F01F4E4E9B}"/>
              </a:ext>
            </a:extLst>
          </p:cNvPr>
          <p:cNvSpPr/>
          <p:nvPr/>
        </p:nvSpPr>
        <p:spPr>
          <a:xfrm>
            <a:off x="0" y="6400800"/>
            <a:ext cx="12191695" cy="63500"/>
          </a:xfrm>
          <a:prstGeom prst="rect">
            <a:avLst/>
          </a:prstGeom>
          <a:solidFill>
            <a:srgbClr val="C6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1">
            <a:extLst>
              <a:ext uri="{FF2B5EF4-FFF2-40B4-BE49-F238E27FC236}">
                <a16:creationId xmlns:a16="http://schemas.microsoft.com/office/drawing/2014/main" id="{F457E5A7-69F5-4E72-C366-45B3A48CFD44}"/>
              </a:ext>
            </a:extLst>
          </p:cNvPr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898989"/>
                </a:solidFill>
                <a:latin typeface="Consolas"/>
              </a:defRPr>
            </a:pPr>
            <a:r>
              <a:t>30 / 30</a:t>
            </a:r>
          </a:p>
        </p:txBody>
      </p:sp>
      <p:sp>
        <p:nvSpPr>
          <p:cNvPr id="30" name="TextBox 2">
            <a:extLst>
              <a:ext uri="{FF2B5EF4-FFF2-40B4-BE49-F238E27FC236}">
                <a16:creationId xmlns:a16="http://schemas.microsoft.com/office/drawing/2014/main" id="{82B7E7B8-93D0-9C9A-A3C2-6A5984958221}"/>
              </a:ext>
            </a:extLst>
          </p:cNvPr>
          <p:cNvSpPr txBox="1"/>
          <p:nvPr/>
        </p:nvSpPr>
        <p:spPr>
          <a:xfrm>
            <a:off x="0" y="-538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defRPr sz="2600" b="1">
                <a:solidFill>
                  <a:srgbClr val="C6000B"/>
                </a:solidFill>
                <a:latin typeface="Microsoft YaHei"/>
              </a:defRPr>
            </a:pPr>
            <a:r>
              <a:rPr dirty="0" err="1"/>
              <a:t>总结：三大差异</a:t>
            </a:r>
            <a:r>
              <a:rPr dirty="0"/>
              <a:t> → </a:t>
            </a:r>
            <a:r>
              <a:rPr dirty="0" err="1"/>
              <a:t>三大对策</a:t>
            </a:r>
            <a:r>
              <a:rPr dirty="0"/>
              <a:t> → </a:t>
            </a:r>
            <a:r>
              <a:rPr dirty="0" err="1"/>
              <a:t>三步路线</a:t>
            </a:r>
            <a:r>
              <a:rPr dirty="0"/>
              <a:t> → </a:t>
            </a:r>
            <a:r>
              <a:rPr dirty="0" err="1"/>
              <a:t>一套架构</a:t>
            </a:r>
            <a:endParaRPr dirty="0"/>
          </a:p>
        </p:txBody>
      </p:sp>
      <p:sp>
        <p:nvSpPr>
          <p:cNvPr id="32" name="Rounded Rectangle 4">
            <a:extLst>
              <a:ext uri="{FF2B5EF4-FFF2-40B4-BE49-F238E27FC236}">
                <a16:creationId xmlns:a16="http://schemas.microsoft.com/office/drawing/2014/main" id="{4BA734B4-E300-F45C-6319-8550F2AEF517}"/>
              </a:ext>
            </a:extLst>
          </p:cNvPr>
          <p:cNvSpPr/>
          <p:nvPr/>
        </p:nvSpPr>
        <p:spPr>
          <a:xfrm>
            <a:off x="121920" y="477520"/>
            <a:ext cx="5917184" cy="2260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5">
            <a:extLst>
              <a:ext uri="{FF2B5EF4-FFF2-40B4-BE49-F238E27FC236}">
                <a16:creationId xmlns:a16="http://schemas.microsoft.com/office/drawing/2014/main" id="{1A42443C-ADD1-A8E0-2617-0F0AA5F7A8D0}"/>
              </a:ext>
            </a:extLst>
          </p:cNvPr>
          <p:cNvSpPr/>
          <p:nvPr/>
        </p:nvSpPr>
        <p:spPr>
          <a:xfrm>
            <a:off x="121919" y="477520"/>
            <a:ext cx="45719" cy="2260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C1331C45-D12A-061E-1364-9A66BA73FC15}"/>
              </a:ext>
            </a:extLst>
          </p:cNvPr>
          <p:cNvSpPr txBox="1"/>
          <p:nvPr/>
        </p:nvSpPr>
        <p:spPr>
          <a:xfrm>
            <a:off x="274319" y="579120"/>
            <a:ext cx="5608997" cy="279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rPr dirty="0"/>
              <a:t>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dirty="0" err="1"/>
              <a:t>差异</a:t>
            </a:r>
            <a:r>
              <a:rPr dirty="0"/>
              <a:t> </a:t>
            </a:r>
          </a:p>
        </p:txBody>
      </p:sp>
      <p:sp>
        <p:nvSpPr>
          <p:cNvPr id="35" name="TextBox 7">
            <a:extLst>
              <a:ext uri="{FF2B5EF4-FFF2-40B4-BE49-F238E27FC236}">
                <a16:creationId xmlns:a16="http://schemas.microsoft.com/office/drawing/2014/main" id="{52E2E909-506D-7B5E-1633-108E4894448B}"/>
              </a:ext>
            </a:extLst>
          </p:cNvPr>
          <p:cNvSpPr txBox="1"/>
          <p:nvPr/>
        </p:nvSpPr>
        <p:spPr>
          <a:xfrm>
            <a:off x="274319" y="858520"/>
            <a:ext cx="5608997" cy="1609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① 算子约束: 上游 GPU kernel 接受 blob 内部解析 → Ascend NPU 不支持 stride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→ host 侧被迫预拆分 tensor → 1 tensor 变 N tensors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endParaRPr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② 类型擦除: 上游 isinstance(spec) 编码全部语义 → Ascend 万能类 if-else 恢复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→ 5 种 MLA 变体共用一个 AscendMLAAttentionSpec → 下游 15+ 分支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endParaRPr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③ 接口不足: 上游 get_kv_cache_shape() 返回完整信息 → Ascend 同名方法返回 1/N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→ model_runner 绕过 Backend 直连 attention layer 掏参数 → ~600 行逻辑</a:t>
            </a:r>
          </a:p>
        </p:txBody>
      </p:sp>
      <p:sp>
        <p:nvSpPr>
          <p:cNvPr id="36" name="Rounded Rectangle 8">
            <a:extLst>
              <a:ext uri="{FF2B5EF4-FFF2-40B4-BE49-F238E27FC236}">
                <a16:creationId xmlns:a16="http://schemas.microsoft.com/office/drawing/2014/main" id="{61A70495-8DD0-731F-B020-59C94EEB6E72}"/>
              </a:ext>
            </a:extLst>
          </p:cNvPr>
          <p:cNvSpPr/>
          <p:nvPr/>
        </p:nvSpPr>
        <p:spPr>
          <a:xfrm>
            <a:off x="6248400" y="477520"/>
            <a:ext cx="5547360" cy="22606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9">
            <a:extLst>
              <a:ext uri="{FF2B5EF4-FFF2-40B4-BE49-F238E27FC236}">
                <a16:creationId xmlns:a16="http://schemas.microsoft.com/office/drawing/2014/main" id="{DF41FED4-5CE6-72EB-40CB-65F2645705AA}"/>
              </a:ext>
            </a:extLst>
          </p:cNvPr>
          <p:cNvSpPr/>
          <p:nvPr/>
        </p:nvSpPr>
        <p:spPr>
          <a:xfrm>
            <a:off x="6248399" y="477520"/>
            <a:ext cx="45719" cy="2260600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6E1CBC2D-E111-7894-EDF7-EF09E48F1A95}"/>
              </a:ext>
            </a:extLst>
          </p:cNvPr>
          <p:cNvSpPr txBox="1"/>
          <p:nvPr/>
        </p:nvSpPr>
        <p:spPr>
          <a:xfrm>
            <a:off x="6400799" y="579120"/>
            <a:ext cx="5239173" cy="279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rPr dirty="0"/>
              <a:t>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dirty="0" err="1"/>
              <a:t>对策</a:t>
            </a:r>
            <a:r>
              <a:rPr dirty="0"/>
              <a:t> </a:t>
            </a:r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5412E8C8-5D79-6A08-9DA1-D047BC9816BB}"/>
              </a:ext>
            </a:extLst>
          </p:cNvPr>
          <p:cNvSpPr txBox="1"/>
          <p:nvPr/>
        </p:nvSpPr>
        <p:spPr>
          <a:xfrm>
            <a:off x="6400799" y="858520"/>
            <a:ext cx="5239173" cy="180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① KVCacheLayout 多态: 6 个子类封装 NPU 多 tensor 拆分逻辑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layout.split_sizes() + layout.reshape() → model_runner 零分支遍历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endParaRPr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② Spec 子类拆分: 4~5 个子类替代万能类, 恢复类型即语义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isinstance(spec, AscendSparseC8MLASpec) → 不检查字段就知道全部信息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spec.get_layout() → 自动选择对应 Layout → Spec-Layout 互补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endParaRPr/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③ Backend 接口扩展: get_kv_cache_shape() → list[tuple] 或 get_layout()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   → model_runner 不再需要绕过后端直取 attention layer 属性</a:t>
            </a:r>
          </a:p>
        </p:txBody>
      </p:sp>
      <p:sp>
        <p:nvSpPr>
          <p:cNvPr id="40" name="Rounded Rectangle 12">
            <a:extLst>
              <a:ext uri="{FF2B5EF4-FFF2-40B4-BE49-F238E27FC236}">
                <a16:creationId xmlns:a16="http://schemas.microsoft.com/office/drawing/2014/main" id="{F6F3B10B-05C0-D786-D96B-3202EAB1E5A1}"/>
              </a:ext>
            </a:extLst>
          </p:cNvPr>
          <p:cNvSpPr/>
          <p:nvPr/>
        </p:nvSpPr>
        <p:spPr>
          <a:xfrm>
            <a:off x="167638" y="2790951"/>
            <a:ext cx="11536682" cy="1413014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DA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13">
            <a:extLst>
              <a:ext uri="{FF2B5EF4-FFF2-40B4-BE49-F238E27FC236}">
                <a16:creationId xmlns:a16="http://schemas.microsoft.com/office/drawing/2014/main" id="{6DABF54E-CE85-26AD-8B0F-9BC55C017F24}"/>
              </a:ext>
            </a:extLst>
          </p:cNvPr>
          <p:cNvSpPr/>
          <p:nvPr/>
        </p:nvSpPr>
        <p:spPr>
          <a:xfrm>
            <a:off x="167637" y="2790951"/>
            <a:ext cx="64409" cy="1413014"/>
          </a:xfrm>
          <a:prstGeom prst="rect">
            <a:avLst/>
          </a:prstGeom>
          <a:solidFill>
            <a:srgbClr val="58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14">
            <a:extLst>
              <a:ext uri="{FF2B5EF4-FFF2-40B4-BE49-F238E27FC236}">
                <a16:creationId xmlns:a16="http://schemas.microsoft.com/office/drawing/2014/main" id="{053436F1-C2D1-303E-604D-40DDD2958CD6}"/>
              </a:ext>
            </a:extLst>
          </p:cNvPr>
          <p:cNvSpPr txBox="1"/>
          <p:nvPr/>
        </p:nvSpPr>
        <p:spPr>
          <a:xfrm>
            <a:off x="320038" y="2892552"/>
            <a:ext cx="11226556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8B230"/>
                </a:solidFill>
                <a:latin typeface="Microsoft YaHei"/>
              </a:defRPr>
            </a:pPr>
            <a:r>
              <a:t>对齐后的最终架构: 端到端 4 层 → model_runner ~60 行, 0 分支</a:t>
            </a:r>
          </a:p>
        </p:txBody>
      </p:sp>
      <p:sp>
        <p:nvSpPr>
          <p:cNvPr id="43" name="TextBox 15">
            <a:extLst>
              <a:ext uri="{FF2B5EF4-FFF2-40B4-BE49-F238E27FC236}">
                <a16:creationId xmlns:a16="http://schemas.microsoft.com/office/drawing/2014/main" id="{34DAACE3-8799-860F-A3D3-66CA13F6660F}"/>
              </a:ext>
            </a:extLst>
          </p:cNvPr>
          <p:cNvSpPr txBox="1"/>
          <p:nvPr/>
        </p:nvSpPr>
        <p:spPr>
          <a:xfrm>
            <a:off x="320038" y="3171951"/>
            <a:ext cx="11226556" cy="1032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layer.get_kv_cache_spec()  →  KVCacheSpec (纯声明)  →  isinstance() 编码全部语义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spec.get_layout()           →  KVCacheLayout 子类   →  多态选择, 零 if-else, 封装 NPU 拆分逻辑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layout.get_kv_cache_shape() →  list[tuple]           →  每个 sub-tensor 的完整 shape, 不再 1/N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layout.split_sizes()        →  list[int]             →  model_runner 无分支分配各 sub-tensor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595757"/>
                </a:solidFill>
                <a:latin typeface="Microsoft YaHei"/>
              </a:defRPr>
            </a:pPr>
            <a:r>
              <a:t>layout.reshape(raws, spec)  →  list[Tensor]          →  dtype 正确, 直接传入 NPU 算子</a:t>
            </a:r>
          </a:p>
        </p:txBody>
      </p:sp>
      <p:sp>
        <p:nvSpPr>
          <p:cNvPr id="44" name="Rounded Rectangle 16">
            <a:extLst>
              <a:ext uri="{FF2B5EF4-FFF2-40B4-BE49-F238E27FC236}">
                <a16:creationId xmlns:a16="http://schemas.microsoft.com/office/drawing/2014/main" id="{575E6B60-0B73-3227-47E1-D8671E9B7150}"/>
              </a:ext>
            </a:extLst>
          </p:cNvPr>
          <p:cNvSpPr/>
          <p:nvPr/>
        </p:nvSpPr>
        <p:spPr>
          <a:xfrm>
            <a:off x="274320" y="4343400"/>
            <a:ext cx="1371600" cy="457200"/>
          </a:xfrm>
          <a:prstGeom prst="roundRect">
            <a:avLst>
              <a:gd name="adj" fmla="val 30000"/>
            </a:avLst>
          </a:prstGeom>
          <a:solidFill>
            <a:srgbClr val="0811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8B230"/>
                </a:solidFill>
                <a:latin typeface="Microsoft YaHei"/>
              </a:defRPr>
            </a:pPr>
            <a:r>
              <a:rPr dirty="0"/>
              <a:t>Phase 1</a:t>
            </a:r>
          </a:p>
        </p:txBody>
      </p:sp>
      <p:sp>
        <p:nvSpPr>
          <p:cNvPr id="45" name="TextBox 17">
            <a:extLst>
              <a:ext uri="{FF2B5EF4-FFF2-40B4-BE49-F238E27FC236}">
                <a16:creationId xmlns:a16="http://schemas.microsoft.com/office/drawing/2014/main" id="{188DFCF1-2F4A-7579-F908-5C2CC7DF501E}"/>
              </a:ext>
            </a:extLst>
          </p:cNvPr>
          <p:cNvSpPr txBox="1"/>
          <p:nvPr/>
        </p:nvSpPr>
        <p:spPr>
          <a:xfrm>
            <a:off x="182880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defRPr sz="800" b="0">
                <a:solidFill>
                  <a:srgbClr val="595757"/>
                </a:solidFill>
                <a:latin typeface="Microsoft YaHei"/>
              </a:defRPr>
            </a:pPr>
            <a:r>
              <a:t>内部重构</a:t>
            </a:r>
            <a:br/>
            <a:r>
              <a:t>Spec 4~5 子类</a:t>
            </a:r>
            <a:br/>
            <a:r>
              <a:t>Layout 6 子类</a:t>
            </a:r>
            <a:br/>
            <a:r>
              <a:t>model_runner</a:t>
            </a:r>
            <a:br/>
            <a:r>
              <a:t>~135 行</a:t>
            </a:r>
          </a:p>
        </p:txBody>
      </p:sp>
      <p:sp>
        <p:nvSpPr>
          <p:cNvPr id="46" name="TextBox 18">
            <a:extLst>
              <a:ext uri="{FF2B5EF4-FFF2-40B4-BE49-F238E27FC236}">
                <a16:creationId xmlns:a16="http://schemas.microsoft.com/office/drawing/2014/main" id="{AFADE2C0-7C54-3DB8-9065-637EEA89BE30}"/>
              </a:ext>
            </a:extLst>
          </p:cNvPr>
          <p:cNvSpPr txBox="1"/>
          <p:nvPr/>
        </p:nvSpPr>
        <p:spPr>
          <a:xfrm>
            <a:off x="3543297" y="4496455"/>
            <a:ext cx="198122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defRPr sz="1600" b="1">
                <a:solidFill>
                  <a:srgbClr val="C8102E"/>
                </a:solidFill>
                <a:latin typeface="Microsoft YaHei"/>
              </a:defRPr>
            </a:pPr>
            <a:r>
              <a:rPr dirty="0"/>
              <a:t>→</a:t>
            </a:r>
          </a:p>
        </p:txBody>
      </p:sp>
      <p:sp>
        <p:nvSpPr>
          <p:cNvPr id="47" name="Rounded Rectangle 19">
            <a:extLst>
              <a:ext uri="{FF2B5EF4-FFF2-40B4-BE49-F238E27FC236}">
                <a16:creationId xmlns:a16="http://schemas.microsoft.com/office/drawing/2014/main" id="{24EBB845-01B5-FA07-96BE-EEFE4D13E139}"/>
              </a:ext>
            </a:extLst>
          </p:cNvPr>
          <p:cNvSpPr/>
          <p:nvPr/>
        </p:nvSpPr>
        <p:spPr>
          <a:xfrm>
            <a:off x="4206240" y="4343400"/>
            <a:ext cx="1371600" cy="457200"/>
          </a:xfrm>
          <a:prstGeom prst="roundRect">
            <a:avLst>
              <a:gd name="adj" fmla="val 30000"/>
            </a:avLst>
          </a:prstGeom>
          <a:solidFill>
            <a:srgbClr val="130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6000B"/>
                </a:solidFill>
                <a:latin typeface="Microsoft YaHei"/>
              </a:defRPr>
            </a:pPr>
            <a:r>
              <a:rPr dirty="0"/>
              <a:t>Phase 2</a:t>
            </a:r>
          </a:p>
        </p:txBody>
      </p:sp>
      <p:sp>
        <p:nvSpPr>
          <p:cNvPr id="48" name="TextBox 20">
            <a:extLst>
              <a:ext uri="{FF2B5EF4-FFF2-40B4-BE49-F238E27FC236}">
                <a16:creationId xmlns:a16="http://schemas.microsoft.com/office/drawing/2014/main" id="{40BD41B9-8CDC-76E3-45BC-608967DB3F18}"/>
              </a:ext>
            </a:extLst>
          </p:cNvPr>
          <p:cNvSpPr txBox="1"/>
          <p:nvPr/>
        </p:nvSpPr>
        <p:spPr>
          <a:xfrm>
            <a:off x="576072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defRPr sz="800" b="0">
                <a:solidFill>
                  <a:srgbClr val="595757"/>
                </a:solidFill>
                <a:latin typeface="Microsoft YaHei"/>
              </a:defRPr>
            </a:pPr>
            <a:r>
              <a:t>上游 RFC</a:t>
            </a:r>
            <a:br/>
            <a:r>
              <a:t>Layout 抽象提议</a:t>
            </a:r>
            <a:br/>
            <a:r>
              <a:t>Backend 接口扩展</a:t>
            </a:r>
            <a:br/>
            <a:r>
              <a:t>Spec 字段</a:t>
            </a:r>
            <a:br/>
            <a:r>
              <a:t>通用化</a:t>
            </a:r>
          </a:p>
        </p:txBody>
      </p:sp>
      <p:sp>
        <p:nvSpPr>
          <p:cNvPr id="49" name="TextBox 21">
            <a:extLst>
              <a:ext uri="{FF2B5EF4-FFF2-40B4-BE49-F238E27FC236}">
                <a16:creationId xmlns:a16="http://schemas.microsoft.com/office/drawing/2014/main" id="{71A3061A-87B2-AF83-8CA9-946F7E22E11B}"/>
              </a:ext>
            </a:extLst>
          </p:cNvPr>
          <p:cNvSpPr txBox="1"/>
          <p:nvPr/>
        </p:nvSpPr>
        <p:spPr>
          <a:xfrm>
            <a:off x="7491982" y="4471448"/>
            <a:ext cx="198122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defRPr sz="1600" b="1">
                <a:solidFill>
                  <a:srgbClr val="C8102E"/>
                </a:solidFill>
                <a:latin typeface="Microsoft YaHei"/>
              </a:defRPr>
            </a:pPr>
            <a:r>
              <a:rPr dirty="0"/>
              <a:t>→</a:t>
            </a:r>
          </a:p>
        </p:txBody>
      </p:sp>
      <p:sp>
        <p:nvSpPr>
          <p:cNvPr id="50" name="Rounded Rectangle 22">
            <a:extLst>
              <a:ext uri="{FF2B5EF4-FFF2-40B4-BE49-F238E27FC236}">
                <a16:creationId xmlns:a16="http://schemas.microsoft.com/office/drawing/2014/main" id="{9D7E36DD-CC73-E5D7-5082-86F211A2C0E7}"/>
              </a:ext>
            </a:extLst>
          </p:cNvPr>
          <p:cNvSpPr/>
          <p:nvPr/>
        </p:nvSpPr>
        <p:spPr>
          <a:xfrm>
            <a:off x="8138160" y="4343400"/>
            <a:ext cx="1371600" cy="457200"/>
          </a:xfrm>
          <a:prstGeom prst="roundRect">
            <a:avLst>
              <a:gd name="adj" fmla="val 30000"/>
            </a:avLst>
          </a:prstGeom>
          <a:solidFill>
            <a:srgbClr val="13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60054"/>
                </a:solidFill>
                <a:latin typeface="Microsoft YaHei"/>
              </a:defRPr>
            </a:pPr>
            <a:r>
              <a:rPr dirty="0"/>
              <a:t>Phase 3</a:t>
            </a:r>
          </a:p>
        </p:txBody>
      </p:sp>
      <p:sp>
        <p:nvSpPr>
          <p:cNvPr id="51" name="TextBox 23">
            <a:extLst>
              <a:ext uri="{FF2B5EF4-FFF2-40B4-BE49-F238E27FC236}">
                <a16:creationId xmlns:a16="http://schemas.microsoft.com/office/drawing/2014/main" id="{F2251D90-A648-A279-4468-62CC7E044E1D}"/>
              </a:ext>
            </a:extLst>
          </p:cNvPr>
          <p:cNvSpPr txBox="1"/>
          <p:nvPr/>
        </p:nvSpPr>
        <p:spPr>
          <a:xfrm>
            <a:off x="969264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defRPr sz="800" b="0">
                <a:solidFill>
                  <a:srgbClr val="595757"/>
                </a:solidFill>
                <a:latin typeface="Microsoft YaHei"/>
              </a:defRPr>
            </a:pPr>
            <a:r>
              <a:t>社区合入</a:t>
            </a:r>
            <a:br/>
            <a:r>
              <a:t>+ 清理</a:t>
            </a:r>
            <a:br/>
            <a:r>
              <a:t>删除 patch</a:t>
            </a:r>
            <a:br/>
            <a:r>
              <a:t>删除 Ascend</a:t>
            </a:r>
            <a:br/>
            <a:r>
              <a:t>万能类</a:t>
            </a:r>
          </a:p>
        </p:txBody>
      </p:sp>
      <p:sp>
        <p:nvSpPr>
          <p:cNvPr id="52" name="TextBox 24">
            <a:extLst>
              <a:ext uri="{FF2B5EF4-FFF2-40B4-BE49-F238E27FC236}">
                <a16:creationId xmlns:a16="http://schemas.microsoft.com/office/drawing/2014/main" id="{2438034D-A6AE-1D37-636C-078E74BB5899}"/>
              </a:ext>
            </a:extLst>
          </p:cNvPr>
          <p:cNvSpPr txBox="1"/>
          <p:nvPr/>
        </p:nvSpPr>
        <p:spPr>
          <a:xfrm>
            <a:off x="548640" y="50749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C8102E"/>
                </a:solidFill>
                <a:latin typeface="Microsoft YaHei"/>
              </a:defRPr>
            </a:pPr>
            <a:r>
              <a:t>目标: model_runner 回归上游的简洁 — 不检查 layer_type, 不判断 C8, 不区分 A5/A3, 不知道精度</a:t>
            </a:r>
          </a:p>
        </p:txBody>
      </p:sp>
      <p:sp>
        <p:nvSpPr>
          <p:cNvPr id="53" name="TextBox 25">
            <a:extLst>
              <a:ext uri="{FF2B5EF4-FFF2-40B4-BE49-F238E27FC236}">
                <a16:creationId xmlns:a16="http://schemas.microsoft.com/office/drawing/2014/main" id="{CA86AF5D-2B8E-7986-9E00-9B062C3452AB}"/>
              </a:ext>
            </a:extLst>
          </p:cNvPr>
          <p:cNvSpPr txBox="1"/>
          <p:nvPr/>
        </p:nvSpPr>
        <p:spPr>
          <a:xfrm>
            <a:off x="137160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58B230"/>
                </a:solidFill>
                <a:latin typeface="Consolas"/>
              </a:defRPr>
            </a:pPr>
            <a:r>
              <a:t>~600→60</a:t>
            </a:r>
          </a:p>
        </p:txBody>
      </p:sp>
      <p:sp>
        <p:nvSpPr>
          <p:cNvPr id="54" name="TextBox 26">
            <a:extLst>
              <a:ext uri="{FF2B5EF4-FFF2-40B4-BE49-F238E27FC236}">
                <a16:creationId xmlns:a16="http://schemas.microsoft.com/office/drawing/2014/main" id="{FEE67F7D-BA42-885D-6CA6-FCB6B37E9E67}"/>
              </a:ext>
            </a:extLst>
          </p:cNvPr>
          <p:cNvSpPr txBox="1"/>
          <p:nvPr/>
        </p:nvSpPr>
        <p:spPr>
          <a:xfrm>
            <a:off x="1371600" y="580644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model_runner 行数</a:t>
            </a:r>
          </a:p>
        </p:txBody>
      </p:sp>
      <p:sp>
        <p:nvSpPr>
          <p:cNvPr id="55" name="TextBox 27">
            <a:extLst>
              <a:ext uri="{FF2B5EF4-FFF2-40B4-BE49-F238E27FC236}">
                <a16:creationId xmlns:a16="http://schemas.microsoft.com/office/drawing/2014/main" id="{69B5022E-531C-1CC2-9C71-19E7EF0CAD10}"/>
              </a:ext>
            </a:extLst>
          </p:cNvPr>
          <p:cNvSpPr txBox="1"/>
          <p:nvPr/>
        </p:nvSpPr>
        <p:spPr>
          <a:xfrm>
            <a:off x="429768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58B230"/>
                </a:solidFill>
                <a:latin typeface="Consolas"/>
              </a:defRPr>
            </a:pPr>
            <a:r>
              <a:t>15+→0</a:t>
            </a:r>
          </a:p>
        </p:txBody>
      </p:sp>
      <p:sp>
        <p:nvSpPr>
          <p:cNvPr id="56" name="TextBox 28">
            <a:extLst>
              <a:ext uri="{FF2B5EF4-FFF2-40B4-BE49-F238E27FC236}">
                <a16:creationId xmlns:a16="http://schemas.microsoft.com/office/drawing/2014/main" id="{748C97A9-2382-3891-667E-F06B4D863347}"/>
              </a:ext>
            </a:extLst>
          </p:cNvPr>
          <p:cNvSpPr txBox="1"/>
          <p:nvPr/>
        </p:nvSpPr>
        <p:spPr>
          <a:xfrm>
            <a:off x="4297680" y="580644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if-else 分支</a:t>
            </a:r>
          </a:p>
        </p:txBody>
      </p:sp>
      <p:sp>
        <p:nvSpPr>
          <p:cNvPr id="57" name="TextBox 29">
            <a:extLst>
              <a:ext uri="{FF2B5EF4-FFF2-40B4-BE49-F238E27FC236}">
                <a16:creationId xmlns:a16="http://schemas.microsoft.com/office/drawing/2014/main" id="{979285DE-E285-F460-9AFF-FB31E527D69F}"/>
              </a:ext>
            </a:extLst>
          </p:cNvPr>
          <p:cNvSpPr txBox="1"/>
          <p:nvPr/>
        </p:nvSpPr>
        <p:spPr>
          <a:xfrm>
            <a:off x="722376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58B230"/>
                </a:solidFill>
                <a:latin typeface="Consolas"/>
              </a:defRPr>
            </a:pPr>
            <a:r>
              <a:t>6→1</a:t>
            </a:r>
          </a:p>
        </p:txBody>
      </p:sp>
      <p:sp>
        <p:nvSpPr>
          <p:cNvPr id="58" name="TextBox 30">
            <a:extLst>
              <a:ext uri="{FF2B5EF4-FFF2-40B4-BE49-F238E27FC236}">
                <a16:creationId xmlns:a16="http://schemas.microsoft.com/office/drawing/2014/main" id="{715ED2FF-0C6F-1D2F-EEFB-A62DB12243B9}"/>
              </a:ext>
            </a:extLst>
          </p:cNvPr>
          <p:cNvSpPr txBox="1"/>
          <p:nvPr/>
        </p:nvSpPr>
        <p:spPr>
          <a:xfrm>
            <a:off x="7223760" y="580644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通用路径</a:t>
            </a:r>
          </a:p>
        </p:txBody>
      </p:sp>
      <p:sp>
        <p:nvSpPr>
          <p:cNvPr id="59" name="TextBox 31">
            <a:extLst>
              <a:ext uri="{FF2B5EF4-FFF2-40B4-BE49-F238E27FC236}">
                <a16:creationId xmlns:a16="http://schemas.microsoft.com/office/drawing/2014/main" id="{A143A8DB-730B-820B-9493-FB4D5E13BA21}"/>
              </a:ext>
            </a:extLst>
          </p:cNvPr>
          <p:cNvSpPr txBox="1"/>
          <p:nvPr/>
        </p:nvSpPr>
        <p:spPr>
          <a:xfrm>
            <a:off x="1005840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58B230"/>
                </a:solidFill>
                <a:latin typeface="Consolas"/>
              </a:defRPr>
            </a:pPr>
            <a:r>
              <a:t>独立可测</a:t>
            </a:r>
          </a:p>
        </p:txBody>
      </p:sp>
      <p:sp>
        <p:nvSpPr>
          <p:cNvPr id="60" name="TextBox 32">
            <a:extLst>
              <a:ext uri="{FF2B5EF4-FFF2-40B4-BE49-F238E27FC236}">
                <a16:creationId xmlns:a16="http://schemas.microsoft.com/office/drawing/2014/main" id="{80DF30A0-8C1F-F3CA-5BB3-798932B10D9B}"/>
              </a:ext>
            </a:extLst>
          </p:cNvPr>
          <p:cNvSpPr txBox="1"/>
          <p:nvPr/>
        </p:nvSpPr>
        <p:spPr>
          <a:xfrm>
            <a:off x="10058400" y="580644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Layout 子类</a:t>
            </a:r>
          </a:p>
        </p:txBody>
      </p:sp>
    </p:spTree>
    <p:extLst>
      <p:ext uri="{BB962C8B-B14F-4D97-AF65-F5344CB8AC3E}">
        <p14:creationId xmlns:p14="http://schemas.microsoft.com/office/powerpoint/2010/main" val="22604694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21423</TotalTime>
  <Words>11291</Words>
  <Application>Microsoft Office PowerPoint</Application>
  <PresentationFormat>自定义</PresentationFormat>
  <Paragraphs>1149</Paragraphs>
  <Slides>28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Noto Sans SC</vt:lpstr>
      <vt:lpstr>微软雅黑</vt:lpstr>
      <vt:lpstr>微软雅黑</vt:lpstr>
      <vt:lpstr>Arial</vt:lpstr>
      <vt:lpstr>Calibri</vt:lpstr>
      <vt:lpstr>Wingdings</vt:lpstr>
      <vt:lpstr>封面页_图片版 </vt:lpstr>
      <vt:lpstr>目录页</vt:lpstr>
      <vt:lpstr>章节页</vt:lpstr>
      <vt:lpstr>结束页</vt:lpstr>
      <vt:lpstr>KV Cache 管理方式梳理与差异分析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qiuchunshuo</dc:creator>
  <cp:lastModifiedBy>chenxin (CE)</cp:lastModifiedBy>
  <cp:revision>27</cp:revision>
  <dcterms:created xsi:type="dcterms:W3CDTF">2020-08-28T08:44:19Z</dcterms:created>
  <dcterms:modified xsi:type="dcterms:W3CDTF">2026-07-10T02:55:24Z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</Properties>
</file>